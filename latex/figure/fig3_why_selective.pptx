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413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4732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C1E23"/>
                </a:solidFill>
                <a:latin typeface="Helvetica"/>
              </a:rPr>
              <a:t>(a) Reconstruction rank vs forecasting-utility rank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8000" y="1549400"/>
            <a:ext cx="17018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508000" y="381000"/>
            <a:ext cx="0" cy="11684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080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10160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589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-1651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098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6250" y="15494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-1061720" y="14809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6250" y="965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-1061720" y="896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62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-1061720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10541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forecast utility rank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08000" y="381000"/>
            <a:ext cx="1701800" cy="1168400"/>
          </a:xfrm>
          <a:prstGeom prst="line">
            <a:avLst/>
          </a:prstGeom>
          <a:ln w="8890">
            <a:solidFill>
              <a:srgbClr val="CCCE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84200" y="685800"/>
            <a:ext cx="1549400" cy="533400"/>
          </a:xfrm>
          <a:prstGeom prst="rect">
            <a:avLst/>
          </a:prstGeom>
          <a:noFill/>
          <a:ln w="7620">
            <a:solidFill>
              <a:srgbClr val="9E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-165100" y="7998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AD2B2B"/>
                </a:solidFill>
                <a:latin typeface="Helvetica"/>
              </a:rPr>
              <a:t>[FIG-RANK-DISAGREEMENT]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165100" y="921004"/>
            <a:ext cx="30480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6B727C"/>
                </a:solidFill>
                <a:latin typeface="Helvetica"/>
              </a:rPr>
              <a:t>winner agreement and pairwise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165100" y="1009904"/>
            <a:ext cx="30480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6B727C"/>
                </a:solidFill>
                <a:latin typeface="Helvetica"/>
              </a:rPr>
              <a:t>discordance within parents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165100" y="17193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6B727C"/>
                </a:solidFill>
                <a:latin typeface="Helvetica"/>
              </a:rPr>
              <a:t>reconstruction rank within parent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-165100" y="18209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6B727C"/>
                </a:solidFill>
                <a:latin typeface="Helvetica"/>
              </a:rPr>
              <a:t>a lower reconstruction error does not imply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165100" y="19098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6B727C"/>
                </a:solidFill>
                <a:latin typeface="Helvetica"/>
              </a:rPr>
              <a:t>a higher realised forecasting utility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11429"/>
            <a:ext cx="3048000" cy="1828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600" b="1" i="0">
                <a:solidFill>
                  <a:srgbClr val="1C1E23"/>
                </a:solidFill>
                <a:latin typeface="Helvetica"/>
              </a:rPr>
              <a:t>(b) Risk-intervention trade-off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46400" y="1549400"/>
            <a:ext cx="1981200" cy="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46400" y="381000"/>
            <a:ext cx="0" cy="1168400"/>
          </a:xfrm>
          <a:prstGeom prst="line">
            <a:avLst/>
          </a:prstGeom>
          <a:ln w="889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64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4224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370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4130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0.5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927600" y="1549400"/>
            <a:ext cx="0" cy="3175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403600" y="15711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40" b="0" i="0">
                <a:solidFill>
                  <a:srgbClr val="6B727C"/>
                </a:solidFill>
                <a:latin typeface="Helvetica"/>
              </a:rPr>
              <a:t>1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914650" y="15494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76680" y="14809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>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14650" y="9652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76680" y="8967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914650" y="381000"/>
            <a:ext cx="31750" cy="0"/>
          </a:xfrm>
          <a:prstGeom prst="line">
            <a:avLst/>
          </a:prstGeom>
          <a:ln w="7620">
            <a:solidFill>
              <a:srgbClr val="1C1E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376680" y="31254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40" b="0" i="0">
                <a:solidFill>
                  <a:srgbClr val="6B727C"/>
                </a:solidFill>
                <a:latin typeface="Helvetica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84300" y="224917"/>
            <a:ext cx="304800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40" b="0" i="0">
                <a:solidFill>
                  <a:srgbClr val="1C1E23"/>
                </a:solidFill>
                <a:latin typeface="Helvetica"/>
              </a:rPr>
              <a:t>conditional harmful 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48000" y="685800"/>
            <a:ext cx="1778000" cy="533400"/>
          </a:xfrm>
          <a:prstGeom prst="rect">
            <a:avLst/>
          </a:prstGeom>
          <a:noFill/>
          <a:ln w="7620">
            <a:solidFill>
              <a:srgbClr val="9EA5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13000" y="799846"/>
            <a:ext cx="3048000" cy="1584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 i="0">
                <a:solidFill>
                  <a:srgbClr val="AD2B2B"/>
                </a:solidFill>
                <a:latin typeface="Helvetica"/>
              </a:rPr>
              <a:t>[FIG-RISK-INTERVENTION]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13000" y="921004"/>
            <a:ext cx="30480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6B727C"/>
                </a:solidFill>
                <a:latin typeface="Helvetica"/>
              </a:rPr>
              <a:t>harm against intervention rate for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13000" y="1009904"/>
            <a:ext cx="304800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80" b="0" i="0">
                <a:solidFill>
                  <a:srgbClr val="6B727C"/>
                </a:solidFill>
                <a:latin typeface="Helvetica"/>
              </a:rPr>
              <a:t>the default operating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13000" y="17193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6B727C"/>
                </a:solidFill>
                <a:latin typeface="Helvetica"/>
              </a:rPr>
              <a:t>intervention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13000" y="18209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6B727C"/>
                </a:solidFill>
                <a:latin typeface="Helvetica"/>
              </a:rPr>
              <a:t>a low harmful rate is only meaningful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13000" y="1909889"/>
            <a:ext cx="3048000" cy="1493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90" b="0" i="0">
                <a:solidFill>
                  <a:srgbClr val="6B727C"/>
                </a:solidFill>
                <a:latin typeface="Helvetica"/>
              </a:rPr>
              <a:t>together with the intervention 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600" y="2098675"/>
            <a:ext cx="3048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 i="0">
                <a:solidFill>
                  <a:srgbClr val="6B727C"/>
                </a:solidFill>
                <a:latin typeface="Helvetica"/>
              </a:rPr>
              <a:t>The decision is worth making because reconstruction quality and forecasting utility disagree, and it has to be selective because intervening more often raises harm.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