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413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473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(a) Reconstruction rank vs realised-utility rank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549400"/>
            <a:ext cx="15240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34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-8382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906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-5334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954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-2286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002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2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4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050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810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1650" y="143256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-1036319" y="136410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650" y="119888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-1036319" y="113042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1650" y="965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-1036319" y="896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1650" y="731519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-1036319" y="663066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1650" y="49784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-1036319" y="42938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-10287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realised utility rank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381000"/>
            <a:ext cx="304800" cy="233679"/>
          </a:xfrm>
          <a:prstGeom prst="rect">
            <a:avLst/>
          </a:prstGeom>
          <a:solidFill>
            <a:srgbClr val="89A6CD"/>
          </a:solidFill>
          <a:ln w="1143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3400" y="614680"/>
            <a:ext cx="304800" cy="233679"/>
          </a:xfrm>
          <a:prstGeom prst="rect">
            <a:avLst/>
          </a:prstGeom>
          <a:solidFill>
            <a:srgbClr val="7294C2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3400" y="848360"/>
            <a:ext cx="304800" cy="233679"/>
          </a:xfrm>
          <a:prstGeom prst="rect">
            <a:avLst/>
          </a:prstGeom>
          <a:solidFill>
            <a:srgbClr val="809FC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3400" y="1082039"/>
            <a:ext cx="304800" cy="233679"/>
          </a:xfrm>
          <a:prstGeom prst="rect">
            <a:avLst/>
          </a:prstGeom>
          <a:solidFill>
            <a:srgbClr val="9AB4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3400" y="1315720"/>
            <a:ext cx="304800" cy="233679"/>
          </a:xfrm>
          <a:prstGeom prst="rect">
            <a:avLst/>
          </a:prstGeom>
          <a:solidFill>
            <a:srgbClr val="B0C5E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8200" y="381000"/>
            <a:ext cx="304800" cy="233679"/>
          </a:xfrm>
          <a:prstGeom prst="rect">
            <a:avLst/>
          </a:prstGeom>
          <a:solidFill>
            <a:srgbClr val="9BB4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8200" y="614680"/>
            <a:ext cx="304800" cy="233679"/>
          </a:xfrm>
          <a:prstGeom prst="rect">
            <a:avLst/>
          </a:prstGeom>
          <a:solidFill>
            <a:srgbClr val="7194C1"/>
          </a:solidFill>
          <a:ln w="1143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8200" y="848360"/>
            <a:ext cx="304800" cy="233679"/>
          </a:xfrm>
          <a:prstGeom prst="rect">
            <a:avLst/>
          </a:prstGeom>
          <a:solidFill>
            <a:srgbClr val="6A8EB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8200" y="1082039"/>
            <a:ext cx="304800" cy="233679"/>
          </a:xfrm>
          <a:prstGeom prst="rect">
            <a:avLst/>
          </a:prstGeom>
          <a:solidFill>
            <a:srgbClr val="91ACD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8200" y="1315720"/>
            <a:ext cx="304800" cy="233679"/>
          </a:xfrm>
          <a:prstGeom prst="rect">
            <a:avLst/>
          </a:prstGeom>
          <a:solidFill>
            <a:srgbClr val="BED0E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381000"/>
            <a:ext cx="304800" cy="233679"/>
          </a:xfrm>
          <a:prstGeom prst="rect">
            <a:avLst/>
          </a:prstGeom>
          <a:solidFill>
            <a:srgbClr val="A0B8D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43000" y="614680"/>
            <a:ext cx="304800" cy="233679"/>
          </a:xfrm>
          <a:prstGeom prst="rect">
            <a:avLst/>
          </a:prstGeom>
          <a:solidFill>
            <a:srgbClr val="8DAAD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" y="848360"/>
            <a:ext cx="304800" cy="233679"/>
          </a:xfrm>
          <a:prstGeom prst="rect">
            <a:avLst/>
          </a:prstGeom>
          <a:solidFill>
            <a:srgbClr val="698DBD"/>
          </a:solidFill>
          <a:ln w="1143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3000" y="1082039"/>
            <a:ext cx="304800" cy="233679"/>
          </a:xfrm>
          <a:prstGeom prst="rect">
            <a:avLst/>
          </a:prstGeom>
          <a:solidFill>
            <a:srgbClr val="82A1C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" y="1315720"/>
            <a:ext cx="304800" cy="233679"/>
          </a:xfrm>
          <a:prstGeom prst="rect">
            <a:avLst/>
          </a:prstGeom>
          <a:solidFill>
            <a:srgbClr val="ACC2D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47800" y="381000"/>
            <a:ext cx="304800" cy="233679"/>
          </a:xfrm>
          <a:prstGeom prst="rect">
            <a:avLst/>
          </a:prstGeom>
          <a:solidFill>
            <a:srgbClr val="89A7C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447800" y="614680"/>
            <a:ext cx="304800" cy="233679"/>
          </a:xfrm>
          <a:prstGeom prst="rect">
            <a:avLst/>
          </a:prstGeom>
          <a:solidFill>
            <a:srgbClr val="9FB8D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447800" y="848360"/>
            <a:ext cx="304800" cy="233679"/>
          </a:xfrm>
          <a:prstGeom prst="rect">
            <a:avLst/>
          </a:prstGeom>
          <a:solidFill>
            <a:srgbClr val="ADC3E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47800" y="1082039"/>
            <a:ext cx="304800" cy="233679"/>
          </a:xfrm>
          <a:prstGeom prst="rect">
            <a:avLst/>
          </a:prstGeom>
          <a:solidFill>
            <a:srgbClr val="6A8EBE"/>
          </a:solidFill>
          <a:ln w="1143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47800" y="1315720"/>
            <a:ext cx="304800" cy="233679"/>
          </a:xfrm>
          <a:prstGeom prst="rect">
            <a:avLst/>
          </a:prstGeom>
          <a:solidFill>
            <a:srgbClr val="85A3C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52600" y="381000"/>
            <a:ext cx="304800" cy="233679"/>
          </a:xfrm>
          <a:prstGeom prst="rect">
            <a:avLst/>
          </a:prstGeom>
          <a:solidFill>
            <a:srgbClr val="7899C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52600" y="614680"/>
            <a:ext cx="304800" cy="233679"/>
          </a:xfrm>
          <a:prstGeom prst="rect">
            <a:avLst/>
          </a:prstGeom>
          <a:solidFill>
            <a:srgbClr val="B5C9E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52600" y="848360"/>
            <a:ext cx="304800" cy="233679"/>
          </a:xfrm>
          <a:prstGeom prst="rect">
            <a:avLst/>
          </a:prstGeom>
          <a:solidFill>
            <a:srgbClr val="C4D5E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752600" y="1082039"/>
            <a:ext cx="304800" cy="233679"/>
          </a:xfrm>
          <a:prstGeom prst="rect">
            <a:avLst/>
          </a:prstGeom>
          <a:solidFill>
            <a:srgbClr val="ADC3E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752600" y="1315720"/>
            <a:ext cx="304800" cy="233679"/>
          </a:xfrm>
          <a:prstGeom prst="rect">
            <a:avLst/>
          </a:prstGeom>
          <a:solidFill>
            <a:srgbClr val="27599C"/>
          </a:solidFill>
          <a:ln w="1143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-838200" y="44361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-838200" y="677290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-838200" y="91097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-838200" y="114465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-838200" y="137833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-533400" y="44361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-533400" y="677290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-533400" y="91097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FFFFFF"/>
                </a:solidFill>
                <a:latin typeface="Helvetica"/>
              </a:rPr>
              <a:t>0.28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-533400" y="114465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-533400" y="137833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0.09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-228600" y="44361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-228600" y="677290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-228600" y="91097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FFFFFF"/>
                </a:solidFill>
                <a:latin typeface="Helvetica"/>
              </a:rPr>
              <a:t>0.28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-228600" y="114465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-228600" y="137833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200" y="44361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200" y="677290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200" y="91097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00" y="114465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FFFFFF"/>
                </a:solidFill>
                <a:latin typeface="Helvetica"/>
              </a:rPr>
              <a:t>0.28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" y="137833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1000" y="44361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1000" y="677290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1000" y="91097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0.08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1000" y="114465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1000" y="137833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FFFFFF"/>
                </a:solidFill>
                <a:latin typeface="Helvetica"/>
              </a:rPr>
              <a:t>0.44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-228600" y="17193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reconstruction rank within episode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-228600" y="18336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1C1E23"/>
                </a:solidFill>
                <a:latin typeface="Helvetica"/>
              </a:rPr>
              <a:t>outlined cells = the two criteria agree; agreement 22%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-228600" y="19352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discordant pairs 43%, within-episode rho 0.15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60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(b) Harm against intervention rate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2997200" y="1549400"/>
            <a:ext cx="19050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9972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9972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4732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9497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4257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0.5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9022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33782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965450" y="15494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427480" y="14809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0.25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965450" y="965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427480" y="896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0.38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29654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1427480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351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conditional harmful rate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566262" y="906291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620721" y="989393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773420" y="929125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944272" y="896704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993392" y="821545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023291" y="861260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033969" y="865737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099107" y="968560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174922" y="894694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251806" y="862714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287044" y="759367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287619" y="843571"/>
            <a:ext cx="60960" cy="60960"/>
          </a:xfrm>
          <a:prstGeom prst="rect">
            <a:avLst/>
          </a:prstGeom>
          <a:solidFill>
            <a:srgbClr val="215499"/>
          </a:solidFill>
          <a:ln w="889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337232" y="864613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379945" y="906566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383148" y="885724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438675" y="876222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492066" y="808590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518762" y="747288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556136" y="838197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562543" y="826806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4289" y="821843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583899" y="864320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615934" y="775091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729124" y="871550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035037" y="1361059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47159" y="1404654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350046" y="1323657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404505" y="1218531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0896" y="1230527"/>
            <a:ext cx="60960" cy="60960"/>
          </a:xfrm>
          <a:prstGeom prst="rect">
            <a:avLst/>
          </a:prstGeom>
          <a:solidFill>
            <a:srgbClr val="AD6B0A"/>
          </a:solidFill>
          <a:ln w="889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89238" y="1293049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18070" y="1128665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627680" y="1234984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707767" y="1152715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748344" y="1089416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756887" y="1237878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776108" y="1245243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779311" y="1183937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813482" y="1130511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819889" y="1198496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843381" y="1155800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844449" y="1223722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858330" y="1186773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867941" y="1220988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878619" y="1218810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879687" y="1206488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886094" y="1224643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888230" y="1210583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888230" y="1197484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499564" y="945256"/>
            <a:ext cx="60960" cy="60960"/>
          </a:xfrm>
          <a:prstGeom prst="rect">
            <a:avLst/>
          </a:prstGeom>
          <a:solidFill>
            <a:srgbClr val="19704F"/>
          </a:solidFill>
          <a:ln w="889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522481" y="917681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654891" y="108404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709351" y="110243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779827" y="1018577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3918644" y="825853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936797" y="845903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986985" y="879137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006206" y="952449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008342" y="975571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025427" y="946441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196279" y="86483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205889" y="79765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218703" y="890133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222974" y="876255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246467" y="86283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249670" y="883253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4321214" y="853785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408776" y="80988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33336" y="831636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445082" y="716952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449353" y="804435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460032" y="818169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489931" y="766157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7" name="Connector 166"/>
          <p:cNvCxnSpPr/>
          <p:nvPr/>
        </p:nvCxnSpPr>
        <p:spPr>
          <a:xfrm>
            <a:off x="2997200" y="761734"/>
            <a:ext cx="1905000" cy="0"/>
          </a:xfrm>
          <a:prstGeom prst="line">
            <a:avLst/>
          </a:prstGeom>
          <a:ln w="8890">
            <a:solidFill>
              <a:srgbClr val="AD2B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/>
          <p:cNvSpPr txBox="1"/>
          <p:nvPr/>
        </p:nvSpPr>
        <p:spPr>
          <a:xfrm>
            <a:off x="3352800" y="644767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459" b="0" i="0">
                <a:solidFill>
                  <a:srgbClr val="AD2B2B"/>
                </a:solidFill>
                <a:latin typeface="Helvetica"/>
              </a:rPr>
              <a:t>harm cap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048000" y="431800"/>
            <a:ext cx="50800" cy="5080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600200" y="4003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80" b="0" i="0">
                <a:solidFill>
                  <a:srgbClr val="6B727C"/>
                </a:solidFill>
                <a:latin typeface="Helvetica"/>
              </a:rPr>
              <a:t>Bolt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32200" y="431800"/>
            <a:ext cx="50800" cy="5080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2184400" y="4003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80" b="0" i="0">
                <a:solidFill>
                  <a:srgbClr val="6B727C"/>
                </a:solidFill>
                <a:latin typeface="Helvetica"/>
              </a:rPr>
              <a:t>TimesFM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216400" y="431800"/>
            <a:ext cx="50800" cy="5080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768600" y="4003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80" b="0" i="0">
                <a:solidFill>
                  <a:srgbClr val="6B727C"/>
                </a:solidFill>
                <a:latin typeface="Helvetica"/>
              </a:rPr>
              <a:t>Chronos-2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425700" y="17193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intervention rate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425700" y="18336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one point per neighbourhood size and penalty strength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425700" y="19352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large marker = the point the cross-validation selected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90600" y="21494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B727C"/>
                </a:solidFill>
                <a:latin typeface="Helvetica"/>
              </a:rPr>
              <a:t>The two criteria agree barely more often than chance, and moving along the penalty grid trades intervention rate against accuracy at a nearly fixed harmful rate.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