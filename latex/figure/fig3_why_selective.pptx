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029200" cy="2413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14732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C1E23"/>
                </a:solidFill>
                <a:latin typeface="Helvetica"/>
              </a:rPr>
              <a:t>(a) Reconstruction rank vs realised-utility rank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549400"/>
            <a:ext cx="15240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3400" y="381000"/>
            <a:ext cx="0" cy="11684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-8382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906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-5334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954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-2286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002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2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4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050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810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1650" y="143256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-1036319" y="136410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650" y="119888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-1036319" y="113042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1650" y="9652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-1036319" y="8967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1650" y="731519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-1036319" y="663066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1650" y="49784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-1036319" y="42938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-1028700" y="22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40" b="0" i="0">
                <a:solidFill>
                  <a:srgbClr val="1C1E23"/>
                </a:solidFill>
                <a:latin typeface="Helvetica"/>
              </a:rPr>
              <a:t>realised utility rank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381000"/>
            <a:ext cx="304800" cy="233679"/>
          </a:xfrm>
          <a:prstGeom prst="rect">
            <a:avLst/>
          </a:prstGeom>
          <a:solidFill>
            <a:srgbClr val="89A6CD"/>
          </a:solidFill>
          <a:ln w="1143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3400" y="614680"/>
            <a:ext cx="304800" cy="233679"/>
          </a:xfrm>
          <a:prstGeom prst="rect">
            <a:avLst/>
          </a:prstGeom>
          <a:solidFill>
            <a:srgbClr val="7294C2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3400" y="848360"/>
            <a:ext cx="304800" cy="233679"/>
          </a:xfrm>
          <a:prstGeom prst="rect">
            <a:avLst/>
          </a:prstGeom>
          <a:solidFill>
            <a:srgbClr val="809FC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3400" y="1082039"/>
            <a:ext cx="304800" cy="233679"/>
          </a:xfrm>
          <a:prstGeom prst="rect">
            <a:avLst/>
          </a:prstGeom>
          <a:solidFill>
            <a:srgbClr val="9AB4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33400" y="1315720"/>
            <a:ext cx="304800" cy="233679"/>
          </a:xfrm>
          <a:prstGeom prst="rect">
            <a:avLst/>
          </a:prstGeom>
          <a:solidFill>
            <a:srgbClr val="B0C5E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8200" y="381000"/>
            <a:ext cx="304800" cy="233679"/>
          </a:xfrm>
          <a:prstGeom prst="rect">
            <a:avLst/>
          </a:prstGeom>
          <a:solidFill>
            <a:srgbClr val="9BB4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8200" y="614680"/>
            <a:ext cx="304800" cy="233679"/>
          </a:xfrm>
          <a:prstGeom prst="rect">
            <a:avLst/>
          </a:prstGeom>
          <a:solidFill>
            <a:srgbClr val="7194C1"/>
          </a:solidFill>
          <a:ln w="1143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8200" y="848360"/>
            <a:ext cx="304800" cy="233679"/>
          </a:xfrm>
          <a:prstGeom prst="rect">
            <a:avLst/>
          </a:prstGeom>
          <a:solidFill>
            <a:srgbClr val="6A8EB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8200" y="1082039"/>
            <a:ext cx="304800" cy="233679"/>
          </a:xfrm>
          <a:prstGeom prst="rect">
            <a:avLst/>
          </a:prstGeom>
          <a:solidFill>
            <a:srgbClr val="91ACD1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8200" y="1315720"/>
            <a:ext cx="304800" cy="233679"/>
          </a:xfrm>
          <a:prstGeom prst="rect">
            <a:avLst/>
          </a:prstGeom>
          <a:solidFill>
            <a:srgbClr val="BED0E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381000"/>
            <a:ext cx="304800" cy="233679"/>
          </a:xfrm>
          <a:prstGeom prst="rect">
            <a:avLst/>
          </a:prstGeom>
          <a:solidFill>
            <a:srgbClr val="A0B8D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43000" y="614680"/>
            <a:ext cx="304800" cy="233679"/>
          </a:xfrm>
          <a:prstGeom prst="rect">
            <a:avLst/>
          </a:prstGeom>
          <a:solidFill>
            <a:srgbClr val="8DAAD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" y="848360"/>
            <a:ext cx="304800" cy="233679"/>
          </a:xfrm>
          <a:prstGeom prst="rect">
            <a:avLst/>
          </a:prstGeom>
          <a:solidFill>
            <a:srgbClr val="698DBD"/>
          </a:solidFill>
          <a:ln w="1143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43000" y="1082039"/>
            <a:ext cx="304800" cy="233679"/>
          </a:xfrm>
          <a:prstGeom prst="rect">
            <a:avLst/>
          </a:prstGeom>
          <a:solidFill>
            <a:srgbClr val="82A1C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" y="1315720"/>
            <a:ext cx="304800" cy="233679"/>
          </a:xfrm>
          <a:prstGeom prst="rect">
            <a:avLst/>
          </a:prstGeom>
          <a:solidFill>
            <a:srgbClr val="ACC2D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47800" y="381000"/>
            <a:ext cx="304800" cy="233679"/>
          </a:xfrm>
          <a:prstGeom prst="rect">
            <a:avLst/>
          </a:prstGeom>
          <a:solidFill>
            <a:srgbClr val="89A7C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447800" y="614680"/>
            <a:ext cx="304800" cy="233679"/>
          </a:xfrm>
          <a:prstGeom prst="rect">
            <a:avLst/>
          </a:prstGeom>
          <a:solidFill>
            <a:srgbClr val="9FB8D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447800" y="848360"/>
            <a:ext cx="304800" cy="233679"/>
          </a:xfrm>
          <a:prstGeom prst="rect">
            <a:avLst/>
          </a:prstGeom>
          <a:solidFill>
            <a:srgbClr val="ADC3E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47800" y="1082039"/>
            <a:ext cx="304800" cy="233679"/>
          </a:xfrm>
          <a:prstGeom prst="rect">
            <a:avLst/>
          </a:prstGeom>
          <a:solidFill>
            <a:srgbClr val="6A8EBE"/>
          </a:solidFill>
          <a:ln w="1143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47800" y="1315720"/>
            <a:ext cx="304800" cy="233679"/>
          </a:xfrm>
          <a:prstGeom prst="rect">
            <a:avLst/>
          </a:prstGeom>
          <a:solidFill>
            <a:srgbClr val="85A3C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52600" y="381000"/>
            <a:ext cx="304800" cy="233679"/>
          </a:xfrm>
          <a:prstGeom prst="rect">
            <a:avLst/>
          </a:prstGeom>
          <a:solidFill>
            <a:srgbClr val="7899C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52600" y="614680"/>
            <a:ext cx="304800" cy="233679"/>
          </a:xfrm>
          <a:prstGeom prst="rect">
            <a:avLst/>
          </a:prstGeom>
          <a:solidFill>
            <a:srgbClr val="B5C9E4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752600" y="848360"/>
            <a:ext cx="304800" cy="233679"/>
          </a:xfrm>
          <a:prstGeom prst="rect">
            <a:avLst/>
          </a:prstGeom>
          <a:solidFill>
            <a:srgbClr val="C4D5E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752600" y="1082039"/>
            <a:ext cx="304800" cy="233679"/>
          </a:xfrm>
          <a:prstGeom prst="rect">
            <a:avLst/>
          </a:prstGeom>
          <a:solidFill>
            <a:srgbClr val="ADC3E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752600" y="1315720"/>
            <a:ext cx="304800" cy="233679"/>
          </a:xfrm>
          <a:prstGeom prst="rect">
            <a:avLst/>
          </a:prstGeom>
          <a:solidFill>
            <a:srgbClr val="27599C"/>
          </a:solidFill>
          <a:ln w="1143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-838200" y="44361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-838200" y="677290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-838200" y="91097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0.23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-838200" y="114465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-838200" y="137833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-533400" y="44361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-533400" y="677290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-533400" y="91097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FFFFFF"/>
                </a:solidFill>
                <a:latin typeface="Helvetica"/>
              </a:rPr>
              <a:t>0.28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-533400" y="114465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-533400" y="137833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0.09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-228600" y="44361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-228600" y="677290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0.20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-228600" y="91097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FFFFFF"/>
                </a:solidFill>
                <a:latin typeface="Helvetica"/>
              </a:rPr>
              <a:t>0.28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-228600" y="114465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-228600" y="137833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200" y="44361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200" y="677290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200" y="91097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200" y="114465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FFFFFF"/>
                </a:solidFill>
                <a:latin typeface="Helvetica"/>
              </a:rPr>
              <a:t>0.28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" y="137833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0.22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1000" y="44361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1000" y="677290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1000" y="91097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0.08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1000" y="114465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1C1E23"/>
                </a:solidFill>
                <a:latin typeface="Helvetica"/>
              </a:rPr>
              <a:t>0.13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81000" y="1378331"/>
            <a:ext cx="3048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20" b="0" i="0">
                <a:solidFill>
                  <a:srgbClr val="FFFFFF"/>
                </a:solidFill>
                <a:latin typeface="Helvetica"/>
              </a:rPr>
              <a:t>0.44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-228600" y="17193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reconstruction rank within episode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-228600" y="18336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1C1E23"/>
                </a:solidFill>
                <a:latin typeface="Helvetica"/>
              </a:rPr>
              <a:t>outlined cells = the two criteria agree; agreement 22%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-228600" y="19352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discordant pairs 43%, within-episode rho 0.15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60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C1E23"/>
                </a:solidFill>
                <a:latin typeface="Helvetica"/>
              </a:rPr>
              <a:t>(b) Harm against intervention rate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2997200" y="1549400"/>
            <a:ext cx="19050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997200" y="381000"/>
            <a:ext cx="0" cy="11684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9972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4732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0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39497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24257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0.5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49022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33782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1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965450" y="15494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427480" y="14809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0.25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2965450" y="9652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1427480" y="8967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0.38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2965450" y="3810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1427480" y="3125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35100" y="22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40" b="0" i="0">
                <a:solidFill>
                  <a:srgbClr val="1C1E23"/>
                </a:solidFill>
                <a:latin typeface="Helvetica"/>
              </a:rPr>
              <a:t>conditional harmful rate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566262" y="906291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620721" y="989393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773420" y="929125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944272" y="896704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993392" y="821545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033969" y="865737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174922" y="894694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251806" y="862714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87044" y="759367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37232" y="864613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379945" y="906566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438675" y="876222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502252" y="730778"/>
            <a:ext cx="60960" cy="60960"/>
          </a:xfrm>
          <a:prstGeom prst="rect">
            <a:avLst/>
          </a:prstGeom>
          <a:solidFill>
            <a:srgbClr val="215499"/>
          </a:solidFill>
          <a:ln w="889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556136" y="838197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562543" y="826806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574289" y="821843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035037" y="1361059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147159" y="1404654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350046" y="1323657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04505" y="1218531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497406" y="1247037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589238" y="1293049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618070" y="1128665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627680" y="1234984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707767" y="1152715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748344" y="1089416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756887" y="1237878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779311" y="1183937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813482" y="1130511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819889" y="1198496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843381" y="1155800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841820" y="1170263"/>
            <a:ext cx="60960" cy="60960"/>
          </a:xfrm>
          <a:prstGeom prst="rect">
            <a:avLst/>
          </a:prstGeom>
          <a:solidFill>
            <a:srgbClr val="AD6B0A"/>
          </a:solidFill>
          <a:ln w="889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516074" y="961766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522481" y="917681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654891" y="1084044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709351" y="1102434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3918644" y="825853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936797" y="845903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986985" y="879137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008342" y="975571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205889" y="797654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222974" y="876255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246467" y="862834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249670" y="883253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416826" y="815126"/>
            <a:ext cx="60960" cy="60960"/>
          </a:xfrm>
          <a:prstGeom prst="rect">
            <a:avLst/>
          </a:prstGeom>
          <a:solidFill>
            <a:srgbClr val="19704F"/>
          </a:solidFill>
          <a:ln w="889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445082" y="716952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449353" y="804435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460032" y="818169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3" name="Connector 142"/>
          <p:cNvCxnSpPr/>
          <p:nvPr/>
        </p:nvCxnSpPr>
        <p:spPr>
          <a:xfrm>
            <a:off x="2997200" y="761734"/>
            <a:ext cx="1905000" cy="0"/>
          </a:xfrm>
          <a:prstGeom prst="line">
            <a:avLst/>
          </a:prstGeom>
          <a:ln w="8890">
            <a:solidFill>
              <a:srgbClr val="AD2B2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3352800" y="644767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459" b="0" i="0">
                <a:solidFill>
                  <a:srgbClr val="AD2B2B"/>
                </a:solidFill>
                <a:latin typeface="Helvetica"/>
              </a:rPr>
              <a:t>harm cap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048000" y="431800"/>
            <a:ext cx="50800" cy="5080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600200" y="4003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80" b="0" i="0">
                <a:solidFill>
                  <a:srgbClr val="6B727C"/>
                </a:solidFill>
                <a:latin typeface="Helvetica"/>
              </a:rPr>
              <a:t>Bolt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3632200" y="431800"/>
            <a:ext cx="50800" cy="5080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184400" y="4003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80" b="0" i="0">
                <a:solidFill>
                  <a:srgbClr val="6B727C"/>
                </a:solidFill>
                <a:latin typeface="Helvetica"/>
              </a:rPr>
              <a:t>TimesFM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216400" y="431800"/>
            <a:ext cx="50800" cy="5080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768600" y="4003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80" b="0" i="0">
                <a:solidFill>
                  <a:srgbClr val="6B727C"/>
                </a:solidFill>
                <a:latin typeface="Helvetica"/>
              </a:rPr>
              <a:t>Chronos-2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425700" y="17193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intervention rate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425700" y="18336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one point per neighbourhood size and penalty strength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425700" y="19352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large marker = the point the cross-validation selected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90600" y="21494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6B727C"/>
                </a:solidFill>
                <a:latin typeface="Helvetica"/>
              </a:rPr>
              <a:t>The two criteria agree barely more often than chance, and moving along the penalty grid trades intervention rate against accuracy at a nearly fixed harmful rate.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