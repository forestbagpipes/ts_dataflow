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5029200" cy="2413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-1473200" y="11429"/>
            <a:ext cx="3048000" cy="18287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600" b="1" i="0">
                <a:solidFill>
                  <a:srgbClr val="1C1E23"/>
                </a:solidFill>
                <a:latin typeface="Helvetica"/>
              </a:rPr>
              <a:t>(a) Reconstruction rank vs realised-utility rank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33400" y="1549400"/>
            <a:ext cx="1524000" cy="0"/>
          </a:xfrm>
          <a:prstGeom prst="line">
            <a:avLst/>
          </a:prstGeom>
          <a:ln w="889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533400" y="381000"/>
            <a:ext cx="0" cy="1168400"/>
          </a:xfrm>
          <a:prstGeom prst="line">
            <a:avLst/>
          </a:prstGeom>
          <a:ln w="889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23900" y="1549400"/>
            <a:ext cx="0" cy="3175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-800100" y="157111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40" b="0" i="0">
                <a:solidFill>
                  <a:srgbClr val="6B727C"/>
                </a:solidFill>
                <a:latin typeface="Helvetica"/>
              </a:rPr>
              <a:t>1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104900" y="1549400"/>
            <a:ext cx="0" cy="3175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-419100" y="157111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40" b="0" i="0">
                <a:solidFill>
                  <a:srgbClr val="6B727C"/>
                </a:solidFill>
                <a:latin typeface="Helvetica"/>
              </a:rPr>
              <a:t>2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485900" y="1549400"/>
            <a:ext cx="0" cy="3175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-38100" y="157111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40" b="0" i="0">
                <a:solidFill>
                  <a:srgbClr val="6B727C"/>
                </a:solidFill>
                <a:latin typeface="Helvetica"/>
              </a:rPr>
              <a:t>3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866900" y="1549400"/>
            <a:ext cx="0" cy="3175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342900" y="157111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40" b="0" i="0">
                <a:solidFill>
                  <a:srgbClr val="6B727C"/>
                </a:solidFill>
                <a:latin typeface="Helvetica"/>
              </a:rPr>
              <a:t>4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01650" y="1403350"/>
            <a:ext cx="31750" cy="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-1036319" y="133489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540" b="0" i="0">
                <a:solidFill>
                  <a:srgbClr val="6B727C"/>
                </a:solidFill>
                <a:latin typeface="Helvetica"/>
              </a:rPr>
              <a:t>4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01650" y="1111250"/>
            <a:ext cx="31750" cy="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-1036319" y="104279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540" b="0" i="0">
                <a:solidFill>
                  <a:srgbClr val="6B727C"/>
                </a:solidFill>
                <a:latin typeface="Helvetica"/>
              </a:rPr>
              <a:t>3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01650" y="819150"/>
            <a:ext cx="31750" cy="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-1036319" y="75069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540" b="0" i="0">
                <a:solidFill>
                  <a:srgbClr val="6B727C"/>
                </a:solidFill>
                <a:latin typeface="Helvetica"/>
              </a:rPr>
              <a:t>2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01650" y="527050"/>
            <a:ext cx="31750" cy="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-1036319" y="45859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540" b="0" i="0">
                <a:solidFill>
                  <a:srgbClr val="6B727C"/>
                </a:solidFill>
                <a:latin typeface="Helvetica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-1028700" y="22491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540" b="0" i="0">
                <a:solidFill>
                  <a:srgbClr val="1C1E23"/>
                </a:solidFill>
                <a:latin typeface="Helvetica"/>
              </a:rPr>
              <a:t>realised utility rank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33400" y="381000"/>
            <a:ext cx="381000" cy="292100"/>
          </a:xfrm>
          <a:prstGeom prst="rect">
            <a:avLst/>
          </a:prstGeom>
          <a:solidFill>
            <a:srgbClr val="89A6CD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-800100" y="468503"/>
            <a:ext cx="3048000" cy="1402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459" b="0" i="0">
                <a:solidFill>
                  <a:srgbClr val="1C1E23"/>
                </a:solidFill>
                <a:latin typeface="Helvetica"/>
              </a:rPr>
              <a:t>0.21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33400" y="673100"/>
            <a:ext cx="381000" cy="292100"/>
          </a:xfrm>
          <a:prstGeom prst="rect">
            <a:avLst/>
          </a:prstGeom>
          <a:solidFill>
            <a:srgbClr val="7294C2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-800100" y="760602"/>
            <a:ext cx="3048000" cy="1402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459" b="0" i="0">
                <a:solidFill>
                  <a:srgbClr val="1C1E23"/>
                </a:solidFill>
                <a:latin typeface="Helvetica"/>
              </a:rPr>
              <a:t>0.26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33400" y="965200"/>
            <a:ext cx="381000" cy="292100"/>
          </a:xfrm>
          <a:prstGeom prst="rect">
            <a:avLst/>
          </a:prstGeom>
          <a:solidFill>
            <a:srgbClr val="809FC9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-800100" y="1052703"/>
            <a:ext cx="3048000" cy="1402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459" b="0" i="0">
                <a:solidFill>
                  <a:srgbClr val="1C1E23"/>
                </a:solidFill>
                <a:latin typeface="Helvetica"/>
              </a:rPr>
              <a:t>0.23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3400" y="1257300"/>
            <a:ext cx="381000" cy="292100"/>
          </a:xfrm>
          <a:prstGeom prst="rect">
            <a:avLst/>
          </a:prstGeom>
          <a:solidFill>
            <a:srgbClr val="9AB4D6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-800100" y="1344803"/>
            <a:ext cx="3048000" cy="1402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459" b="0" i="0">
                <a:solidFill>
                  <a:srgbClr val="1C1E23"/>
                </a:solidFill>
                <a:latin typeface="Helvetica"/>
              </a:rPr>
              <a:t>0.17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33400" y="1549400"/>
            <a:ext cx="381000" cy="292100"/>
          </a:xfrm>
          <a:prstGeom prst="rect">
            <a:avLst/>
          </a:prstGeom>
          <a:solidFill>
            <a:srgbClr val="B0C5E1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-800100" y="1636902"/>
            <a:ext cx="3048000" cy="1402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459" b="0" i="0">
                <a:solidFill>
                  <a:srgbClr val="1C1E23"/>
                </a:solidFill>
                <a:latin typeface="Helvetica"/>
              </a:rPr>
              <a:t>0.12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14400" y="381000"/>
            <a:ext cx="381000" cy="292100"/>
          </a:xfrm>
          <a:prstGeom prst="rect">
            <a:avLst/>
          </a:prstGeom>
          <a:solidFill>
            <a:srgbClr val="9BB4D6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-419100" y="468503"/>
            <a:ext cx="3048000" cy="1402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459" b="0" i="0">
                <a:solidFill>
                  <a:srgbClr val="1C1E23"/>
                </a:solidFill>
                <a:latin typeface="Helvetica"/>
              </a:rPr>
              <a:t>0.17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14400" y="673100"/>
            <a:ext cx="381000" cy="292100"/>
          </a:xfrm>
          <a:prstGeom prst="rect">
            <a:avLst/>
          </a:prstGeom>
          <a:solidFill>
            <a:srgbClr val="7194C1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-419100" y="760602"/>
            <a:ext cx="3048000" cy="1402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459" b="0" i="0">
                <a:solidFill>
                  <a:srgbClr val="1C1E23"/>
                </a:solidFill>
                <a:latin typeface="Helvetica"/>
              </a:rPr>
              <a:t>0.26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14400" y="965200"/>
            <a:ext cx="381000" cy="292100"/>
          </a:xfrm>
          <a:prstGeom prst="rect">
            <a:avLst/>
          </a:prstGeom>
          <a:solidFill>
            <a:srgbClr val="6A8EBE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-419100" y="1052703"/>
            <a:ext cx="3048000" cy="1402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459" b="0" i="0">
                <a:solidFill>
                  <a:srgbClr val="FFFFFF"/>
                </a:solidFill>
                <a:latin typeface="Helvetica"/>
              </a:rPr>
              <a:t>0.28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14400" y="1257300"/>
            <a:ext cx="381000" cy="292100"/>
          </a:xfrm>
          <a:prstGeom prst="rect">
            <a:avLst/>
          </a:prstGeom>
          <a:solidFill>
            <a:srgbClr val="91ACD1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-419100" y="1344803"/>
            <a:ext cx="3048000" cy="1402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459" b="0" i="0">
                <a:solidFill>
                  <a:srgbClr val="1C1E23"/>
                </a:solidFill>
                <a:latin typeface="Helvetica"/>
              </a:rPr>
              <a:t>0.19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" y="1549400"/>
            <a:ext cx="381000" cy="292100"/>
          </a:xfrm>
          <a:prstGeom prst="rect">
            <a:avLst/>
          </a:prstGeom>
          <a:solidFill>
            <a:srgbClr val="BED0E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-419100" y="1636902"/>
            <a:ext cx="3048000" cy="1402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459" b="0" i="0">
                <a:solidFill>
                  <a:srgbClr val="1C1E23"/>
                </a:solidFill>
                <a:latin typeface="Helvetica"/>
              </a:rPr>
              <a:t>0.09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295400" y="381000"/>
            <a:ext cx="381000" cy="292100"/>
          </a:xfrm>
          <a:prstGeom prst="rect">
            <a:avLst/>
          </a:prstGeom>
          <a:solidFill>
            <a:srgbClr val="A0B8D9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-38100" y="468503"/>
            <a:ext cx="3048000" cy="1402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459" b="0" i="0">
                <a:solidFill>
                  <a:srgbClr val="1C1E23"/>
                </a:solidFill>
                <a:latin typeface="Helvetica"/>
              </a:rPr>
              <a:t>0.16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295400" y="673100"/>
            <a:ext cx="381000" cy="292100"/>
          </a:xfrm>
          <a:prstGeom prst="rect">
            <a:avLst/>
          </a:prstGeom>
          <a:solidFill>
            <a:srgbClr val="8DAAD0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-38100" y="760602"/>
            <a:ext cx="3048000" cy="1402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459" b="0" i="0">
                <a:solidFill>
                  <a:srgbClr val="1C1E23"/>
                </a:solidFill>
                <a:latin typeface="Helvetica"/>
              </a:rPr>
              <a:t>0.20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295400" y="965200"/>
            <a:ext cx="381000" cy="292100"/>
          </a:xfrm>
          <a:prstGeom prst="rect">
            <a:avLst/>
          </a:prstGeom>
          <a:solidFill>
            <a:srgbClr val="698DBD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-38100" y="1052703"/>
            <a:ext cx="3048000" cy="1402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459" b="0" i="0">
                <a:solidFill>
                  <a:srgbClr val="FFFFFF"/>
                </a:solidFill>
                <a:latin typeface="Helvetica"/>
              </a:rPr>
              <a:t>0.28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295400" y="1257300"/>
            <a:ext cx="381000" cy="292100"/>
          </a:xfrm>
          <a:prstGeom prst="rect">
            <a:avLst/>
          </a:prstGeom>
          <a:solidFill>
            <a:srgbClr val="82A1C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-38100" y="1344803"/>
            <a:ext cx="3048000" cy="1402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459" b="0" i="0">
                <a:solidFill>
                  <a:srgbClr val="1C1E23"/>
                </a:solidFill>
                <a:latin typeface="Helvetica"/>
              </a:rPr>
              <a:t>0.23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295400" y="1549400"/>
            <a:ext cx="381000" cy="292100"/>
          </a:xfrm>
          <a:prstGeom prst="rect">
            <a:avLst/>
          </a:prstGeom>
          <a:solidFill>
            <a:srgbClr val="ACC2DF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-38100" y="1636902"/>
            <a:ext cx="3048000" cy="1402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459" b="0" i="0">
                <a:solidFill>
                  <a:srgbClr val="1C1E23"/>
                </a:solidFill>
                <a:latin typeface="Helvetica"/>
              </a:rPr>
              <a:t>0.13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676400" y="381000"/>
            <a:ext cx="381000" cy="292100"/>
          </a:xfrm>
          <a:prstGeom prst="rect">
            <a:avLst/>
          </a:prstGeom>
          <a:solidFill>
            <a:srgbClr val="89A7CE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42900" y="468503"/>
            <a:ext cx="3048000" cy="1402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459" b="0" i="0">
                <a:solidFill>
                  <a:srgbClr val="1C1E23"/>
                </a:solidFill>
                <a:latin typeface="Helvetica"/>
              </a:rPr>
              <a:t>0.21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676400" y="673100"/>
            <a:ext cx="381000" cy="292100"/>
          </a:xfrm>
          <a:prstGeom prst="rect">
            <a:avLst/>
          </a:prstGeom>
          <a:solidFill>
            <a:srgbClr val="9FB8D9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42900" y="760602"/>
            <a:ext cx="3048000" cy="1402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459" b="0" i="0">
                <a:solidFill>
                  <a:srgbClr val="1C1E23"/>
                </a:solidFill>
                <a:latin typeface="Helvetica"/>
              </a:rPr>
              <a:t>0.16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676400" y="965200"/>
            <a:ext cx="381000" cy="292100"/>
          </a:xfrm>
          <a:prstGeom prst="rect">
            <a:avLst/>
          </a:prstGeom>
          <a:solidFill>
            <a:srgbClr val="ADC3E0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42900" y="1052703"/>
            <a:ext cx="3048000" cy="1402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459" b="0" i="0">
                <a:solidFill>
                  <a:srgbClr val="1C1E23"/>
                </a:solidFill>
                <a:latin typeface="Helvetica"/>
              </a:rPr>
              <a:t>0.13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676400" y="1257300"/>
            <a:ext cx="381000" cy="292100"/>
          </a:xfrm>
          <a:prstGeom prst="rect">
            <a:avLst/>
          </a:prstGeom>
          <a:solidFill>
            <a:srgbClr val="6A8EBE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42900" y="1344803"/>
            <a:ext cx="3048000" cy="1402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459" b="0" i="0">
                <a:solidFill>
                  <a:srgbClr val="FFFFFF"/>
                </a:solidFill>
                <a:latin typeface="Helvetica"/>
              </a:rPr>
              <a:t>0.28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676400" y="1549400"/>
            <a:ext cx="381000" cy="292100"/>
          </a:xfrm>
          <a:prstGeom prst="rect">
            <a:avLst/>
          </a:prstGeom>
          <a:solidFill>
            <a:srgbClr val="85A3CB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42900" y="1636902"/>
            <a:ext cx="3048000" cy="1402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459" b="0" i="0">
                <a:solidFill>
                  <a:srgbClr val="1C1E23"/>
                </a:solidFill>
                <a:latin typeface="Helvetica"/>
              </a:rPr>
              <a:t>0.22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057400" y="381000"/>
            <a:ext cx="381000" cy="292100"/>
          </a:xfrm>
          <a:prstGeom prst="rect">
            <a:avLst/>
          </a:prstGeom>
          <a:solidFill>
            <a:srgbClr val="7899C5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23900" y="468503"/>
            <a:ext cx="3048000" cy="1402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459" b="0" i="0">
                <a:solidFill>
                  <a:srgbClr val="1C1E23"/>
                </a:solidFill>
                <a:latin typeface="Helvetica"/>
              </a:rPr>
              <a:t>0.25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057400" y="673100"/>
            <a:ext cx="381000" cy="292100"/>
          </a:xfrm>
          <a:prstGeom prst="rect">
            <a:avLst/>
          </a:prstGeom>
          <a:solidFill>
            <a:srgbClr val="B5C9E4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23900" y="760602"/>
            <a:ext cx="3048000" cy="1402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459" b="0" i="0">
                <a:solidFill>
                  <a:srgbClr val="1C1E23"/>
                </a:solidFill>
                <a:latin typeface="Helvetica"/>
              </a:rPr>
              <a:t>0.11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057400" y="965200"/>
            <a:ext cx="381000" cy="292100"/>
          </a:xfrm>
          <a:prstGeom prst="rect">
            <a:avLst/>
          </a:prstGeom>
          <a:solidFill>
            <a:srgbClr val="C4D5EB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23900" y="1052703"/>
            <a:ext cx="3048000" cy="1402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459" b="0" i="0">
                <a:solidFill>
                  <a:srgbClr val="1C1E23"/>
                </a:solidFill>
                <a:latin typeface="Helvetica"/>
              </a:rPr>
              <a:t>0.08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057400" y="1257300"/>
            <a:ext cx="381000" cy="292100"/>
          </a:xfrm>
          <a:prstGeom prst="rect">
            <a:avLst/>
          </a:prstGeom>
          <a:solidFill>
            <a:srgbClr val="ADC3E0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23900" y="1344803"/>
            <a:ext cx="3048000" cy="1402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459" b="0" i="0">
                <a:solidFill>
                  <a:srgbClr val="1C1E23"/>
                </a:solidFill>
                <a:latin typeface="Helvetica"/>
              </a:rPr>
              <a:t>0.13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057400" y="1549400"/>
            <a:ext cx="381000" cy="292100"/>
          </a:xfrm>
          <a:prstGeom prst="rect">
            <a:avLst/>
          </a:prstGeom>
          <a:solidFill>
            <a:srgbClr val="27599C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23900" y="1636902"/>
            <a:ext cx="3048000" cy="1402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459" b="0" i="0">
                <a:solidFill>
                  <a:srgbClr val="FFFFFF"/>
                </a:solidFill>
                <a:latin typeface="Helvetica"/>
              </a:rPr>
              <a:t>0.44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533400" y="381000"/>
            <a:ext cx="1524000" cy="1168400"/>
          </a:xfrm>
          <a:prstGeom prst="line">
            <a:avLst/>
          </a:prstGeom>
          <a:ln w="8890">
            <a:solidFill>
              <a:srgbClr val="1C1E2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-228600" y="1719389"/>
            <a:ext cx="3048000" cy="1493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490" b="0" i="0">
                <a:solidFill>
                  <a:srgbClr val="6B727C"/>
                </a:solidFill>
                <a:latin typeface="Helvetica"/>
              </a:rPr>
              <a:t>reconstruction rank within episode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-228600" y="1833689"/>
            <a:ext cx="3048000" cy="1493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490" b="0" i="0">
                <a:solidFill>
                  <a:srgbClr val="1C1E23"/>
                </a:solidFill>
                <a:latin typeface="Helvetica"/>
              </a:rPr>
              <a:t>diagonal = the two criteria agree; agreement 22%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-228600" y="1935289"/>
            <a:ext cx="3048000" cy="1493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490" b="0" i="0">
                <a:solidFill>
                  <a:srgbClr val="6B727C"/>
                </a:solidFill>
                <a:latin typeface="Helvetica"/>
              </a:rPr>
              <a:t>discordant pairs 43%, within-episode rho 0.15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16000" y="11429"/>
            <a:ext cx="3048000" cy="18287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600" b="1" i="0">
                <a:solidFill>
                  <a:srgbClr val="1C1E23"/>
                </a:solidFill>
                <a:latin typeface="Helvetica"/>
              </a:rPr>
              <a:t>(b) Harm against intervention rate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2997200" y="1549400"/>
            <a:ext cx="1905000" cy="0"/>
          </a:xfrm>
          <a:prstGeom prst="line">
            <a:avLst/>
          </a:prstGeom>
          <a:ln w="889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2997200" y="381000"/>
            <a:ext cx="0" cy="1168400"/>
          </a:xfrm>
          <a:prstGeom prst="line">
            <a:avLst/>
          </a:prstGeom>
          <a:ln w="889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2997200" y="1549400"/>
            <a:ext cx="0" cy="3175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Box 79"/>
          <p:cNvSpPr txBox="1"/>
          <p:nvPr/>
        </p:nvSpPr>
        <p:spPr>
          <a:xfrm>
            <a:off x="1473200" y="157111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40" b="0" i="0">
                <a:solidFill>
                  <a:srgbClr val="6B727C"/>
                </a:solidFill>
                <a:latin typeface="Helvetica"/>
              </a:rPr>
              <a:t>0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3949700" y="1549400"/>
            <a:ext cx="0" cy="3175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2425700" y="157111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40" b="0" i="0">
                <a:solidFill>
                  <a:srgbClr val="6B727C"/>
                </a:solidFill>
                <a:latin typeface="Helvetica"/>
              </a:rPr>
              <a:t>0.5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4902200" y="1549400"/>
            <a:ext cx="0" cy="3175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3378200" y="157111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40" b="0" i="0">
                <a:solidFill>
                  <a:srgbClr val="6B727C"/>
                </a:solidFill>
                <a:latin typeface="Helvetica"/>
              </a:rPr>
              <a:t>1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2965450" y="1549400"/>
            <a:ext cx="31750" cy="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Box 85"/>
          <p:cNvSpPr txBox="1"/>
          <p:nvPr/>
        </p:nvSpPr>
        <p:spPr>
          <a:xfrm>
            <a:off x="1427480" y="148094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540" b="0" i="0">
                <a:solidFill>
                  <a:srgbClr val="6B727C"/>
                </a:solidFill>
                <a:latin typeface="Helvetica"/>
              </a:rPr>
              <a:t>0.25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2965450" y="965200"/>
            <a:ext cx="31750" cy="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/>
          <p:cNvSpPr txBox="1"/>
          <p:nvPr/>
        </p:nvSpPr>
        <p:spPr>
          <a:xfrm>
            <a:off x="1427480" y="89674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540" b="0" i="0">
                <a:solidFill>
                  <a:srgbClr val="6B727C"/>
                </a:solidFill>
                <a:latin typeface="Helvetica"/>
              </a:rPr>
              <a:t>0.38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2965450" y="381000"/>
            <a:ext cx="31750" cy="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1427480" y="31254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540" b="0" i="0">
                <a:solidFill>
                  <a:srgbClr val="6B727C"/>
                </a:solidFill>
                <a:latin typeface="Helvetica"/>
              </a:rPr>
              <a:t>0.50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435100" y="22491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540" b="0" i="0">
                <a:solidFill>
                  <a:srgbClr val="1C1E23"/>
                </a:solidFill>
                <a:latin typeface="Helvetica"/>
              </a:rPr>
              <a:t>conditional harmful rate</a:t>
            </a:r>
          </a:p>
        </p:txBody>
      </p:sp>
      <p:sp>
        <p:nvSpPr>
          <p:cNvPr id="92" name="Rectangle 91"/>
          <p:cNvSpPr/>
          <p:nvPr/>
        </p:nvSpPr>
        <p:spPr>
          <a:xfrm>
            <a:off x="3566262" y="906291"/>
            <a:ext cx="27940" cy="27940"/>
          </a:xfrm>
          <a:prstGeom prst="rect">
            <a:avLst/>
          </a:prstGeom>
          <a:solidFill>
            <a:srgbClr val="215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3620721" y="989393"/>
            <a:ext cx="27940" cy="27940"/>
          </a:xfrm>
          <a:prstGeom prst="rect">
            <a:avLst/>
          </a:prstGeom>
          <a:solidFill>
            <a:srgbClr val="215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3773420" y="929125"/>
            <a:ext cx="27940" cy="27940"/>
          </a:xfrm>
          <a:prstGeom prst="rect">
            <a:avLst/>
          </a:prstGeom>
          <a:solidFill>
            <a:srgbClr val="215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3944272" y="896704"/>
            <a:ext cx="27940" cy="27940"/>
          </a:xfrm>
          <a:prstGeom prst="rect">
            <a:avLst/>
          </a:prstGeom>
          <a:solidFill>
            <a:srgbClr val="215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3993392" y="821545"/>
            <a:ext cx="27940" cy="27940"/>
          </a:xfrm>
          <a:prstGeom prst="rect">
            <a:avLst/>
          </a:prstGeom>
          <a:solidFill>
            <a:srgbClr val="215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4033969" y="865737"/>
            <a:ext cx="27940" cy="27940"/>
          </a:xfrm>
          <a:prstGeom prst="rect">
            <a:avLst/>
          </a:prstGeom>
          <a:solidFill>
            <a:srgbClr val="215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4174922" y="894694"/>
            <a:ext cx="27940" cy="27940"/>
          </a:xfrm>
          <a:prstGeom prst="rect">
            <a:avLst/>
          </a:prstGeom>
          <a:solidFill>
            <a:srgbClr val="215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4251806" y="862714"/>
            <a:ext cx="27940" cy="27940"/>
          </a:xfrm>
          <a:prstGeom prst="rect">
            <a:avLst/>
          </a:prstGeom>
          <a:solidFill>
            <a:srgbClr val="215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4287044" y="759367"/>
            <a:ext cx="27940" cy="27940"/>
          </a:xfrm>
          <a:prstGeom prst="rect">
            <a:avLst/>
          </a:prstGeom>
          <a:solidFill>
            <a:srgbClr val="215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4337232" y="864613"/>
            <a:ext cx="27940" cy="27940"/>
          </a:xfrm>
          <a:prstGeom prst="rect">
            <a:avLst/>
          </a:prstGeom>
          <a:solidFill>
            <a:srgbClr val="215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4379945" y="906566"/>
            <a:ext cx="27940" cy="27940"/>
          </a:xfrm>
          <a:prstGeom prst="rect">
            <a:avLst/>
          </a:prstGeom>
          <a:solidFill>
            <a:srgbClr val="215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4438675" y="876222"/>
            <a:ext cx="27940" cy="27940"/>
          </a:xfrm>
          <a:prstGeom prst="rect">
            <a:avLst/>
          </a:prstGeom>
          <a:solidFill>
            <a:srgbClr val="215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4502252" y="730778"/>
            <a:ext cx="60960" cy="60960"/>
          </a:xfrm>
          <a:prstGeom prst="rect">
            <a:avLst/>
          </a:prstGeom>
          <a:solidFill>
            <a:srgbClr val="215499"/>
          </a:solidFill>
          <a:ln w="8890">
            <a:solidFill>
              <a:srgbClr val="1C1E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4556136" y="838197"/>
            <a:ext cx="27940" cy="27940"/>
          </a:xfrm>
          <a:prstGeom prst="rect">
            <a:avLst/>
          </a:prstGeom>
          <a:solidFill>
            <a:srgbClr val="215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4562543" y="826806"/>
            <a:ext cx="27940" cy="27940"/>
          </a:xfrm>
          <a:prstGeom prst="rect">
            <a:avLst/>
          </a:prstGeom>
          <a:solidFill>
            <a:srgbClr val="215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4574289" y="821843"/>
            <a:ext cx="27940" cy="27940"/>
          </a:xfrm>
          <a:prstGeom prst="rect">
            <a:avLst/>
          </a:prstGeom>
          <a:solidFill>
            <a:srgbClr val="215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4035037" y="1361059"/>
            <a:ext cx="27940" cy="27940"/>
          </a:xfrm>
          <a:prstGeom prst="rect">
            <a:avLst/>
          </a:prstGeom>
          <a:solidFill>
            <a:srgbClr val="AD6B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4147159" y="1404654"/>
            <a:ext cx="27940" cy="27940"/>
          </a:xfrm>
          <a:prstGeom prst="rect">
            <a:avLst/>
          </a:prstGeom>
          <a:solidFill>
            <a:srgbClr val="AD6B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4350046" y="1323657"/>
            <a:ext cx="27940" cy="27940"/>
          </a:xfrm>
          <a:prstGeom prst="rect">
            <a:avLst/>
          </a:prstGeom>
          <a:solidFill>
            <a:srgbClr val="AD6B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4404505" y="1218531"/>
            <a:ext cx="27940" cy="27940"/>
          </a:xfrm>
          <a:prstGeom prst="rect">
            <a:avLst/>
          </a:prstGeom>
          <a:solidFill>
            <a:srgbClr val="AD6B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4497406" y="1247037"/>
            <a:ext cx="27940" cy="27940"/>
          </a:xfrm>
          <a:prstGeom prst="rect">
            <a:avLst/>
          </a:prstGeom>
          <a:solidFill>
            <a:srgbClr val="AD6B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4589238" y="1293049"/>
            <a:ext cx="27940" cy="27940"/>
          </a:xfrm>
          <a:prstGeom prst="rect">
            <a:avLst/>
          </a:prstGeom>
          <a:solidFill>
            <a:srgbClr val="AD6B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4618070" y="1128665"/>
            <a:ext cx="27940" cy="27940"/>
          </a:xfrm>
          <a:prstGeom prst="rect">
            <a:avLst/>
          </a:prstGeom>
          <a:solidFill>
            <a:srgbClr val="AD6B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4627680" y="1234984"/>
            <a:ext cx="27940" cy="27940"/>
          </a:xfrm>
          <a:prstGeom prst="rect">
            <a:avLst/>
          </a:prstGeom>
          <a:solidFill>
            <a:srgbClr val="AD6B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4707767" y="1152715"/>
            <a:ext cx="27940" cy="27940"/>
          </a:xfrm>
          <a:prstGeom prst="rect">
            <a:avLst/>
          </a:prstGeom>
          <a:solidFill>
            <a:srgbClr val="AD6B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4748344" y="1089416"/>
            <a:ext cx="27940" cy="27940"/>
          </a:xfrm>
          <a:prstGeom prst="rect">
            <a:avLst/>
          </a:prstGeom>
          <a:solidFill>
            <a:srgbClr val="AD6B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4756887" y="1237878"/>
            <a:ext cx="27940" cy="27940"/>
          </a:xfrm>
          <a:prstGeom prst="rect">
            <a:avLst/>
          </a:prstGeom>
          <a:solidFill>
            <a:srgbClr val="AD6B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4779311" y="1183937"/>
            <a:ext cx="27940" cy="27940"/>
          </a:xfrm>
          <a:prstGeom prst="rect">
            <a:avLst/>
          </a:prstGeom>
          <a:solidFill>
            <a:srgbClr val="AD6B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4813482" y="1130511"/>
            <a:ext cx="27940" cy="27940"/>
          </a:xfrm>
          <a:prstGeom prst="rect">
            <a:avLst/>
          </a:prstGeom>
          <a:solidFill>
            <a:srgbClr val="AD6B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4819889" y="1198496"/>
            <a:ext cx="27940" cy="27940"/>
          </a:xfrm>
          <a:prstGeom prst="rect">
            <a:avLst/>
          </a:prstGeom>
          <a:solidFill>
            <a:srgbClr val="AD6B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4843381" y="1155800"/>
            <a:ext cx="27940" cy="27940"/>
          </a:xfrm>
          <a:prstGeom prst="rect">
            <a:avLst/>
          </a:prstGeom>
          <a:solidFill>
            <a:srgbClr val="AD6B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4841820" y="1170263"/>
            <a:ext cx="60960" cy="60960"/>
          </a:xfrm>
          <a:prstGeom prst="rect">
            <a:avLst/>
          </a:prstGeom>
          <a:solidFill>
            <a:srgbClr val="AD6B0A"/>
          </a:solidFill>
          <a:ln w="8890">
            <a:solidFill>
              <a:srgbClr val="1C1E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3516074" y="961766"/>
            <a:ext cx="27940" cy="27940"/>
          </a:xfrm>
          <a:prstGeom prst="rect">
            <a:avLst/>
          </a:prstGeom>
          <a:solidFill>
            <a:srgbClr val="197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3522481" y="917681"/>
            <a:ext cx="27940" cy="27940"/>
          </a:xfrm>
          <a:prstGeom prst="rect">
            <a:avLst/>
          </a:prstGeom>
          <a:solidFill>
            <a:srgbClr val="197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3654891" y="1084044"/>
            <a:ext cx="27940" cy="27940"/>
          </a:xfrm>
          <a:prstGeom prst="rect">
            <a:avLst/>
          </a:prstGeom>
          <a:solidFill>
            <a:srgbClr val="197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3709351" y="1102434"/>
            <a:ext cx="27940" cy="27940"/>
          </a:xfrm>
          <a:prstGeom prst="rect">
            <a:avLst/>
          </a:prstGeom>
          <a:solidFill>
            <a:srgbClr val="197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3918644" y="825853"/>
            <a:ext cx="27940" cy="27940"/>
          </a:xfrm>
          <a:prstGeom prst="rect">
            <a:avLst/>
          </a:prstGeom>
          <a:solidFill>
            <a:srgbClr val="197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3936797" y="845903"/>
            <a:ext cx="27940" cy="27940"/>
          </a:xfrm>
          <a:prstGeom prst="rect">
            <a:avLst/>
          </a:prstGeom>
          <a:solidFill>
            <a:srgbClr val="197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3986985" y="879137"/>
            <a:ext cx="27940" cy="27940"/>
          </a:xfrm>
          <a:prstGeom prst="rect">
            <a:avLst/>
          </a:prstGeom>
          <a:solidFill>
            <a:srgbClr val="197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4008342" y="975571"/>
            <a:ext cx="27940" cy="27940"/>
          </a:xfrm>
          <a:prstGeom prst="rect">
            <a:avLst/>
          </a:prstGeom>
          <a:solidFill>
            <a:srgbClr val="197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4205889" y="797654"/>
            <a:ext cx="27940" cy="27940"/>
          </a:xfrm>
          <a:prstGeom prst="rect">
            <a:avLst/>
          </a:prstGeom>
          <a:solidFill>
            <a:srgbClr val="197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4222974" y="876255"/>
            <a:ext cx="27940" cy="27940"/>
          </a:xfrm>
          <a:prstGeom prst="rect">
            <a:avLst/>
          </a:prstGeom>
          <a:solidFill>
            <a:srgbClr val="197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4246467" y="862834"/>
            <a:ext cx="27940" cy="27940"/>
          </a:xfrm>
          <a:prstGeom prst="rect">
            <a:avLst/>
          </a:prstGeom>
          <a:solidFill>
            <a:srgbClr val="197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4249670" y="883253"/>
            <a:ext cx="27940" cy="27940"/>
          </a:xfrm>
          <a:prstGeom prst="rect">
            <a:avLst/>
          </a:prstGeom>
          <a:solidFill>
            <a:srgbClr val="197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4416826" y="815126"/>
            <a:ext cx="60960" cy="60960"/>
          </a:xfrm>
          <a:prstGeom prst="rect">
            <a:avLst/>
          </a:prstGeom>
          <a:solidFill>
            <a:srgbClr val="19704F"/>
          </a:solidFill>
          <a:ln w="8890">
            <a:solidFill>
              <a:srgbClr val="1C1E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4445082" y="716952"/>
            <a:ext cx="27940" cy="27940"/>
          </a:xfrm>
          <a:prstGeom prst="rect">
            <a:avLst/>
          </a:prstGeom>
          <a:solidFill>
            <a:srgbClr val="197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4449353" y="804435"/>
            <a:ext cx="27940" cy="27940"/>
          </a:xfrm>
          <a:prstGeom prst="rect">
            <a:avLst/>
          </a:prstGeom>
          <a:solidFill>
            <a:srgbClr val="197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4460032" y="818169"/>
            <a:ext cx="27940" cy="27940"/>
          </a:xfrm>
          <a:prstGeom prst="rect">
            <a:avLst/>
          </a:prstGeom>
          <a:solidFill>
            <a:srgbClr val="197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0" name="Connector 139"/>
          <p:cNvCxnSpPr/>
          <p:nvPr/>
        </p:nvCxnSpPr>
        <p:spPr>
          <a:xfrm>
            <a:off x="2997200" y="761734"/>
            <a:ext cx="1905000" cy="0"/>
          </a:xfrm>
          <a:prstGeom prst="line">
            <a:avLst/>
          </a:prstGeom>
          <a:ln w="8890">
            <a:solidFill>
              <a:srgbClr val="AD2B2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1" name="TextBox 140"/>
          <p:cNvSpPr txBox="1"/>
          <p:nvPr/>
        </p:nvSpPr>
        <p:spPr>
          <a:xfrm>
            <a:off x="3352800" y="644767"/>
            <a:ext cx="3048000" cy="1402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459" b="0" i="0">
                <a:solidFill>
                  <a:srgbClr val="AD2B2B"/>
                </a:solidFill>
                <a:latin typeface="Helvetica"/>
              </a:rPr>
              <a:t>harm cap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3048000" y="431800"/>
            <a:ext cx="50800" cy="50800"/>
          </a:xfrm>
          <a:prstGeom prst="rect">
            <a:avLst/>
          </a:prstGeom>
          <a:solidFill>
            <a:srgbClr val="215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1600200" y="400304"/>
            <a:ext cx="3048000" cy="14630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480" b="0" i="0">
                <a:solidFill>
                  <a:srgbClr val="6B727C"/>
                </a:solidFill>
                <a:latin typeface="Helvetica"/>
              </a:rPr>
              <a:t>Bolt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3632200" y="431800"/>
            <a:ext cx="50800" cy="50800"/>
          </a:xfrm>
          <a:prstGeom prst="rect">
            <a:avLst/>
          </a:prstGeom>
          <a:solidFill>
            <a:srgbClr val="AD6B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2184400" y="400304"/>
            <a:ext cx="3048000" cy="14630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480" b="0" i="0">
                <a:solidFill>
                  <a:srgbClr val="6B727C"/>
                </a:solidFill>
                <a:latin typeface="Helvetica"/>
              </a:rPr>
              <a:t>TimesFM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4216400" y="431800"/>
            <a:ext cx="50800" cy="50800"/>
          </a:xfrm>
          <a:prstGeom prst="rect">
            <a:avLst/>
          </a:prstGeom>
          <a:solidFill>
            <a:srgbClr val="197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2768600" y="400304"/>
            <a:ext cx="3048000" cy="14630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480" b="0" i="0">
                <a:solidFill>
                  <a:srgbClr val="6B727C"/>
                </a:solidFill>
                <a:latin typeface="Helvetica"/>
              </a:rPr>
              <a:t>Chronos-2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425700" y="1719389"/>
            <a:ext cx="3048000" cy="1493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490" b="0" i="0">
                <a:solidFill>
                  <a:srgbClr val="6B727C"/>
                </a:solidFill>
                <a:latin typeface="Helvetica"/>
              </a:rPr>
              <a:t>intervention rate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425700" y="1833689"/>
            <a:ext cx="3048000" cy="1493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490" b="0" i="0">
                <a:solidFill>
                  <a:srgbClr val="6B727C"/>
                </a:solidFill>
                <a:latin typeface="Helvetica"/>
              </a:rPr>
              <a:t>one point per neighbourhood size and penalty strength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2425700" y="1935289"/>
            <a:ext cx="3048000" cy="1493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490" b="0" i="0">
                <a:solidFill>
                  <a:srgbClr val="6B727C"/>
                </a:solidFill>
                <a:latin typeface="Helvetica"/>
              </a:rPr>
              <a:t>large marker = the point the cross-validation selected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990600" y="2149475"/>
            <a:ext cx="3048000" cy="152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00" b="0" i="0">
                <a:solidFill>
                  <a:srgbClr val="6B727C"/>
                </a:solidFill>
                <a:latin typeface="Helvetica"/>
              </a:rPr>
              <a:t>The two criteria agree barely more often than chance, and moving along the penalty grid trades intervention rate against accuracy at a nearly fixed harmful rate.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