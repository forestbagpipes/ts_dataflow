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5029200" cy="2413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14732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(a) Reconstruction rank vs realised-utility rank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33400" y="1549400"/>
            <a:ext cx="15240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34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239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-8001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1049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-4191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2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4859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-381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8669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429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4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01650" y="140335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-1036319" y="133489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4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01650" y="111125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-1036319" y="104279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3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01650" y="81915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-1036319" y="75069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2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1650" y="52705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-1036319" y="45859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-10287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realised utility rank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3400" y="381000"/>
            <a:ext cx="381000" cy="292100"/>
          </a:xfrm>
          <a:prstGeom prst="rect">
            <a:avLst/>
          </a:prstGeom>
          <a:solidFill>
            <a:srgbClr val="6288B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-800100" y="4685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33400" y="673100"/>
            <a:ext cx="381000" cy="292100"/>
          </a:xfrm>
          <a:prstGeom prst="rect">
            <a:avLst/>
          </a:prstGeom>
          <a:solidFill>
            <a:srgbClr val="6085B8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-800100" y="7606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0.31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400" y="965200"/>
            <a:ext cx="381000" cy="292100"/>
          </a:xfrm>
          <a:prstGeom prst="rect">
            <a:avLst/>
          </a:prstGeom>
          <a:solidFill>
            <a:srgbClr val="82A1C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-800100" y="10527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33400" y="1257300"/>
            <a:ext cx="381000" cy="292100"/>
          </a:xfrm>
          <a:prstGeom prst="rect">
            <a:avLst/>
          </a:prstGeom>
          <a:solidFill>
            <a:srgbClr val="9CB5D7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-800100" y="13448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4400" y="381000"/>
            <a:ext cx="381000" cy="292100"/>
          </a:xfrm>
          <a:prstGeom prst="rect">
            <a:avLst/>
          </a:prstGeom>
          <a:solidFill>
            <a:srgbClr val="8CA9CF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-419100" y="4685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673100"/>
            <a:ext cx="381000" cy="292100"/>
          </a:xfrm>
          <a:prstGeom prst="rect">
            <a:avLst/>
          </a:prstGeom>
          <a:solidFill>
            <a:srgbClr val="426EA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-419100" y="7606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0.37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14400" y="965200"/>
            <a:ext cx="381000" cy="292100"/>
          </a:xfrm>
          <a:prstGeom prst="rect">
            <a:avLst/>
          </a:prstGeom>
          <a:solidFill>
            <a:srgbClr val="6489B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-419100" y="10527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1257300"/>
            <a:ext cx="381000" cy="292100"/>
          </a:xfrm>
          <a:prstGeom prst="rect">
            <a:avLst/>
          </a:prstGeom>
          <a:solidFill>
            <a:srgbClr val="ADC3E0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-419100" y="13448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295400" y="381000"/>
            <a:ext cx="381000" cy="292100"/>
          </a:xfrm>
          <a:prstGeom prst="rect">
            <a:avLst/>
          </a:prstGeom>
          <a:solidFill>
            <a:srgbClr val="88A6C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-38100" y="4685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295400" y="673100"/>
            <a:ext cx="381000" cy="292100"/>
          </a:xfrm>
          <a:prstGeom prst="rect">
            <a:avLst/>
          </a:prstGeom>
          <a:solidFill>
            <a:srgbClr val="88A5C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-38100" y="7606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295400" y="965200"/>
            <a:ext cx="381000" cy="292100"/>
          </a:xfrm>
          <a:prstGeom prst="rect">
            <a:avLst/>
          </a:prstGeom>
          <a:solidFill>
            <a:srgbClr val="577FB4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-38100" y="10527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0.33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295400" y="1257300"/>
            <a:ext cx="381000" cy="292100"/>
          </a:xfrm>
          <a:prstGeom prst="rect">
            <a:avLst/>
          </a:prstGeom>
          <a:solidFill>
            <a:srgbClr val="7999C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-38100" y="13448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0.25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676400" y="381000"/>
            <a:ext cx="381000" cy="292100"/>
          </a:xfrm>
          <a:prstGeom prst="rect">
            <a:avLst/>
          </a:prstGeom>
          <a:solidFill>
            <a:srgbClr val="688DB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42900" y="4685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0.29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676400" y="673100"/>
            <a:ext cx="381000" cy="292100"/>
          </a:xfrm>
          <a:prstGeom prst="rect">
            <a:avLst/>
          </a:prstGeom>
          <a:solidFill>
            <a:srgbClr val="B7CBE5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2900" y="760602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676400" y="965200"/>
            <a:ext cx="381000" cy="292100"/>
          </a:xfrm>
          <a:prstGeom prst="rect">
            <a:avLst/>
          </a:prstGeom>
          <a:solidFill>
            <a:srgbClr val="A3BBD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42900" y="10527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1C1E23"/>
                </a:solidFill>
                <a:latin typeface="Helvetica"/>
              </a:rPr>
              <a:t>0.15</a:t>
            </a:r>
          </a:p>
        </p:txBody>
      </p:sp>
      <p:sp>
        <p:nvSpPr>
          <p:cNvPr id="52" name="Rectangle 51"/>
          <p:cNvSpPr/>
          <p:nvPr/>
        </p:nvSpPr>
        <p:spPr>
          <a:xfrm>
            <a:off x="1676400" y="1257300"/>
            <a:ext cx="381000" cy="292100"/>
          </a:xfrm>
          <a:prstGeom prst="rect">
            <a:avLst/>
          </a:prstGeom>
          <a:solidFill>
            <a:srgbClr val="215499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42900" y="1344803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59" b="0" i="0">
                <a:solidFill>
                  <a:srgbClr val="FFFFFF"/>
                </a:solidFill>
                <a:latin typeface="Helvetica"/>
              </a:rPr>
              <a:t>0.46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533400" y="381000"/>
            <a:ext cx="1524000" cy="1168400"/>
          </a:xfrm>
          <a:prstGeom prst="line">
            <a:avLst/>
          </a:prstGeom>
          <a:ln w="8890">
            <a:solidFill>
              <a:srgbClr val="1C1E23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/>
          <p:cNvSpPr txBox="1"/>
          <p:nvPr/>
        </p:nvSpPr>
        <p:spPr>
          <a:xfrm>
            <a:off x="-228600" y="17193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reconstruction rank within episode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-228600" y="18336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1C1E23"/>
                </a:solidFill>
                <a:latin typeface="Helvetica"/>
              </a:rPr>
              <a:t>diagonal = the two criteria agree; agreement 31%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-228600" y="19352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discordant pairs 42%, within-episode rho 0.15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16000" y="11429"/>
            <a:ext cx="3048000" cy="182879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600" b="1" i="0">
                <a:solidFill>
                  <a:srgbClr val="1C1E23"/>
                </a:solidFill>
                <a:latin typeface="Helvetica"/>
              </a:rPr>
              <a:t>(b) Harm against intervention rate</a:t>
            </a:r>
          </a:p>
        </p:txBody>
      </p:sp>
      <p:cxnSp>
        <p:nvCxnSpPr>
          <p:cNvPr id="59" name="Connector 58"/>
          <p:cNvCxnSpPr/>
          <p:nvPr/>
        </p:nvCxnSpPr>
        <p:spPr>
          <a:xfrm>
            <a:off x="2997200" y="1549400"/>
            <a:ext cx="1905000" cy="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997200" y="381000"/>
            <a:ext cx="0" cy="1168400"/>
          </a:xfrm>
          <a:prstGeom prst="line">
            <a:avLst/>
          </a:prstGeom>
          <a:ln w="889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>
            <a:off x="29972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473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9497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24257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0.5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4902200" y="1549400"/>
            <a:ext cx="0" cy="3175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3378200" y="15711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40" b="0" i="0">
                <a:solidFill>
                  <a:srgbClr val="6B727C"/>
                </a:solidFill>
                <a:latin typeface="Helvetica"/>
              </a:rPr>
              <a:t>1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965450" y="15494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427480" y="14809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0.25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2965450" y="9652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427480" y="8967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0.38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2965450" y="381000"/>
            <a:ext cx="31750" cy="0"/>
          </a:xfrm>
          <a:prstGeom prst="line">
            <a:avLst/>
          </a:prstGeom>
          <a:ln w="7620">
            <a:solidFill>
              <a:srgbClr val="1C1E2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1427480" y="31254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540" b="0" i="0">
                <a:solidFill>
                  <a:srgbClr val="6B727C"/>
                </a:solidFill>
                <a:latin typeface="Helvetica"/>
              </a:rPr>
              <a:t>0.50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35100" y="224917"/>
            <a:ext cx="3048000" cy="16459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40" b="0" i="0">
                <a:solidFill>
                  <a:srgbClr val="1C1E23"/>
                </a:solidFill>
                <a:latin typeface="Helvetica"/>
              </a:rPr>
              <a:t>conditional harmful rate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566262" y="906291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3620721" y="98939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773420" y="929125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944272" y="89670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993392" y="821545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033969" y="86573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174922" y="89469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4251806" y="862714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4287044" y="75936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37232" y="86461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379945" y="906566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38675" y="876222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4502252" y="730778"/>
            <a:ext cx="60960" cy="60960"/>
          </a:xfrm>
          <a:prstGeom prst="rect">
            <a:avLst/>
          </a:prstGeom>
          <a:solidFill>
            <a:srgbClr val="215499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556136" y="838197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4562543" y="826806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4574289" y="821843"/>
            <a:ext cx="27940" cy="2794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4035037" y="1361059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4147159" y="1404654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350046" y="132365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4404505" y="1218531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4497406" y="124703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589238" y="1293049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4618070" y="1128665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4627680" y="1234984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4707767" y="1152715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4748344" y="1089416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4756887" y="1237878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4779311" y="1183937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813482" y="1130511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819889" y="1198496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4843381" y="1155800"/>
            <a:ext cx="27940" cy="2794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4841820" y="1170263"/>
            <a:ext cx="60960" cy="60960"/>
          </a:xfrm>
          <a:prstGeom prst="rect">
            <a:avLst/>
          </a:prstGeom>
          <a:solidFill>
            <a:srgbClr val="AD6B0A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516074" y="961766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522481" y="917681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654891" y="108404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709351" y="110243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918644" y="82585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36797" y="84590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3986985" y="879137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008342" y="975571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205889" y="79765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4222974" y="876255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4246467" y="862834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4249670" y="883253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416826" y="815126"/>
            <a:ext cx="60960" cy="60960"/>
          </a:xfrm>
          <a:prstGeom prst="rect">
            <a:avLst/>
          </a:prstGeom>
          <a:solidFill>
            <a:srgbClr val="19704F"/>
          </a:solidFill>
          <a:ln w="8890">
            <a:solidFill>
              <a:srgbClr val="1C1E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4445082" y="716952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4449353" y="804435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460032" y="818169"/>
            <a:ext cx="27940" cy="2794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2" name="Connector 121"/>
          <p:cNvCxnSpPr/>
          <p:nvPr/>
        </p:nvCxnSpPr>
        <p:spPr>
          <a:xfrm>
            <a:off x="2997200" y="761734"/>
            <a:ext cx="1905000" cy="0"/>
          </a:xfrm>
          <a:prstGeom prst="line">
            <a:avLst/>
          </a:prstGeom>
          <a:ln w="8890">
            <a:solidFill>
              <a:srgbClr val="AD2B2B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3" name="TextBox 122"/>
          <p:cNvSpPr txBox="1"/>
          <p:nvPr/>
        </p:nvSpPr>
        <p:spPr>
          <a:xfrm>
            <a:off x="3352800" y="644767"/>
            <a:ext cx="3048000" cy="14020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459" b="0" i="0">
                <a:solidFill>
                  <a:srgbClr val="AD2B2B"/>
                </a:solidFill>
                <a:latin typeface="Helvetica"/>
              </a:rPr>
              <a:t>harm cap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048000" y="431800"/>
            <a:ext cx="50800" cy="50800"/>
          </a:xfrm>
          <a:prstGeom prst="rect">
            <a:avLst/>
          </a:prstGeom>
          <a:solidFill>
            <a:srgbClr val="2154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6002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Bolt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3632200" y="431800"/>
            <a:ext cx="50800" cy="50800"/>
          </a:xfrm>
          <a:prstGeom prst="rect">
            <a:avLst/>
          </a:prstGeom>
          <a:solidFill>
            <a:srgbClr val="AD6B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21844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TimesFM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216400" y="431800"/>
            <a:ext cx="50800" cy="50800"/>
          </a:xfrm>
          <a:prstGeom prst="rect">
            <a:avLst/>
          </a:prstGeom>
          <a:solidFill>
            <a:srgbClr val="1970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2768600" y="400304"/>
            <a:ext cx="3048000" cy="146304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480" b="0" i="0">
                <a:solidFill>
                  <a:srgbClr val="6B727C"/>
                </a:solidFill>
                <a:latin typeface="Helvetica"/>
              </a:rPr>
              <a:t>Chronos-2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25700" y="17193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intervention rate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425700" y="18336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one point per neighbourhood size and penalty strength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2425700" y="1935289"/>
            <a:ext cx="3048000" cy="149352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490" b="0" i="0">
                <a:solidFill>
                  <a:srgbClr val="6B727C"/>
                </a:solidFill>
                <a:latin typeface="Helvetica"/>
              </a:rPr>
              <a:t>large marker = the point the cross-validation selected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990600" y="2149475"/>
            <a:ext cx="3048000" cy="152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00" b="0" i="0">
                <a:solidFill>
                  <a:srgbClr val="6B727C"/>
                </a:solidFill>
                <a:latin typeface="Helvetica"/>
              </a:rPr>
              <a:t>The two criteria agree barely more often than chance, and moving along the penalty grid trades intervention rate against accuracy at a nearly fixed harmful rate.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