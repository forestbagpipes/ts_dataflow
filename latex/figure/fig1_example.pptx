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4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F150A-4CE9-DE69-56A0-CB4D8672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C4E06-C8E9-DD1A-940E-4817E1B4E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F0C66-FA93-1A34-81A5-650EAAEAF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Visual reference: user-provided codex-clipboard-4409cac2-b066-461a-95bd-1c162c91bf21.png. Scientific reference: latex/v47_build.pdf, Sections 3.2–3.5 and Table 8. Curves and utility bars are schematic, not experimental measurements. Request examples illustrate mechanisms, not measured oracle labels. Online retrieval uses a frozen, same-action replay bank. The conservative score is heuristic, not a calibrated confidence bound.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9301E-A501-40C0-CF1E-EFE939D1B60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5684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E5B43-FFAE-93E3-5D11-E455CE52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Element 1">
            <a:extLst>
              <a:ext uri="{FF2B5EF4-FFF2-40B4-BE49-F238E27FC236}">
                <a16:creationId xmlns:a16="http://schemas.microsoft.com/office/drawing/2014/main" id="{9A71AEED-76E9-7CFA-A61C-AF621CA9DA9D}"/>
              </a:ext>
            </a:extLst>
          </p:cNvPr>
          <p:cNvSpPr/>
          <p:nvPr/>
        </p:nvSpPr>
        <p:spPr>
          <a:xfrm>
            <a:off x="133350" y="95250"/>
            <a:ext cx="5095875" cy="8293100"/>
          </a:xfrm>
          <a:prstGeom prst="rect">
            <a:avLst/>
          </a:prstGeom>
          <a:noFill/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Element 2">
            <a:extLst>
              <a:ext uri="{FF2B5EF4-FFF2-40B4-BE49-F238E27FC236}">
                <a16:creationId xmlns:a16="http://schemas.microsoft.com/office/drawing/2014/main" id="{1401C4DB-1DCE-9945-DC72-E40361E51173}"/>
              </a:ext>
            </a:extLst>
          </p:cNvPr>
          <p:cNvSpPr/>
          <p:nvPr/>
        </p:nvSpPr>
        <p:spPr>
          <a:xfrm>
            <a:off x="228600" y="95250"/>
            <a:ext cx="590550" cy="552450"/>
          </a:xfrm>
          <a:prstGeom prst="rect">
            <a:avLst/>
          </a:prstGeom>
          <a:solidFill>
            <a:srgbClr val="173D65"/>
          </a:solidFill>
          <a:ln w="12383">
            <a:solidFill>
              <a:srgbClr val="173D65"/>
            </a:solidFill>
          </a:ln>
        </p:spPr>
      </p:sp>
      <p:sp>
        <p:nvSpPr>
          <p:cNvPr id="3" name="Element 3">
            <a:extLst>
              <a:ext uri="{FF2B5EF4-FFF2-40B4-BE49-F238E27FC236}">
                <a16:creationId xmlns:a16="http://schemas.microsoft.com/office/drawing/2014/main" id="{83E897EC-D865-CC41-B123-8322CC6D6C25}"/>
              </a:ext>
            </a:extLst>
          </p:cNvPr>
          <p:cNvSpPr txBox="1"/>
          <p:nvPr/>
        </p:nvSpPr>
        <p:spPr>
          <a:xfrm>
            <a:off x="228600" y="76200"/>
            <a:ext cx="5905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4" name="Element 4">
            <a:extLst>
              <a:ext uri="{FF2B5EF4-FFF2-40B4-BE49-F238E27FC236}">
                <a16:creationId xmlns:a16="http://schemas.microsoft.com/office/drawing/2014/main" id="{00AF5D6D-0F3E-36B0-32DE-432F61EFDDE4}"/>
              </a:ext>
            </a:extLst>
          </p:cNvPr>
          <p:cNvSpPr txBox="1"/>
          <p:nvPr/>
        </p:nvSpPr>
        <p:spPr>
          <a:xfrm>
            <a:off x="933450" y="190500"/>
            <a:ext cx="4200525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>
                <a:solidFill>
                  <a:srgbClr val="081B41"/>
                </a:solidFill>
                <a:ea typeface="Calibri"/>
                <a:cs typeface="Calibri"/>
              </a:rPr>
              <a:t>Request-Specific Selection</a:t>
            </a:r>
          </a:p>
        </p:txBody>
      </p:sp>
      <p:sp>
        <p:nvSpPr>
          <p:cNvPr id="5" name="Element 5">
            <a:extLst>
              <a:ext uri="{FF2B5EF4-FFF2-40B4-BE49-F238E27FC236}">
                <a16:creationId xmlns:a16="http://schemas.microsoft.com/office/drawing/2014/main" id="{A10FF366-B340-5C87-B979-B2900B28C229}"/>
              </a:ext>
            </a:extLst>
          </p:cNvPr>
          <p:cNvSpPr/>
          <p:nvPr/>
        </p:nvSpPr>
        <p:spPr>
          <a:xfrm>
            <a:off x="5400675" y="95250"/>
            <a:ext cx="5095875" cy="8293100"/>
          </a:xfrm>
          <a:prstGeom prst="rect">
            <a:avLst/>
          </a:prstGeom>
          <a:noFill/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Element 6">
            <a:extLst>
              <a:ext uri="{FF2B5EF4-FFF2-40B4-BE49-F238E27FC236}">
                <a16:creationId xmlns:a16="http://schemas.microsoft.com/office/drawing/2014/main" id="{ED2B2C7B-A774-33B6-67F0-8E4DD68089F0}"/>
              </a:ext>
            </a:extLst>
          </p:cNvPr>
          <p:cNvSpPr/>
          <p:nvPr/>
        </p:nvSpPr>
        <p:spPr>
          <a:xfrm>
            <a:off x="5495925" y="95250"/>
            <a:ext cx="590550" cy="552450"/>
          </a:xfrm>
          <a:prstGeom prst="rect">
            <a:avLst/>
          </a:prstGeom>
          <a:solidFill>
            <a:srgbClr val="173D65"/>
          </a:solidFill>
          <a:ln w="12383">
            <a:solidFill>
              <a:srgbClr val="173D65"/>
            </a:solidFill>
          </a:ln>
        </p:spPr>
      </p:sp>
      <p:sp>
        <p:nvSpPr>
          <p:cNvPr id="7" name="Element 7">
            <a:extLst>
              <a:ext uri="{FF2B5EF4-FFF2-40B4-BE49-F238E27FC236}">
                <a16:creationId xmlns:a16="http://schemas.microsoft.com/office/drawing/2014/main" id="{790CE0EF-8AA1-7706-54A2-4B34DD7A7195}"/>
              </a:ext>
            </a:extLst>
          </p:cNvPr>
          <p:cNvSpPr txBox="1"/>
          <p:nvPr/>
        </p:nvSpPr>
        <p:spPr>
          <a:xfrm>
            <a:off x="5495925" y="76200"/>
            <a:ext cx="5905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8" name="Element 8">
            <a:extLst>
              <a:ext uri="{FF2B5EF4-FFF2-40B4-BE49-F238E27FC236}">
                <a16:creationId xmlns:a16="http://schemas.microsoft.com/office/drawing/2014/main" id="{B10656B4-FFB6-F342-05BD-F05B6E819157}"/>
              </a:ext>
            </a:extLst>
          </p:cNvPr>
          <p:cNvSpPr txBox="1"/>
          <p:nvPr/>
        </p:nvSpPr>
        <p:spPr>
          <a:xfrm>
            <a:off x="6200775" y="190500"/>
            <a:ext cx="4200525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>
                <a:solidFill>
                  <a:srgbClr val="081B41"/>
                </a:solidFill>
                <a:ea typeface="Calibri"/>
                <a:cs typeface="Calibri"/>
              </a:rPr>
              <a:t>Historical Full-Action Replay</a:t>
            </a:r>
          </a:p>
        </p:txBody>
      </p:sp>
      <p:sp>
        <p:nvSpPr>
          <p:cNvPr id="9" name="Element 9">
            <a:extLst>
              <a:ext uri="{FF2B5EF4-FFF2-40B4-BE49-F238E27FC236}">
                <a16:creationId xmlns:a16="http://schemas.microsoft.com/office/drawing/2014/main" id="{15193059-6986-71FD-E188-51075070D43D}"/>
              </a:ext>
            </a:extLst>
          </p:cNvPr>
          <p:cNvSpPr/>
          <p:nvPr/>
        </p:nvSpPr>
        <p:spPr>
          <a:xfrm>
            <a:off x="10658475" y="95250"/>
            <a:ext cx="5153025" cy="8293100"/>
          </a:xfrm>
          <a:prstGeom prst="rect">
            <a:avLst/>
          </a:prstGeom>
          <a:noFill/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Element 10">
            <a:extLst>
              <a:ext uri="{FF2B5EF4-FFF2-40B4-BE49-F238E27FC236}">
                <a16:creationId xmlns:a16="http://schemas.microsoft.com/office/drawing/2014/main" id="{CE18EA34-3949-D5CD-C0CD-F1CFA6146EBC}"/>
              </a:ext>
            </a:extLst>
          </p:cNvPr>
          <p:cNvSpPr/>
          <p:nvPr/>
        </p:nvSpPr>
        <p:spPr>
          <a:xfrm>
            <a:off x="10753725" y="95250"/>
            <a:ext cx="590550" cy="552450"/>
          </a:xfrm>
          <a:prstGeom prst="rect">
            <a:avLst/>
          </a:prstGeom>
          <a:solidFill>
            <a:srgbClr val="173D65"/>
          </a:solidFill>
          <a:ln w="12383">
            <a:solidFill>
              <a:srgbClr val="173D65"/>
            </a:solidFill>
          </a:ln>
        </p:spPr>
      </p:sp>
      <p:sp>
        <p:nvSpPr>
          <p:cNvPr id="11" name="Element 11">
            <a:extLst>
              <a:ext uri="{FF2B5EF4-FFF2-40B4-BE49-F238E27FC236}">
                <a16:creationId xmlns:a16="http://schemas.microsoft.com/office/drawing/2014/main" id="{6478DD94-4496-0E34-68F7-A295A7976C62}"/>
              </a:ext>
            </a:extLst>
          </p:cNvPr>
          <p:cNvSpPr txBox="1"/>
          <p:nvPr/>
        </p:nvSpPr>
        <p:spPr>
          <a:xfrm>
            <a:off x="10753725" y="76200"/>
            <a:ext cx="5905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12" name="Element 12">
            <a:extLst>
              <a:ext uri="{FF2B5EF4-FFF2-40B4-BE49-F238E27FC236}">
                <a16:creationId xmlns:a16="http://schemas.microsoft.com/office/drawing/2014/main" id="{0CB2CE05-2931-6E4B-2E31-057B7CFF9B8B}"/>
              </a:ext>
            </a:extLst>
          </p:cNvPr>
          <p:cNvSpPr txBox="1"/>
          <p:nvPr/>
        </p:nvSpPr>
        <p:spPr>
          <a:xfrm>
            <a:off x="11458575" y="190500"/>
            <a:ext cx="4257675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>
                <a:solidFill>
                  <a:srgbClr val="081B41"/>
                </a:solidFill>
                <a:ea typeface="Calibri"/>
                <a:cs typeface="Calibri"/>
              </a:rPr>
              <a:t>Online Action Selection</a:t>
            </a:r>
          </a:p>
        </p:txBody>
      </p:sp>
      <p:sp>
        <p:nvSpPr>
          <p:cNvPr id="13" name="Element 13">
            <a:extLst>
              <a:ext uri="{FF2B5EF4-FFF2-40B4-BE49-F238E27FC236}">
                <a16:creationId xmlns:a16="http://schemas.microsoft.com/office/drawing/2014/main" id="{54A60452-4E17-17BD-6BCF-3D8A9870D26A}"/>
              </a:ext>
            </a:extLst>
          </p:cNvPr>
          <p:cNvSpPr/>
          <p:nvPr/>
        </p:nvSpPr>
        <p:spPr>
          <a:xfrm>
            <a:off x="238125" y="1028700"/>
            <a:ext cx="4876800" cy="150495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Element 14">
            <a:extLst>
              <a:ext uri="{FF2B5EF4-FFF2-40B4-BE49-F238E27FC236}">
                <a16:creationId xmlns:a16="http://schemas.microsoft.com/office/drawing/2014/main" id="{9BDC0C17-C221-DAE1-6141-DCCAFE3BF40A}"/>
              </a:ext>
            </a:extLst>
          </p:cNvPr>
          <p:cNvSpPr txBox="1"/>
          <p:nvPr/>
        </p:nvSpPr>
        <p:spPr>
          <a:xfrm>
            <a:off x="400050" y="1076325"/>
            <a:ext cx="1257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Request A</a:t>
            </a:r>
          </a:p>
        </p:txBody>
      </p:sp>
      <p:sp>
        <p:nvSpPr>
          <p:cNvPr id="15" name="Element 15">
            <a:extLst>
              <a:ext uri="{FF2B5EF4-FFF2-40B4-BE49-F238E27FC236}">
                <a16:creationId xmlns:a16="http://schemas.microsoft.com/office/drawing/2014/main" id="{7AEF3D67-DA79-4548-79A5-09E40BEB231F}"/>
              </a:ext>
            </a:extLst>
          </p:cNvPr>
          <p:cNvSpPr txBox="1"/>
          <p:nvPr/>
        </p:nvSpPr>
        <p:spPr>
          <a:xfrm>
            <a:off x="1762125" y="1114425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Sufficient Context</a:t>
            </a:r>
          </a:p>
        </p:txBody>
      </p:sp>
      <p:sp>
        <p:nvSpPr>
          <p:cNvPr id="16" name="Editable Curve 16">
            <a:extLst>
              <a:ext uri="{FF2B5EF4-FFF2-40B4-BE49-F238E27FC236}">
                <a16:creationId xmlns:a16="http://schemas.microsoft.com/office/drawing/2014/main" id="{1C18A1C5-EBC0-F7D3-005E-3A63E8BB04FC}"/>
              </a:ext>
            </a:extLst>
          </p:cNvPr>
          <p:cNvSpPr/>
          <p:nvPr/>
        </p:nvSpPr>
        <p:spPr>
          <a:xfrm>
            <a:off x="638175" y="2228850"/>
            <a:ext cx="2686050" cy="95"/>
          </a:xfrm>
          <a:custGeom>
            <a:avLst/>
            <a:gdLst/>
            <a:ahLst/>
            <a:cxnLst/>
            <a:rect l="0" t="0" r="0" b="0"/>
            <a:pathLst>
              <a:path w="2686050" h="95">
                <a:moveTo>
                  <a:pt x="0" y="0"/>
                </a:moveTo>
                <a:lnTo>
                  <a:pt x="2686050" y="0"/>
                </a:lnTo>
              </a:path>
            </a:pathLst>
          </a:custGeom>
          <a:noFill/>
          <a:ln w="12383">
            <a:solidFill>
              <a:srgbClr val="081B41"/>
            </a:solidFill>
          </a:ln>
        </p:spPr>
      </p:sp>
      <p:sp>
        <p:nvSpPr>
          <p:cNvPr id="17" name="Editable Curve 17">
            <a:extLst>
              <a:ext uri="{FF2B5EF4-FFF2-40B4-BE49-F238E27FC236}">
                <a16:creationId xmlns:a16="http://schemas.microsoft.com/office/drawing/2014/main" id="{33C9E67F-9B17-F4DC-BEAE-A0B38183684D}"/>
              </a:ext>
            </a:extLst>
          </p:cNvPr>
          <p:cNvSpPr/>
          <p:nvPr/>
        </p:nvSpPr>
        <p:spPr>
          <a:xfrm>
            <a:off x="638175" y="1504950"/>
            <a:ext cx="95" cy="723900"/>
          </a:xfrm>
          <a:custGeom>
            <a:avLst/>
            <a:gdLst/>
            <a:ahLst/>
            <a:cxnLst/>
            <a:rect l="0" t="0" r="0" b="0"/>
            <a:pathLst>
              <a:path w="95" h="723900">
                <a:moveTo>
                  <a:pt x="0" y="72390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81B41"/>
            </a:solidFill>
          </a:ln>
        </p:spPr>
      </p:sp>
      <p:sp>
        <p:nvSpPr>
          <p:cNvPr id="18" name="Element 18">
            <a:extLst>
              <a:ext uri="{FF2B5EF4-FFF2-40B4-BE49-F238E27FC236}">
                <a16:creationId xmlns:a16="http://schemas.microsoft.com/office/drawing/2014/main" id="{13BF28C3-7A04-8B03-63B4-E8205D6EB1CB}"/>
              </a:ext>
            </a:extLst>
          </p:cNvPr>
          <p:cNvSpPr/>
          <p:nvPr/>
        </p:nvSpPr>
        <p:spPr>
          <a:xfrm rot="5400000">
            <a:off x="3286125" y="2200275"/>
            <a:ext cx="66675" cy="57150"/>
          </a:xfrm>
          <a:prstGeom prst="triangle">
            <a:avLst/>
          </a:prstGeom>
          <a:solidFill>
            <a:srgbClr val="081B41"/>
          </a:solidFill>
          <a:ln w="0">
            <a:noFill/>
          </a:ln>
        </p:spPr>
      </p:sp>
      <p:sp>
        <p:nvSpPr>
          <p:cNvPr id="19" name="Element 19">
            <a:extLst>
              <a:ext uri="{FF2B5EF4-FFF2-40B4-BE49-F238E27FC236}">
                <a16:creationId xmlns:a16="http://schemas.microsoft.com/office/drawing/2014/main" id="{88FE97C1-2C38-E0EA-CE89-F80F59941889}"/>
              </a:ext>
            </a:extLst>
          </p:cNvPr>
          <p:cNvSpPr/>
          <p:nvPr/>
        </p:nvSpPr>
        <p:spPr>
          <a:xfrm>
            <a:off x="609600" y="1485900"/>
            <a:ext cx="57150" cy="66675"/>
          </a:xfrm>
          <a:prstGeom prst="triangle">
            <a:avLst/>
          </a:prstGeom>
          <a:solidFill>
            <a:srgbClr val="081B41"/>
          </a:solidFill>
          <a:ln w="0">
            <a:noFill/>
          </a:ln>
        </p:spPr>
      </p:sp>
      <p:sp>
        <p:nvSpPr>
          <p:cNvPr id="20" name="Element 20">
            <a:extLst>
              <a:ext uri="{FF2B5EF4-FFF2-40B4-BE49-F238E27FC236}">
                <a16:creationId xmlns:a16="http://schemas.microsoft.com/office/drawing/2014/main" id="{C637EAD2-D444-4A90-2EA2-878E6EFAED4D}"/>
              </a:ext>
            </a:extLst>
          </p:cNvPr>
          <p:cNvSpPr txBox="1"/>
          <p:nvPr/>
        </p:nvSpPr>
        <p:spPr>
          <a:xfrm>
            <a:off x="1697355" y="2238375"/>
            <a:ext cx="661988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time</a:t>
            </a:r>
          </a:p>
        </p:txBody>
      </p:sp>
      <p:sp>
        <p:nvSpPr>
          <p:cNvPr id="21" name="Element 21">
            <a:extLst>
              <a:ext uri="{FF2B5EF4-FFF2-40B4-BE49-F238E27FC236}">
                <a16:creationId xmlns:a16="http://schemas.microsoft.com/office/drawing/2014/main" id="{99313910-5AF3-276B-3A68-305474A6CB15}"/>
              </a:ext>
            </a:extLst>
          </p:cNvPr>
          <p:cNvSpPr txBox="1"/>
          <p:nvPr/>
        </p:nvSpPr>
        <p:spPr>
          <a:xfrm rot="16200000">
            <a:off x="190500" y="164973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value</a:t>
            </a:r>
          </a:p>
        </p:txBody>
      </p:sp>
      <p:sp>
        <p:nvSpPr>
          <p:cNvPr id="22" name="Editable Curve 22">
            <a:extLst>
              <a:ext uri="{FF2B5EF4-FFF2-40B4-BE49-F238E27FC236}">
                <a16:creationId xmlns:a16="http://schemas.microsoft.com/office/drawing/2014/main" id="{151DDACE-844A-A1B3-D4F1-A8064E2F693A}"/>
              </a:ext>
            </a:extLst>
          </p:cNvPr>
          <p:cNvSpPr/>
          <p:nvPr/>
        </p:nvSpPr>
        <p:spPr>
          <a:xfrm>
            <a:off x="676138" y="1890713"/>
            <a:ext cx="18982" cy="4763"/>
          </a:xfrm>
          <a:custGeom>
            <a:avLst/>
            <a:gdLst/>
            <a:ahLst/>
            <a:cxnLst/>
            <a:rect l="0" t="0" r="0" b="0"/>
            <a:pathLst>
              <a:path w="18982" h="4763">
                <a:moveTo>
                  <a:pt x="0" y="4763"/>
                </a:moveTo>
                <a:lnTo>
                  <a:pt x="9491" y="0"/>
                </a:lnTo>
                <a:lnTo>
                  <a:pt x="18982" y="0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23" name="Editable Curve 23">
            <a:extLst>
              <a:ext uri="{FF2B5EF4-FFF2-40B4-BE49-F238E27FC236}">
                <a16:creationId xmlns:a16="http://schemas.microsoft.com/office/drawing/2014/main" id="{8BAA4297-7334-D36A-FA02-AA03EB245D4D}"/>
              </a:ext>
            </a:extLst>
          </p:cNvPr>
          <p:cNvSpPr/>
          <p:nvPr/>
        </p:nvSpPr>
        <p:spPr>
          <a:xfrm>
            <a:off x="714102" y="1809750"/>
            <a:ext cx="294217" cy="76200"/>
          </a:xfrm>
          <a:custGeom>
            <a:avLst/>
            <a:gdLst/>
            <a:ahLst/>
            <a:cxnLst/>
            <a:rect l="0" t="0" r="0" b="0"/>
            <a:pathLst>
              <a:path w="294217" h="76200">
                <a:moveTo>
                  <a:pt x="0" y="76200"/>
                </a:moveTo>
                <a:lnTo>
                  <a:pt x="9491" y="76200"/>
                </a:lnTo>
                <a:lnTo>
                  <a:pt x="18982" y="71438"/>
                </a:lnTo>
                <a:lnTo>
                  <a:pt x="28473" y="66675"/>
                </a:lnTo>
                <a:lnTo>
                  <a:pt x="37963" y="57150"/>
                </a:lnTo>
                <a:lnTo>
                  <a:pt x="47454" y="47625"/>
                </a:lnTo>
                <a:lnTo>
                  <a:pt x="56945" y="38100"/>
                </a:lnTo>
                <a:lnTo>
                  <a:pt x="66436" y="28575"/>
                </a:lnTo>
                <a:lnTo>
                  <a:pt x="75927" y="19050"/>
                </a:lnTo>
                <a:lnTo>
                  <a:pt x="85418" y="19050"/>
                </a:lnTo>
                <a:lnTo>
                  <a:pt x="94909" y="19050"/>
                </a:lnTo>
                <a:lnTo>
                  <a:pt x="104399" y="19050"/>
                </a:lnTo>
                <a:lnTo>
                  <a:pt x="113890" y="23813"/>
                </a:lnTo>
                <a:lnTo>
                  <a:pt x="123381" y="33338"/>
                </a:lnTo>
                <a:lnTo>
                  <a:pt x="132872" y="33338"/>
                </a:lnTo>
                <a:lnTo>
                  <a:pt x="142363" y="33338"/>
                </a:lnTo>
                <a:lnTo>
                  <a:pt x="151854" y="47625"/>
                </a:lnTo>
                <a:lnTo>
                  <a:pt x="161345" y="42863"/>
                </a:lnTo>
                <a:lnTo>
                  <a:pt x="170835" y="52388"/>
                </a:lnTo>
                <a:lnTo>
                  <a:pt x="180326" y="57150"/>
                </a:lnTo>
                <a:lnTo>
                  <a:pt x="189817" y="61913"/>
                </a:lnTo>
                <a:lnTo>
                  <a:pt x="199308" y="71438"/>
                </a:lnTo>
                <a:lnTo>
                  <a:pt x="208799" y="76200"/>
                </a:lnTo>
                <a:lnTo>
                  <a:pt x="218290" y="66675"/>
                </a:lnTo>
                <a:lnTo>
                  <a:pt x="227781" y="57150"/>
                </a:lnTo>
                <a:lnTo>
                  <a:pt x="237272" y="47625"/>
                </a:lnTo>
                <a:lnTo>
                  <a:pt x="246762" y="38100"/>
                </a:lnTo>
                <a:lnTo>
                  <a:pt x="256253" y="28575"/>
                </a:lnTo>
                <a:lnTo>
                  <a:pt x="265744" y="19050"/>
                </a:lnTo>
                <a:lnTo>
                  <a:pt x="275235" y="14288"/>
                </a:lnTo>
                <a:lnTo>
                  <a:pt x="284726" y="0"/>
                </a:lnTo>
                <a:lnTo>
                  <a:pt x="294217" y="0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24" name="Editable Curve 24">
            <a:extLst>
              <a:ext uri="{FF2B5EF4-FFF2-40B4-BE49-F238E27FC236}">
                <a16:creationId xmlns:a16="http://schemas.microsoft.com/office/drawing/2014/main" id="{D4D847DE-24C6-6913-1FE9-B5057D009733}"/>
              </a:ext>
            </a:extLst>
          </p:cNvPr>
          <p:cNvSpPr/>
          <p:nvPr/>
        </p:nvSpPr>
        <p:spPr>
          <a:xfrm>
            <a:off x="1027300" y="1781175"/>
            <a:ext cx="692833" cy="104775"/>
          </a:xfrm>
          <a:custGeom>
            <a:avLst/>
            <a:gdLst/>
            <a:ahLst/>
            <a:cxnLst/>
            <a:rect l="0" t="0" r="0" b="0"/>
            <a:pathLst>
              <a:path w="692833" h="104775">
                <a:moveTo>
                  <a:pt x="0" y="14288"/>
                </a:moveTo>
                <a:lnTo>
                  <a:pt x="9491" y="19050"/>
                </a:lnTo>
                <a:lnTo>
                  <a:pt x="18982" y="4763"/>
                </a:lnTo>
                <a:lnTo>
                  <a:pt x="28473" y="9525"/>
                </a:lnTo>
                <a:lnTo>
                  <a:pt x="37963" y="9525"/>
                </a:lnTo>
                <a:lnTo>
                  <a:pt x="47454" y="0"/>
                </a:lnTo>
                <a:lnTo>
                  <a:pt x="56945" y="14288"/>
                </a:lnTo>
                <a:lnTo>
                  <a:pt x="66436" y="23813"/>
                </a:lnTo>
                <a:lnTo>
                  <a:pt x="75927" y="33338"/>
                </a:lnTo>
                <a:lnTo>
                  <a:pt x="85418" y="33338"/>
                </a:lnTo>
                <a:lnTo>
                  <a:pt x="94909" y="42863"/>
                </a:lnTo>
                <a:lnTo>
                  <a:pt x="104399" y="47625"/>
                </a:lnTo>
                <a:lnTo>
                  <a:pt x="113890" y="57150"/>
                </a:lnTo>
                <a:lnTo>
                  <a:pt x="123381" y="66675"/>
                </a:lnTo>
                <a:lnTo>
                  <a:pt x="132872" y="71438"/>
                </a:lnTo>
                <a:lnTo>
                  <a:pt x="142363" y="71438"/>
                </a:lnTo>
                <a:lnTo>
                  <a:pt x="151854" y="71438"/>
                </a:lnTo>
                <a:lnTo>
                  <a:pt x="161345" y="76200"/>
                </a:lnTo>
                <a:lnTo>
                  <a:pt x="170835" y="71438"/>
                </a:lnTo>
                <a:lnTo>
                  <a:pt x="180326" y="80963"/>
                </a:lnTo>
                <a:lnTo>
                  <a:pt x="189817" y="85725"/>
                </a:lnTo>
                <a:lnTo>
                  <a:pt x="199308" y="90488"/>
                </a:lnTo>
                <a:lnTo>
                  <a:pt x="208799" y="90488"/>
                </a:lnTo>
                <a:lnTo>
                  <a:pt x="218290" y="104775"/>
                </a:lnTo>
                <a:lnTo>
                  <a:pt x="227781" y="95250"/>
                </a:lnTo>
                <a:lnTo>
                  <a:pt x="237272" y="90488"/>
                </a:lnTo>
                <a:lnTo>
                  <a:pt x="246762" y="80963"/>
                </a:lnTo>
                <a:lnTo>
                  <a:pt x="256253" y="80963"/>
                </a:lnTo>
                <a:lnTo>
                  <a:pt x="265744" y="85725"/>
                </a:lnTo>
                <a:lnTo>
                  <a:pt x="275235" y="85725"/>
                </a:lnTo>
                <a:lnTo>
                  <a:pt x="284726" y="71438"/>
                </a:lnTo>
                <a:lnTo>
                  <a:pt x="294217" y="66675"/>
                </a:lnTo>
                <a:lnTo>
                  <a:pt x="303708" y="57150"/>
                </a:lnTo>
                <a:lnTo>
                  <a:pt x="313198" y="47625"/>
                </a:lnTo>
                <a:lnTo>
                  <a:pt x="322689" y="38100"/>
                </a:lnTo>
                <a:lnTo>
                  <a:pt x="332180" y="42863"/>
                </a:lnTo>
                <a:lnTo>
                  <a:pt x="341671" y="28575"/>
                </a:lnTo>
                <a:lnTo>
                  <a:pt x="351162" y="19050"/>
                </a:lnTo>
                <a:lnTo>
                  <a:pt x="360653" y="19050"/>
                </a:lnTo>
                <a:lnTo>
                  <a:pt x="370144" y="23813"/>
                </a:lnTo>
                <a:lnTo>
                  <a:pt x="379634" y="38100"/>
                </a:lnTo>
                <a:lnTo>
                  <a:pt x="389125" y="33338"/>
                </a:lnTo>
                <a:lnTo>
                  <a:pt x="398616" y="42863"/>
                </a:lnTo>
                <a:lnTo>
                  <a:pt x="408107" y="47625"/>
                </a:lnTo>
                <a:lnTo>
                  <a:pt x="417598" y="47625"/>
                </a:lnTo>
                <a:lnTo>
                  <a:pt x="427089" y="47625"/>
                </a:lnTo>
                <a:lnTo>
                  <a:pt x="436580" y="42863"/>
                </a:lnTo>
                <a:lnTo>
                  <a:pt x="446070" y="52388"/>
                </a:lnTo>
                <a:lnTo>
                  <a:pt x="455561" y="61913"/>
                </a:lnTo>
                <a:lnTo>
                  <a:pt x="465052" y="61913"/>
                </a:lnTo>
                <a:lnTo>
                  <a:pt x="474543" y="57150"/>
                </a:lnTo>
                <a:lnTo>
                  <a:pt x="484034" y="52388"/>
                </a:lnTo>
                <a:lnTo>
                  <a:pt x="493525" y="42863"/>
                </a:lnTo>
                <a:lnTo>
                  <a:pt x="503016" y="42863"/>
                </a:lnTo>
                <a:lnTo>
                  <a:pt x="512506" y="33338"/>
                </a:lnTo>
                <a:lnTo>
                  <a:pt x="521997" y="28575"/>
                </a:lnTo>
                <a:lnTo>
                  <a:pt x="531488" y="23813"/>
                </a:lnTo>
                <a:lnTo>
                  <a:pt x="540979" y="14288"/>
                </a:lnTo>
                <a:lnTo>
                  <a:pt x="550470" y="19050"/>
                </a:lnTo>
                <a:lnTo>
                  <a:pt x="559961" y="28575"/>
                </a:lnTo>
                <a:lnTo>
                  <a:pt x="569452" y="38100"/>
                </a:lnTo>
                <a:lnTo>
                  <a:pt x="578942" y="47625"/>
                </a:lnTo>
                <a:lnTo>
                  <a:pt x="588433" y="57150"/>
                </a:lnTo>
                <a:lnTo>
                  <a:pt x="597924" y="66675"/>
                </a:lnTo>
                <a:lnTo>
                  <a:pt x="607415" y="71438"/>
                </a:lnTo>
                <a:lnTo>
                  <a:pt x="616906" y="80963"/>
                </a:lnTo>
                <a:lnTo>
                  <a:pt x="626397" y="80963"/>
                </a:lnTo>
                <a:lnTo>
                  <a:pt x="635888" y="90488"/>
                </a:lnTo>
                <a:lnTo>
                  <a:pt x="645378" y="100013"/>
                </a:lnTo>
                <a:lnTo>
                  <a:pt x="654869" y="100013"/>
                </a:lnTo>
                <a:lnTo>
                  <a:pt x="664360" y="100013"/>
                </a:lnTo>
                <a:lnTo>
                  <a:pt x="673851" y="90488"/>
                </a:lnTo>
                <a:lnTo>
                  <a:pt x="683342" y="90488"/>
                </a:lnTo>
                <a:lnTo>
                  <a:pt x="692833" y="85725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25" name="Editable Curve 25">
            <a:extLst>
              <a:ext uri="{FF2B5EF4-FFF2-40B4-BE49-F238E27FC236}">
                <a16:creationId xmlns:a16="http://schemas.microsoft.com/office/drawing/2014/main" id="{AE724F1D-D111-0C70-CFF7-05063ACCAAA6}"/>
              </a:ext>
            </a:extLst>
          </p:cNvPr>
          <p:cNvSpPr/>
          <p:nvPr/>
        </p:nvSpPr>
        <p:spPr>
          <a:xfrm>
            <a:off x="2166203" y="1752600"/>
            <a:ext cx="1081958" cy="123825"/>
          </a:xfrm>
          <a:custGeom>
            <a:avLst/>
            <a:gdLst/>
            <a:ahLst/>
            <a:cxnLst/>
            <a:rect l="0" t="0" r="0" b="0"/>
            <a:pathLst>
              <a:path w="1081958" h="123825">
                <a:moveTo>
                  <a:pt x="0" y="114300"/>
                </a:moveTo>
                <a:lnTo>
                  <a:pt x="9491" y="109538"/>
                </a:lnTo>
                <a:lnTo>
                  <a:pt x="18982" y="109538"/>
                </a:lnTo>
                <a:lnTo>
                  <a:pt x="28473" y="100013"/>
                </a:lnTo>
                <a:lnTo>
                  <a:pt x="37963" y="95250"/>
                </a:lnTo>
                <a:lnTo>
                  <a:pt x="47454" y="85725"/>
                </a:lnTo>
                <a:lnTo>
                  <a:pt x="56945" y="76200"/>
                </a:lnTo>
                <a:lnTo>
                  <a:pt x="66436" y="66675"/>
                </a:lnTo>
                <a:lnTo>
                  <a:pt x="75927" y="57150"/>
                </a:lnTo>
                <a:lnTo>
                  <a:pt x="85418" y="47625"/>
                </a:lnTo>
                <a:lnTo>
                  <a:pt x="94909" y="42863"/>
                </a:lnTo>
                <a:lnTo>
                  <a:pt x="104399" y="42863"/>
                </a:lnTo>
                <a:lnTo>
                  <a:pt x="113890" y="47625"/>
                </a:lnTo>
                <a:lnTo>
                  <a:pt x="123381" y="57150"/>
                </a:lnTo>
                <a:lnTo>
                  <a:pt x="132872" y="66675"/>
                </a:lnTo>
                <a:lnTo>
                  <a:pt x="142363" y="76200"/>
                </a:lnTo>
                <a:lnTo>
                  <a:pt x="151854" y="85725"/>
                </a:lnTo>
                <a:lnTo>
                  <a:pt x="161345" y="95250"/>
                </a:lnTo>
                <a:lnTo>
                  <a:pt x="170835" y="104775"/>
                </a:lnTo>
                <a:lnTo>
                  <a:pt x="180326" y="100013"/>
                </a:lnTo>
                <a:lnTo>
                  <a:pt x="189817" y="95250"/>
                </a:lnTo>
                <a:lnTo>
                  <a:pt x="199308" y="85725"/>
                </a:lnTo>
                <a:lnTo>
                  <a:pt x="208799" y="85725"/>
                </a:lnTo>
                <a:lnTo>
                  <a:pt x="218290" y="71438"/>
                </a:lnTo>
                <a:lnTo>
                  <a:pt x="227781" y="76200"/>
                </a:lnTo>
                <a:lnTo>
                  <a:pt x="237272" y="76200"/>
                </a:lnTo>
                <a:lnTo>
                  <a:pt x="246762" y="71438"/>
                </a:lnTo>
                <a:lnTo>
                  <a:pt x="256253" y="80963"/>
                </a:lnTo>
                <a:lnTo>
                  <a:pt x="265744" y="85725"/>
                </a:lnTo>
                <a:lnTo>
                  <a:pt x="275235" y="90488"/>
                </a:lnTo>
                <a:lnTo>
                  <a:pt x="284726" y="100013"/>
                </a:lnTo>
                <a:lnTo>
                  <a:pt x="294217" y="104775"/>
                </a:lnTo>
                <a:lnTo>
                  <a:pt x="303708" y="109538"/>
                </a:lnTo>
                <a:lnTo>
                  <a:pt x="313198" y="104775"/>
                </a:lnTo>
                <a:lnTo>
                  <a:pt x="322689" y="95250"/>
                </a:lnTo>
                <a:lnTo>
                  <a:pt x="332180" y="85725"/>
                </a:lnTo>
                <a:lnTo>
                  <a:pt x="341671" y="76200"/>
                </a:lnTo>
                <a:lnTo>
                  <a:pt x="351162" y="66675"/>
                </a:lnTo>
                <a:lnTo>
                  <a:pt x="360653" y="52388"/>
                </a:lnTo>
                <a:lnTo>
                  <a:pt x="370144" y="52388"/>
                </a:lnTo>
                <a:lnTo>
                  <a:pt x="379634" y="57150"/>
                </a:lnTo>
                <a:lnTo>
                  <a:pt x="389125" y="61913"/>
                </a:lnTo>
                <a:lnTo>
                  <a:pt x="398616" y="52388"/>
                </a:lnTo>
                <a:lnTo>
                  <a:pt x="408107" y="47625"/>
                </a:lnTo>
                <a:lnTo>
                  <a:pt x="417598" y="42863"/>
                </a:lnTo>
                <a:lnTo>
                  <a:pt x="427089" y="42863"/>
                </a:lnTo>
                <a:lnTo>
                  <a:pt x="436580" y="42863"/>
                </a:lnTo>
                <a:lnTo>
                  <a:pt x="446070" y="33338"/>
                </a:lnTo>
                <a:lnTo>
                  <a:pt x="455561" y="28575"/>
                </a:lnTo>
                <a:lnTo>
                  <a:pt x="465052" y="19050"/>
                </a:lnTo>
                <a:lnTo>
                  <a:pt x="474543" y="19050"/>
                </a:lnTo>
                <a:lnTo>
                  <a:pt x="484034" y="4763"/>
                </a:lnTo>
                <a:lnTo>
                  <a:pt x="493525" y="9525"/>
                </a:lnTo>
                <a:lnTo>
                  <a:pt x="503016" y="14288"/>
                </a:lnTo>
                <a:lnTo>
                  <a:pt x="512506" y="23813"/>
                </a:lnTo>
                <a:lnTo>
                  <a:pt x="521997" y="33338"/>
                </a:lnTo>
                <a:lnTo>
                  <a:pt x="531488" y="38100"/>
                </a:lnTo>
                <a:lnTo>
                  <a:pt x="540979" y="47625"/>
                </a:lnTo>
                <a:lnTo>
                  <a:pt x="550470" y="57150"/>
                </a:lnTo>
                <a:lnTo>
                  <a:pt x="559961" y="52388"/>
                </a:lnTo>
                <a:lnTo>
                  <a:pt x="569452" y="47625"/>
                </a:lnTo>
                <a:lnTo>
                  <a:pt x="578942" y="57150"/>
                </a:lnTo>
                <a:lnTo>
                  <a:pt x="588433" y="57150"/>
                </a:lnTo>
                <a:lnTo>
                  <a:pt x="597924" y="71438"/>
                </a:lnTo>
                <a:lnTo>
                  <a:pt x="607415" y="71438"/>
                </a:lnTo>
                <a:lnTo>
                  <a:pt x="616906" y="71438"/>
                </a:lnTo>
                <a:lnTo>
                  <a:pt x="626397" y="76200"/>
                </a:lnTo>
                <a:lnTo>
                  <a:pt x="635888" y="76200"/>
                </a:lnTo>
                <a:lnTo>
                  <a:pt x="645378" y="85725"/>
                </a:lnTo>
                <a:lnTo>
                  <a:pt x="654869" y="90488"/>
                </a:lnTo>
                <a:lnTo>
                  <a:pt x="664360" y="95250"/>
                </a:lnTo>
                <a:lnTo>
                  <a:pt x="673851" y="90488"/>
                </a:lnTo>
                <a:lnTo>
                  <a:pt x="683342" y="80963"/>
                </a:lnTo>
                <a:lnTo>
                  <a:pt x="692833" y="71438"/>
                </a:lnTo>
                <a:lnTo>
                  <a:pt x="702324" y="66675"/>
                </a:lnTo>
                <a:lnTo>
                  <a:pt x="711815" y="57150"/>
                </a:lnTo>
                <a:lnTo>
                  <a:pt x="721305" y="47625"/>
                </a:lnTo>
                <a:lnTo>
                  <a:pt x="730796" y="42863"/>
                </a:lnTo>
                <a:lnTo>
                  <a:pt x="740287" y="42863"/>
                </a:lnTo>
                <a:lnTo>
                  <a:pt x="749778" y="42863"/>
                </a:lnTo>
                <a:lnTo>
                  <a:pt x="759269" y="42863"/>
                </a:lnTo>
                <a:lnTo>
                  <a:pt x="768760" y="47625"/>
                </a:lnTo>
                <a:lnTo>
                  <a:pt x="778251" y="38100"/>
                </a:lnTo>
                <a:lnTo>
                  <a:pt x="787741" y="28575"/>
                </a:lnTo>
                <a:lnTo>
                  <a:pt x="797232" y="19050"/>
                </a:lnTo>
                <a:lnTo>
                  <a:pt x="806723" y="14288"/>
                </a:lnTo>
                <a:lnTo>
                  <a:pt x="816214" y="19050"/>
                </a:lnTo>
                <a:lnTo>
                  <a:pt x="825705" y="14288"/>
                </a:lnTo>
                <a:lnTo>
                  <a:pt x="835196" y="14288"/>
                </a:lnTo>
                <a:lnTo>
                  <a:pt x="844687" y="0"/>
                </a:lnTo>
                <a:lnTo>
                  <a:pt x="854177" y="4763"/>
                </a:lnTo>
                <a:lnTo>
                  <a:pt x="863668" y="4763"/>
                </a:lnTo>
                <a:lnTo>
                  <a:pt x="873159" y="14288"/>
                </a:lnTo>
                <a:lnTo>
                  <a:pt x="882650" y="19050"/>
                </a:lnTo>
                <a:lnTo>
                  <a:pt x="892141" y="28575"/>
                </a:lnTo>
                <a:lnTo>
                  <a:pt x="901632" y="38100"/>
                </a:lnTo>
                <a:lnTo>
                  <a:pt x="911123" y="47625"/>
                </a:lnTo>
                <a:lnTo>
                  <a:pt x="920613" y="57150"/>
                </a:lnTo>
                <a:lnTo>
                  <a:pt x="930104" y="71438"/>
                </a:lnTo>
                <a:lnTo>
                  <a:pt x="939595" y="80963"/>
                </a:lnTo>
                <a:lnTo>
                  <a:pt x="949086" y="90488"/>
                </a:lnTo>
                <a:lnTo>
                  <a:pt x="958577" y="90488"/>
                </a:lnTo>
                <a:lnTo>
                  <a:pt x="968068" y="95250"/>
                </a:lnTo>
                <a:lnTo>
                  <a:pt x="977559" y="90488"/>
                </a:lnTo>
                <a:lnTo>
                  <a:pt x="987049" y="95250"/>
                </a:lnTo>
                <a:lnTo>
                  <a:pt x="996540" y="80963"/>
                </a:lnTo>
                <a:lnTo>
                  <a:pt x="1006031" y="80963"/>
                </a:lnTo>
                <a:lnTo>
                  <a:pt x="1015522" y="71438"/>
                </a:lnTo>
                <a:lnTo>
                  <a:pt x="1025013" y="76200"/>
                </a:lnTo>
                <a:lnTo>
                  <a:pt x="1034504" y="85725"/>
                </a:lnTo>
                <a:lnTo>
                  <a:pt x="1043995" y="95250"/>
                </a:lnTo>
                <a:lnTo>
                  <a:pt x="1053485" y="100013"/>
                </a:lnTo>
                <a:lnTo>
                  <a:pt x="1062976" y="109538"/>
                </a:lnTo>
                <a:lnTo>
                  <a:pt x="1072467" y="114300"/>
                </a:lnTo>
                <a:lnTo>
                  <a:pt x="1081958" y="123825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26" name="Element 26">
            <a:extLst>
              <a:ext uri="{FF2B5EF4-FFF2-40B4-BE49-F238E27FC236}">
                <a16:creationId xmlns:a16="http://schemas.microsoft.com/office/drawing/2014/main" id="{CFAFA907-C0D2-4101-2502-05F9A93B491B}"/>
              </a:ext>
            </a:extLst>
          </p:cNvPr>
          <p:cNvSpPr/>
          <p:nvPr/>
        </p:nvSpPr>
        <p:spPr>
          <a:xfrm>
            <a:off x="1768760" y="1642491"/>
            <a:ext cx="357027" cy="398145"/>
          </a:xfrm>
          <a:prstGeom prst="rect">
            <a:avLst/>
          </a:prstGeom>
          <a:solidFill>
            <a:srgbClr val="FFFFFF"/>
          </a:solidFill>
          <a:ln w="11430">
            <a:solidFill>
              <a:srgbClr val="173D65"/>
            </a:solidFill>
            <a:prstDash val="dash"/>
          </a:ln>
        </p:spPr>
      </p:sp>
      <p:sp>
        <p:nvSpPr>
          <p:cNvPr id="27" name="Element 27">
            <a:extLst>
              <a:ext uri="{FF2B5EF4-FFF2-40B4-BE49-F238E27FC236}">
                <a16:creationId xmlns:a16="http://schemas.microsoft.com/office/drawing/2014/main" id="{127D1856-FE1A-E244-A0A5-33B1D4BC2A3E}"/>
              </a:ext>
            </a:extLst>
          </p:cNvPr>
          <p:cNvSpPr/>
          <p:nvPr/>
        </p:nvSpPr>
        <p:spPr>
          <a:xfrm>
            <a:off x="3600450" y="1447800"/>
            <a:ext cx="1428750" cy="847725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Element 28">
            <a:extLst>
              <a:ext uri="{FF2B5EF4-FFF2-40B4-BE49-F238E27FC236}">
                <a16:creationId xmlns:a16="http://schemas.microsoft.com/office/drawing/2014/main" id="{3608690E-EC9A-ED13-DD3D-2F329F317027}"/>
              </a:ext>
            </a:extLst>
          </p:cNvPr>
          <p:cNvSpPr txBox="1"/>
          <p:nvPr/>
        </p:nvSpPr>
        <p:spPr>
          <a:xfrm>
            <a:off x="3629025" y="1485900"/>
            <a:ext cx="1371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Best Action</a:t>
            </a:r>
          </a:p>
        </p:txBody>
      </p:sp>
      <p:sp>
        <p:nvSpPr>
          <p:cNvPr id="29" name="Element 29">
            <a:extLst>
              <a:ext uri="{FF2B5EF4-FFF2-40B4-BE49-F238E27FC236}">
                <a16:creationId xmlns:a16="http://schemas.microsoft.com/office/drawing/2014/main" id="{F51CE38E-D260-F19E-2256-A729FE7C7621}"/>
              </a:ext>
            </a:extLst>
          </p:cNvPr>
          <p:cNvSpPr/>
          <p:nvPr/>
        </p:nvSpPr>
        <p:spPr>
          <a:xfrm>
            <a:off x="3695700" y="1809750"/>
            <a:ext cx="1238250" cy="36195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Element 30">
            <a:extLst>
              <a:ext uri="{FF2B5EF4-FFF2-40B4-BE49-F238E27FC236}">
                <a16:creationId xmlns:a16="http://schemas.microsoft.com/office/drawing/2014/main" id="{B1D19B21-0505-167F-699B-421D4775D7E1}"/>
              </a:ext>
            </a:extLst>
          </p:cNvPr>
          <p:cNvSpPr txBox="1"/>
          <p:nvPr/>
        </p:nvSpPr>
        <p:spPr>
          <a:xfrm>
            <a:off x="3714750" y="1838325"/>
            <a:ext cx="12001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KEEP</a:t>
            </a:r>
          </a:p>
        </p:txBody>
      </p:sp>
      <p:sp>
        <p:nvSpPr>
          <p:cNvPr id="31" name="Element 31">
            <a:extLst>
              <a:ext uri="{FF2B5EF4-FFF2-40B4-BE49-F238E27FC236}">
                <a16:creationId xmlns:a16="http://schemas.microsoft.com/office/drawing/2014/main" id="{BB03BD3C-561C-155E-6C4A-03EC7F16FB3E}"/>
              </a:ext>
            </a:extLst>
          </p:cNvPr>
          <p:cNvSpPr/>
          <p:nvPr/>
        </p:nvSpPr>
        <p:spPr>
          <a:xfrm>
            <a:off x="238125" y="2695575"/>
            <a:ext cx="4876800" cy="150495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Element 32">
            <a:extLst>
              <a:ext uri="{FF2B5EF4-FFF2-40B4-BE49-F238E27FC236}">
                <a16:creationId xmlns:a16="http://schemas.microsoft.com/office/drawing/2014/main" id="{4D432671-475D-CBD7-59B7-18CAD69354BC}"/>
              </a:ext>
            </a:extLst>
          </p:cNvPr>
          <p:cNvSpPr txBox="1"/>
          <p:nvPr/>
        </p:nvSpPr>
        <p:spPr>
          <a:xfrm>
            <a:off x="400050" y="2743200"/>
            <a:ext cx="1257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Request B</a:t>
            </a:r>
          </a:p>
        </p:txBody>
      </p:sp>
      <p:sp>
        <p:nvSpPr>
          <p:cNvPr id="33" name="Element 33">
            <a:extLst>
              <a:ext uri="{FF2B5EF4-FFF2-40B4-BE49-F238E27FC236}">
                <a16:creationId xmlns:a16="http://schemas.microsoft.com/office/drawing/2014/main" id="{A2D9F291-36FB-2598-373C-CD8B6F1BBE29}"/>
              </a:ext>
            </a:extLst>
          </p:cNvPr>
          <p:cNvSpPr txBox="1"/>
          <p:nvPr/>
        </p:nvSpPr>
        <p:spPr>
          <a:xfrm>
            <a:off x="1762125" y="278130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Repeating Pattern</a:t>
            </a:r>
          </a:p>
        </p:txBody>
      </p:sp>
      <p:sp>
        <p:nvSpPr>
          <p:cNvPr id="34" name="Editable Curve 34">
            <a:extLst>
              <a:ext uri="{FF2B5EF4-FFF2-40B4-BE49-F238E27FC236}">
                <a16:creationId xmlns:a16="http://schemas.microsoft.com/office/drawing/2014/main" id="{77C92C53-993F-BB89-C7F9-2D1D8104D421}"/>
              </a:ext>
            </a:extLst>
          </p:cNvPr>
          <p:cNvSpPr/>
          <p:nvPr/>
        </p:nvSpPr>
        <p:spPr>
          <a:xfrm>
            <a:off x="638175" y="3895725"/>
            <a:ext cx="2686050" cy="95"/>
          </a:xfrm>
          <a:custGeom>
            <a:avLst/>
            <a:gdLst/>
            <a:ahLst/>
            <a:cxnLst/>
            <a:rect l="0" t="0" r="0" b="0"/>
            <a:pathLst>
              <a:path w="2686050" h="95">
                <a:moveTo>
                  <a:pt x="0" y="0"/>
                </a:moveTo>
                <a:lnTo>
                  <a:pt x="2686050" y="0"/>
                </a:lnTo>
              </a:path>
            </a:pathLst>
          </a:custGeom>
          <a:noFill/>
          <a:ln w="12383">
            <a:solidFill>
              <a:srgbClr val="081B41"/>
            </a:solidFill>
          </a:ln>
        </p:spPr>
      </p:sp>
      <p:sp>
        <p:nvSpPr>
          <p:cNvPr id="35" name="Editable Curve 35">
            <a:extLst>
              <a:ext uri="{FF2B5EF4-FFF2-40B4-BE49-F238E27FC236}">
                <a16:creationId xmlns:a16="http://schemas.microsoft.com/office/drawing/2014/main" id="{BB66F588-EF37-6120-46E8-E6FDC4F670F0}"/>
              </a:ext>
            </a:extLst>
          </p:cNvPr>
          <p:cNvSpPr/>
          <p:nvPr/>
        </p:nvSpPr>
        <p:spPr>
          <a:xfrm>
            <a:off x="638175" y="3171825"/>
            <a:ext cx="95" cy="723900"/>
          </a:xfrm>
          <a:custGeom>
            <a:avLst/>
            <a:gdLst/>
            <a:ahLst/>
            <a:cxnLst/>
            <a:rect l="0" t="0" r="0" b="0"/>
            <a:pathLst>
              <a:path w="95" h="723900">
                <a:moveTo>
                  <a:pt x="0" y="72390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81B41"/>
            </a:solidFill>
          </a:ln>
        </p:spPr>
      </p:sp>
      <p:sp>
        <p:nvSpPr>
          <p:cNvPr id="36" name="Element 36">
            <a:extLst>
              <a:ext uri="{FF2B5EF4-FFF2-40B4-BE49-F238E27FC236}">
                <a16:creationId xmlns:a16="http://schemas.microsoft.com/office/drawing/2014/main" id="{52137D5A-E555-85E8-D6F2-304148FE5C01}"/>
              </a:ext>
            </a:extLst>
          </p:cNvPr>
          <p:cNvSpPr/>
          <p:nvPr/>
        </p:nvSpPr>
        <p:spPr>
          <a:xfrm rot="5400000">
            <a:off x="3286125" y="3867150"/>
            <a:ext cx="66675" cy="57150"/>
          </a:xfrm>
          <a:prstGeom prst="triangle">
            <a:avLst/>
          </a:prstGeom>
          <a:solidFill>
            <a:srgbClr val="081B41"/>
          </a:solidFill>
          <a:ln w="0">
            <a:noFill/>
          </a:ln>
        </p:spPr>
      </p:sp>
      <p:sp>
        <p:nvSpPr>
          <p:cNvPr id="37" name="Element 37">
            <a:extLst>
              <a:ext uri="{FF2B5EF4-FFF2-40B4-BE49-F238E27FC236}">
                <a16:creationId xmlns:a16="http://schemas.microsoft.com/office/drawing/2014/main" id="{B9290588-0CD3-8E03-0024-63A3D8DA6260}"/>
              </a:ext>
            </a:extLst>
          </p:cNvPr>
          <p:cNvSpPr/>
          <p:nvPr/>
        </p:nvSpPr>
        <p:spPr>
          <a:xfrm>
            <a:off x="609600" y="3152775"/>
            <a:ext cx="57150" cy="66675"/>
          </a:xfrm>
          <a:prstGeom prst="triangle">
            <a:avLst/>
          </a:prstGeom>
          <a:solidFill>
            <a:srgbClr val="081B41"/>
          </a:solidFill>
          <a:ln w="0">
            <a:noFill/>
          </a:ln>
        </p:spPr>
      </p:sp>
      <p:sp>
        <p:nvSpPr>
          <p:cNvPr id="38" name="Element 38">
            <a:extLst>
              <a:ext uri="{FF2B5EF4-FFF2-40B4-BE49-F238E27FC236}">
                <a16:creationId xmlns:a16="http://schemas.microsoft.com/office/drawing/2014/main" id="{6892F551-D9A5-E4E1-ED3E-A5C212371D4E}"/>
              </a:ext>
            </a:extLst>
          </p:cNvPr>
          <p:cNvSpPr txBox="1"/>
          <p:nvPr/>
        </p:nvSpPr>
        <p:spPr>
          <a:xfrm>
            <a:off x="1697355" y="3905250"/>
            <a:ext cx="661988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time</a:t>
            </a:r>
          </a:p>
        </p:txBody>
      </p:sp>
      <p:sp>
        <p:nvSpPr>
          <p:cNvPr id="39" name="Element 39">
            <a:extLst>
              <a:ext uri="{FF2B5EF4-FFF2-40B4-BE49-F238E27FC236}">
                <a16:creationId xmlns:a16="http://schemas.microsoft.com/office/drawing/2014/main" id="{63919C05-FB78-2B36-E3F3-5E0D13CB7EB8}"/>
              </a:ext>
            </a:extLst>
          </p:cNvPr>
          <p:cNvSpPr txBox="1"/>
          <p:nvPr/>
        </p:nvSpPr>
        <p:spPr>
          <a:xfrm rot="16200000">
            <a:off x="190500" y="331660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value</a:t>
            </a:r>
          </a:p>
        </p:txBody>
      </p:sp>
      <p:sp>
        <p:nvSpPr>
          <p:cNvPr id="40" name="Editable Curve 40">
            <a:extLst>
              <a:ext uri="{FF2B5EF4-FFF2-40B4-BE49-F238E27FC236}">
                <a16:creationId xmlns:a16="http://schemas.microsoft.com/office/drawing/2014/main" id="{4245FBDC-2A07-4818-DCAF-FC67B30CC214}"/>
              </a:ext>
            </a:extLst>
          </p:cNvPr>
          <p:cNvSpPr/>
          <p:nvPr/>
        </p:nvSpPr>
        <p:spPr>
          <a:xfrm>
            <a:off x="676275" y="3403473"/>
            <a:ext cx="1038225" cy="265430"/>
          </a:xfrm>
          <a:custGeom>
            <a:avLst/>
            <a:gdLst/>
            <a:ahLst/>
            <a:cxnLst/>
            <a:rect l="0" t="0" r="0" b="0"/>
            <a:pathLst>
              <a:path w="1038225" h="265430">
                <a:moveTo>
                  <a:pt x="0" y="90085"/>
                </a:moveTo>
                <a:lnTo>
                  <a:pt x="9525" y="70781"/>
                </a:lnTo>
                <a:lnTo>
                  <a:pt x="19050" y="53086"/>
                </a:lnTo>
                <a:lnTo>
                  <a:pt x="28575" y="43434"/>
                </a:lnTo>
                <a:lnTo>
                  <a:pt x="38100" y="28956"/>
                </a:lnTo>
                <a:lnTo>
                  <a:pt x="47625" y="19304"/>
                </a:lnTo>
                <a:lnTo>
                  <a:pt x="57150" y="14478"/>
                </a:lnTo>
                <a:lnTo>
                  <a:pt x="66675" y="19304"/>
                </a:lnTo>
                <a:lnTo>
                  <a:pt x="76200" y="28956"/>
                </a:lnTo>
                <a:lnTo>
                  <a:pt x="85725" y="43434"/>
                </a:lnTo>
                <a:lnTo>
                  <a:pt x="95250" y="57912"/>
                </a:lnTo>
                <a:lnTo>
                  <a:pt x="104775" y="72390"/>
                </a:lnTo>
                <a:lnTo>
                  <a:pt x="114300" y="99737"/>
                </a:lnTo>
                <a:lnTo>
                  <a:pt x="123825" y="109389"/>
                </a:lnTo>
                <a:lnTo>
                  <a:pt x="133350" y="130302"/>
                </a:lnTo>
                <a:lnTo>
                  <a:pt x="142875" y="149606"/>
                </a:lnTo>
                <a:lnTo>
                  <a:pt x="152400" y="168910"/>
                </a:lnTo>
                <a:lnTo>
                  <a:pt x="161925" y="193040"/>
                </a:lnTo>
                <a:lnTo>
                  <a:pt x="171450" y="207518"/>
                </a:lnTo>
                <a:lnTo>
                  <a:pt x="180975" y="228431"/>
                </a:lnTo>
                <a:lnTo>
                  <a:pt x="190500" y="241300"/>
                </a:lnTo>
                <a:lnTo>
                  <a:pt x="200025" y="250952"/>
                </a:lnTo>
                <a:lnTo>
                  <a:pt x="209550" y="250952"/>
                </a:lnTo>
                <a:lnTo>
                  <a:pt x="219075" y="265430"/>
                </a:lnTo>
                <a:lnTo>
                  <a:pt x="228600" y="265430"/>
                </a:lnTo>
                <a:lnTo>
                  <a:pt x="238125" y="265430"/>
                </a:lnTo>
                <a:lnTo>
                  <a:pt x="247650" y="260604"/>
                </a:lnTo>
                <a:lnTo>
                  <a:pt x="257175" y="250952"/>
                </a:lnTo>
                <a:lnTo>
                  <a:pt x="266700" y="236474"/>
                </a:lnTo>
                <a:lnTo>
                  <a:pt x="276225" y="226822"/>
                </a:lnTo>
                <a:lnTo>
                  <a:pt x="285750" y="207518"/>
                </a:lnTo>
                <a:lnTo>
                  <a:pt x="295275" y="186605"/>
                </a:lnTo>
                <a:lnTo>
                  <a:pt x="304800" y="180171"/>
                </a:lnTo>
                <a:lnTo>
                  <a:pt x="314325" y="147997"/>
                </a:lnTo>
                <a:lnTo>
                  <a:pt x="323850" y="135128"/>
                </a:lnTo>
                <a:lnTo>
                  <a:pt x="333375" y="115824"/>
                </a:lnTo>
                <a:lnTo>
                  <a:pt x="342900" y="96520"/>
                </a:lnTo>
                <a:lnTo>
                  <a:pt x="352425" y="77216"/>
                </a:lnTo>
                <a:lnTo>
                  <a:pt x="361950" y="57912"/>
                </a:lnTo>
                <a:lnTo>
                  <a:pt x="371475" y="43434"/>
                </a:lnTo>
                <a:lnTo>
                  <a:pt x="381000" y="28956"/>
                </a:lnTo>
                <a:lnTo>
                  <a:pt x="390525" y="19304"/>
                </a:lnTo>
                <a:lnTo>
                  <a:pt x="400050" y="9652"/>
                </a:lnTo>
                <a:lnTo>
                  <a:pt x="409575" y="9652"/>
                </a:lnTo>
                <a:lnTo>
                  <a:pt x="419100" y="0"/>
                </a:lnTo>
                <a:lnTo>
                  <a:pt x="428625" y="9652"/>
                </a:lnTo>
                <a:lnTo>
                  <a:pt x="438150" y="9652"/>
                </a:lnTo>
                <a:lnTo>
                  <a:pt x="447675" y="28956"/>
                </a:lnTo>
                <a:lnTo>
                  <a:pt x="457200" y="43434"/>
                </a:lnTo>
                <a:lnTo>
                  <a:pt x="466725" y="62738"/>
                </a:lnTo>
                <a:lnTo>
                  <a:pt x="476250" y="82042"/>
                </a:lnTo>
                <a:lnTo>
                  <a:pt x="485775" y="99737"/>
                </a:lnTo>
                <a:lnTo>
                  <a:pt x="495300" y="120650"/>
                </a:lnTo>
                <a:lnTo>
                  <a:pt x="504825" y="135128"/>
                </a:lnTo>
                <a:lnTo>
                  <a:pt x="514350" y="154432"/>
                </a:lnTo>
                <a:lnTo>
                  <a:pt x="523875" y="173736"/>
                </a:lnTo>
                <a:lnTo>
                  <a:pt x="533400" y="193040"/>
                </a:lnTo>
                <a:lnTo>
                  <a:pt x="542925" y="212344"/>
                </a:lnTo>
                <a:lnTo>
                  <a:pt x="552450" y="231648"/>
                </a:lnTo>
                <a:lnTo>
                  <a:pt x="561975" y="241300"/>
                </a:lnTo>
                <a:lnTo>
                  <a:pt x="571500" y="246126"/>
                </a:lnTo>
                <a:lnTo>
                  <a:pt x="581025" y="260604"/>
                </a:lnTo>
                <a:lnTo>
                  <a:pt x="590550" y="260604"/>
                </a:lnTo>
                <a:lnTo>
                  <a:pt x="600075" y="260604"/>
                </a:lnTo>
                <a:lnTo>
                  <a:pt x="609600" y="265430"/>
                </a:lnTo>
                <a:lnTo>
                  <a:pt x="619125" y="255778"/>
                </a:lnTo>
                <a:lnTo>
                  <a:pt x="628650" y="250952"/>
                </a:lnTo>
                <a:lnTo>
                  <a:pt x="638175" y="236474"/>
                </a:lnTo>
                <a:lnTo>
                  <a:pt x="647700" y="221996"/>
                </a:lnTo>
                <a:lnTo>
                  <a:pt x="657225" y="202692"/>
                </a:lnTo>
                <a:lnTo>
                  <a:pt x="666750" y="188214"/>
                </a:lnTo>
                <a:lnTo>
                  <a:pt x="676275" y="168910"/>
                </a:lnTo>
                <a:lnTo>
                  <a:pt x="685800" y="149606"/>
                </a:lnTo>
                <a:lnTo>
                  <a:pt x="695325" y="130302"/>
                </a:lnTo>
                <a:lnTo>
                  <a:pt x="704850" y="110998"/>
                </a:lnTo>
                <a:lnTo>
                  <a:pt x="714375" y="91694"/>
                </a:lnTo>
                <a:lnTo>
                  <a:pt x="723900" y="72390"/>
                </a:lnTo>
                <a:lnTo>
                  <a:pt x="733425" y="54695"/>
                </a:lnTo>
                <a:lnTo>
                  <a:pt x="742950" y="43434"/>
                </a:lnTo>
                <a:lnTo>
                  <a:pt x="752475" y="28956"/>
                </a:lnTo>
                <a:lnTo>
                  <a:pt x="762000" y="19304"/>
                </a:lnTo>
                <a:lnTo>
                  <a:pt x="771525" y="9652"/>
                </a:lnTo>
                <a:lnTo>
                  <a:pt x="781050" y="4826"/>
                </a:lnTo>
                <a:lnTo>
                  <a:pt x="790575" y="4826"/>
                </a:lnTo>
                <a:lnTo>
                  <a:pt x="800100" y="4826"/>
                </a:lnTo>
                <a:lnTo>
                  <a:pt x="809625" y="9652"/>
                </a:lnTo>
                <a:lnTo>
                  <a:pt x="819150" y="19304"/>
                </a:lnTo>
                <a:lnTo>
                  <a:pt x="828675" y="33782"/>
                </a:lnTo>
                <a:lnTo>
                  <a:pt x="838200" y="53086"/>
                </a:lnTo>
                <a:lnTo>
                  <a:pt x="847725" y="72390"/>
                </a:lnTo>
                <a:lnTo>
                  <a:pt x="857250" y="91694"/>
                </a:lnTo>
                <a:lnTo>
                  <a:pt x="866775" y="110998"/>
                </a:lnTo>
                <a:lnTo>
                  <a:pt x="876300" y="130302"/>
                </a:lnTo>
                <a:lnTo>
                  <a:pt x="885825" y="151215"/>
                </a:lnTo>
                <a:lnTo>
                  <a:pt x="895350" y="171323"/>
                </a:lnTo>
                <a:lnTo>
                  <a:pt x="904875" y="193040"/>
                </a:lnTo>
                <a:lnTo>
                  <a:pt x="914400" y="212344"/>
                </a:lnTo>
                <a:lnTo>
                  <a:pt x="923925" y="226822"/>
                </a:lnTo>
                <a:lnTo>
                  <a:pt x="933450" y="244517"/>
                </a:lnTo>
                <a:lnTo>
                  <a:pt x="942975" y="246126"/>
                </a:lnTo>
                <a:lnTo>
                  <a:pt x="952500" y="260604"/>
                </a:lnTo>
                <a:lnTo>
                  <a:pt x="962025" y="260604"/>
                </a:lnTo>
                <a:lnTo>
                  <a:pt x="971550" y="265430"/>
                </a:lnTo>
                <a:lnTo>
                  <a:pt x="981075" y="260604"/>
                </a:lnTo>
                <a:lnTo>
                  <a:pt x="990600" y="250952"/>
                </a:lnTo>
                <a:lnTo>
                  <a:pt x="1000125" y="241300"/>
                </a:lnTo>
                <a:lnTo>
                  <a:pt x="1009650" y="226822"/>
                </a:lnTo>
                <a:lnTo>
                  <a:pt x="1019175" y="212344"/>
                </a:lnTo>
                <a:lnTo>
                  <a:pt x="1028700" y="193040"/>
                </a:lnTo>
                <a:lnTo>
                  <a:pt x="1038225" y="173736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41" name="Editable Curve 41">
            <a:extLst>
              <a:ext uri="{FF2B5EF4-FFF2-40B4-BE49-F238E27FC236}">
                <a16:creationId xmlns:a16="http://schemas.microsoft.com/office/drawing/2014/main" id="{72ACEC7C-C500-0519-C0AC-23F593DB441F}"/>
              </a:ext>
            </a:extLst>
          </p:cNvPr>
          <p:cNvSpPr/>
          <p:nvPr/>
        </p:nvSpPr>
        <p:spPr>
          <a:xfrm>
            <a:off x="2143125" y="3403473"/>
            <a:ext cx="1104900" cy="265430"/>
          </a:xfrm>
          <a:custGeom>
            <a:avLst/>
            <a:gdLst/>
            <a:ahLst/>
            <a:cxnLst/>
            <a:rect l="0" t="0" r="0" b="0"/>
            <a:pathLst>
              <a:path w="1104900" h="265430">
                <a:moveTo>
                  <a:pt x="0" y="197866"/>
                </a:moveTo>
                <a:lnTo>
                  <a:pt x="9525" y="183388"/>
                </a:lnTo>
                <a:lnTo>
                  <a:pt x="19050" y="164084"/>
                </a:lnTo>
                <a:lnTo>
                  <a:pt x="28575" y="144780"/>
                </a:lnTo>
                <a:lnTo>
                  <a:pt x="38100" y="123063"/>
                </a:lnTo>
                <a:lnTo>
                  <a:pt x="47625" y="110998"/>
                </a:lnTo>
                <a:lnTo>
                  <a:pt x="57150" y="91694"/>
                </a:lnTo>
                <a:lnTo>
                  <a:pt x="66675" y="72390"/>
                </a:lnTo>
                <a:lnTo>
                  <a:pt x="76200" y="53086"/>
                </a:lnTo>
                <a:lnTo>
                  <a:pt x="85725" y="33782"/>
                </a:lnTo>
                <a:lnTo>
                  <a:pt x="95250" y="24130"/>
                </a:lnTo>
                <a:lnTo>
                  <a:pt x="104775" y="14478"/>
                </a:lnTo>
                <a:lnTo>
                  <a:pt x="114300" y="4826"/>
                </a:lnTo>
                <a:lnTo>
                  <a:pt x="123825" y="4826"/>
                </a:lnTo>
                <a:lnTo>
                  <a:pt x="133350" y="0"/>
                </a:lnTo>
                <a:lnTo>
                  <a:pt x="142875" y="9652"/>
                </a:lnTo>
                <a:lnTo>
                  <a:pt x="152400" y="19304"/>
                </a:lnTo>
                <a:lnTo>
                  <a:pt x="161925" y="33782"/>
                </a:lnTo>
                <a:lnTo>
                  <a:pt x="171450" y="48260"/>
                </a:lnTo>
                <a:lnTo>
                  <a:pt x="180975" y="69977"/>
                </a:lnTo>
                <a:lnTo>
                  <a:pt x="190500" y="86868"/>
                </a:lnTo>
                <a:lnTo>
                  <a:pt x="200025" y="106172"/>
                </a:lnTo>
                <a:lnTo>
                  <a:pt x="209550" y="125476"/>
                </a:lnTo>
                <a:lnTo>
                  <a:pt x="219075" y="144780"/>
                </a:lnTo>
                <a:lnTo>
                  <a:pt x="228600" y="168910"/>
                </a:lnTo>
                <a:lnTo>
                  <a:pt x="238125" y="188214"/>
                </a:lnTo>
                <a:lnTo>
                  <a:pt x="247650" y="207518"/>
                </a:lnTo>
                <a:lnTo>
                  <a:pt x="257175" y="217170"/>
                </a:lnTo>
                <a:lnTo>
                  <a:pt x="266700" y="231648"/>
                </a:lnTo>
                <a:lnTo>
                  <a:pt x="276225" y="241300"/>
                </a:lnTo>
                <a:lnTo>
                  <a:pt x="285750" y="250952"/>
                </a:lnTo>
                <a:lnTo>
                  <a:pt x="295275" y="260604"/>
                </a:lnTo>
                <a:lnTo>
                  <a:pt x="304800" y="265430"/>
                </a:lnTo>
                <a:lnTo>
                  <a:pt x="314325" y="265430"/>
                </a:lnTo>
                <a:lnTo>
                  <a:pt x="323850" y="260604"/>
                </a:lnTo>
                <a:lnTo>
                  <a:pt x="333375" y="250952"/>
                </a:lnTo>
                <a:lnTo>
                  <a:pt x="342900" y="241300"/>
                </a:lnTo>
                <a:lnTo>
                  <a:pt x="352425" y="231648"/>
                </a:lnTo>
                <a:lnTo>
                  <a:pt x="361950" y="221996"/>
                </a:lnTo>
                <a:lnTo>
                  <a:pt x="371475" y="202692"/>
                </a:lnTo>
                <a:lnTo>
                  <a:pt x="381000" y="188214"/>
                </a:lnTo>
                <a:lnTo>
                  <a:pt x="390525" y="168910"/>
                </a:lnTo>
                <a:lnTo>
                  <a:pt x="400050" y="147997"/>
                </a:lnTo>
                <a:lnTo>
                  <a:pt x="409575" y="130302"/>
                </a:lnTo>
                <a:lnTo>
                  <a:pt x="419100" y="110998"/>
                </a:lnTo>
                <a:lnTo>
                  <a:pt x="428625" y="91694"/>
                </a:lnTo>
                <a:lnTo>
                  <a:pt x="438150" y="72390"/>
                </a:lnTo>
                <a:lnTo>
                  <a:pt x="447675" y="53086"/>
                </a:lnTo>
                <a:lnTo>
                  <a:pt x="457200" y="38608"/>
                </a:lnTo>
                <a:lnTo>
                  <a:pt x="466725" y="28956"/>
                </a:lnTo>
                <a:lnTo>
                  <a:pt x="476250" y="19304"/>
                </a:lnTo>
                <a:lnTo>
                  <a:pt x="485775" y="9652"/>
                </a:lnTo>
                <a:lnTo>
                  <a:pt x="495300" y="4826"/>
                </a:lnTo>
                <a:lnTo>
                  <a:pt x="504825" y="4826"/>
                </a:lnTo>
                <a:lnTo>
                  <a:pt x="514350" y="9652"/>
                </a:lnTo>
                <a:lnTo>
                  <a:pt x="523875" y="19304"/>
                </a:lnTo>
                <a:lnTo>
                  <a:pt x="533400" y="28956"/>
                </a:lnTo>
                <a:lnTo>
                  <a:pt x="542925" y="43434"/>
                </a:lnTo>
                <a:lnTo>
                  <a:pt x="552450" y="62738"/>
                </a:lnTo>
                <a:lnTo>
                  <a:pt x="561975" y="83651"/>
                </a:lnTo>
                <a:lnTo>
                  <a:pt x="571500" y="101346"/>
                </a:lnTo>
                <a:lnTo>
                  <a:pt x="581025" y="115824"/>
                </a:lnTo>
                <a:lnTo>
                  <a:pt x="590550" y="135128"/>
                </a:lnTo>
                <a:lnTo>
                  <a:pt x="600075" y="159258"/>
                </a:lnTo>
                <a:lnTo>
                  <a:pt x="609600" y="178562"/>
                </a:lnTo>
                <a:lnTo>
                  <a:pt x="619125" y="193040"/>
                </a:lnTo>
                <a:lnTo>
                  <a:pt x="628650" y="207518"/>
                </a:lnTo>
                <a:lnTo>
                  <a:pt x="638175" y="221996"/>
                </a:lnTo>
                <a:lnTo>
                  <a:pt x="647700" y="236474"/>
                </a:lnTo>
                <a:lnTo>
                  <a:pt x="657225" y="241300"/>
                </a:lnTo>
                <a:lnTo>
                  <a:pt x="666750" y="250952"/>
                </a:lnTo>
                <a:lnTo>
                  <a:pt x="676275" y="250952"/>
                </a:lnTo>
                <a:lnTo>
                  <a:pt x="685800" y="260604"/>
                </a:lnTo>
                <a:lnTo>
                  <a:pt x="695325" y="250952"/>
                </a:lnTo>
                <a:lnTo>
                  <a:pt x="704850" y="250952"/>
                </a:lnTo>
                <a:lnTo>
                  <a:pt x="714375" y="236474"/>
                </a:lnTo>
                <a:lnTo>
                  <a:pt x="723900" y="231648"/>
                </a:lnTo>
                <a:lnTo>
                  <a:pt x="733425" y="221996"/>
                </a:lnTo>
                <a:lnTo>
                  <a:pt x="742950" y="207518"/>
                </a:lnTo>
                <a:lnTo>
                  <a:pt x="752475" y="197866"/>
                </a:lnTo>
                <a:lnTo>
                  <a:pt x="762000" y="178562"/>
                </a:lnTo>
                <a:lnTo>
                  <a:pt x="771525" y="159258"/>
                </a:lnTo>
                <a:lnTo>
                  <a:pt x="781050" y="139954"/>
                </a:lnTo>
                <a:lnTo>
                  <a:pt x="790575" y="120650"/>
                </a:lnTo>
                <a:lnTo>
                  <a:pt x="800100" y="101346"/>
                </a:lnTo>
                <a:lnTo>
                  <a:pt x="809625" y="82042"/>
                </a:lnTo>
                <a:lnTo>
                  <a:pt x="819150" y="62738"/>
                </a:lnTo>
                <a:lnTo>
                  <a:pt x="828675" y="48260"/>
                </a:lnTo>
                <a:lnTo>
                  <a:pt x="838200" y="38608"/>
                </a:lnTo>
                <a:lnTo>
                  <a:pt x="847725" y="28956"/>
                </a:lnTo>
                <a:lnTo>
                  <a:pt x="857250" y="19304"/>
                </a:lnTo>
                <a:lnTo>
                  <a:pt x="866775" y="9652"/>
                </a:lnTo>
                <a:lnTo>
                  <a:pt x="876300" y="9652"/>
                </a:lnTo>
                <a:lnTo>
                  <a:pt x="885825" y="4826"/>
                </a:lnTo>
                <a:lnTo>
                  <a:pt x="895350" y="14478"/>
                </a:lnTo>
                <a:lnTo>
                  <a:pt x="904875" y="19304"/>
                </a:lnTo>
                <a:lnTo>
                  <a:pt x="914400" y="28956"/>
                </a:lnTo>
                <a:lnTo>
                  <a:pt x="923925" y="48260"/>
                </a:lnTo>
                <a:lnTo>
                  <a:pt x="933450" y="57912"/>
                </a:lnTo>
                <a:lnTo>
                  <a:pt x="942975" y="82042"/>
                </a:lnTo>
                <a:lnTo>
                  <a:pt x="952500" y="101346"/>
                </a:lnTo>
                <a:lnTo>
                  <a:pt x="962025" y="120650"/>
                </a:lnTo>
                <a:lnTo>
                  <a:pt x="971550" y="139954"/>
                </a:lnTo>
                <a:lnTo>
                  <a:pt x="981075" y="154432"/>
                </a:lnTo>
                <a:lnTo>
                  <a:pt x="990600" y="178562"/>
                </a:lnTo>
                <a:lnTo>
                  <a:pt x="1000125" y="193040"/>
                </a:lnTo>
                <a:lnTo>
                  <a:pt x="1009650" y="207518"/>
                </a:lnTo>
                <a:lnTo>
                  <a:pt x="1019175" y="221996"/>
                </a:lnTo>
                <a:lnTo>
                  <a:pt x="1028700" y="231648"/>
                </a:lnTo>
                <a:lnTo>
                  <a:pt x="1038225" y="241300"/>
                </a:lnTo>
                <a:lnTo>
                  <a:pt x="1047750" y="250952"/>
                </a:lnTo>
                <a:lnTo>
                  <a:pt x="1057275" y="255778"/>
                </a:lnTo>
                <a:lnTo>
                  <a:pt x="1066800" y="255778"/>
                </a:lnTo>
                <a:lnTo>
                  <a:pt x="1076325" y="255778"/>
                </a:lnTo>
                <a:lnTo>
                  <a:pt x="1085850" y="246126"/>
                </a:lnTo>
                <a:lnTo>
                  <a:pt x="1095375" y="241300"/>
                </a:lnTo>
                <a:lnTo>
                  <a:pt x="1104900" y="231648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42" name="Element 42">
            <a:extLst>
              <a:ext uri="{FF2B5EF4-FFF2-40B4-BE49-F238E27FC236}">
                <a16:creationId xmlns:a16="http://schemas.microsoft.com/office/drawing/2014/main" id="{B7550DDF-3011-64FC-2C8B-4AD284A00D4F}"/>
              </a:ext>
            </a:extLst>
          </p:cNvPr>
          <p:cNvSpPr/>
          <p:nvPr/>
        </p:nvSpPr>
        <p:spPr>
          <a:xfrm>
            <a:off x="1768760" y="3309366"/>
            <a:ext cx="357027" cy="398145"/>
          </a:xfrm>
          <a:prstGeom prst="rect">
            <a:avLst/>
          </a:prstGeom>
          <a:solidFill>
            <a:srgbClr val="FFFFFF"/>
          </a:solidFill>
          <a:ln w="11430">
            <a:solidFill>
              <a:srgbClr val="173D65"/>
            </a:solidFill>
            <a:prstDash val="dash"/>
          </a:ln>
        </p:spPr>
      </p:sp>
      <p:sp>
        <p:nvSpPr>
          <p:cNvPr id="43" name="Element 43">
            <a:extLst>
              <a:ext uri="{FF2B5EF4-FFF2-40B4-BE49-F238E27FC236}">
                <a16:creationId xmlns:a16="http://schemas.microsoft.com/office/drawing/2014/main" id="{EEF1A311-29CA-79C8-DA20-3F9D398E62E1}"/>
              </a:ext>
            </a:extLst>
          </p:cNvPr>
          <p:cNvSpPr/>
          <p:nvPr/>
        </p:nvSpPr>
        <p:spPr>
          <a:xfrm>
            <a:off x="3600450" y="3114675"/>
            <a:ext cx="1428750" cy="847725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Element 44">
            <a:extLst>
              <a:ext uri="{FF2B5EF4-FFF2-40B4-BE49-F238E27FC236}">
                <a16:creationId xmlns:a16="http://schemas.microsoft.com/office/drawing/2014/main" id="{F9406A42-26E8-F5B0-E1D6-8E2831E4E009}"/>
              </a:ext>
            </a:extLst>
          </p:cNvPr>
          <p:cNvSpPr txBox="1"/>
          <p:nvPr/>
        </p:nvSpPr>
        <p:spPr>
          <a:xfrm>
            <a:off x="3629025" y="3152775"/>
            <a:ext cx="1371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Best Action</a:t>
            </a:r>
          </a:p>
        </p:txBody>
      </p:sp>
      <p:sp>
        <p:nvSpPr>
          <p:cNvPr id="45" name="Element 45">
            <a:extLst>
              <a:ext uri="{FF2B5EF4-FFF2-40B4-BE49-F238E27FC236}">
                <a16:creationId xmlns:a16="http://schemas.microsoft.com/office/drawing/2014/main" id="{3EDA3A04-9462-7B35-A0C0-5019C2FF0E5D}"/>
              </a:ext>
            </a:extLst>
          </p:cNvPr>
          <p:cNvSpPr/>
          <p:nvPr/>
        </p:nvSpPr>
        <p:spPr>
          <a:xfrm>
            <a:off x="3695700" y="3476625"/>
            <a:ext cx="1238250" cy="36195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Element 46">
            <a:extLst>
              <a:ext uri="{FF2B5EF4-FFF2-40B4-BE49-F238E27FC236}">
                <a16:creationId xmlns:a16="http://schemas.microsoft.com/office/drawing/2014/main" id="{A25C43BA-E138-2C13-52A7-51199DB045BE}"/>
              </a:ext>
            </a:extLst>
          </p:cNvPr>
          <p:cNvSpPr txBox="1"/>
          <p:nvPr/>
        </p:nvSpPr>
        <p:spPr>
          <a:xfrm>
            <a:off x="3714750" y="3505200"/>
            <a:ext cx="12001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Repair_1</a:t>
            </a:r>
          </a:p>
        </p:txBody>
      </p:sp>
      <p:sp>
        <p:nvSpPr>
          <p:cNvPr id="47" name="Element 47">
            <a:extLst>
              <a:ext uri="{FF2B5EF4-FFF2-40B4-BE49-F238E27FC236}">
                <a16:creationId xmlns:a16="http://schemas.microsoft.com/office/drawing/2014/main" id="{4893B2D5-B3F3-42F3-FEB3-F126394E28EA}"/>
              </a:ext>
            </a:extLst>
          </p:cNvPr>
          <p:cNvSpPr/>
          <p:nvPr/>
        </p:nvSpPr>
        <p:spPr>
          <a:xfrm>
            <a:off x="238125" y="4362450"/>
            <a:ext cx="4876800" cy="150495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Element 48">
            <a:extLst>
              <a:ext uri="{FF2B5EF4-FFF2-40B4-BE49-F238E27FC236}">
                <a16:creationId xmlns:a16="http://schemas.microsoft.com/office/drawing/2014/main" id="{82F2B220-2192-025E-1C37-9D7DA9378E6D}"/>
              </a:ext>
            </a:extLst>
          </p:cNvPr>
          <p:cNvSpPr txBox="1"/>
          <p:nvPr/>
        </p:nvSpPr>
        <p:spPr>
          <a:xfrm>
            <a:off x="400050" y="4410075"/>
            <a:ext cx="1257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Request C</a:t>
            </a:r>
          </a:p>
        </p:txBody>
      </p:sp>
      <p:sp>
        <p:nvSpPr>
          <p:cNvPr id="49" name="Element 49">
            <a:extLst>
              <a:ext uri="{FF2B5EF4-FFF2-40B4-BE49-F238E27FC236}">
                <a16:creationId xmlns:a16="http://schemas.microsoft.com/office/drawing/2014/main" id="{57E3A5FA-BC86-8EC7-1CF7-7A7400D2C01F}"/>
              </a:ext>
            </a:extLst>
          </p:cNvPr>
          <p:cNvSpPr txBox="1"/>
          <p:nvPr/>
        </p:nvSpPr>
        <p:spPr>
          <a:xfrm>
            <a:off x="1762125" y="4448175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Complex Dynamics</a:t>
            </a:r>
          </a:p>
        </p:txBody>
      </p:sp>
      <p:sp>
        <p:nvSpPr>
          <p:cNvPr id="50" name="Editable Curve 50">
            <a:extLst>
              <a:ext uri="{FF2B5EF4-FFF2-40B4-BE49-F238E27FC236}">
                <a16:creationId xmlns:a16="http://schemas.microsoft.com/office/drawing/2014/main" id="{A848C8C3-3C8D-3610-27B7-326B16324AA9}"/>
              </a:ext>
            </a:extLst>
          </p:cNvPr>
          <p:cNvSpPr/>
          <p:nvPr/>
        </p:nvSpPr>
        <p:spPr>
          <a:xfrm>
            <a:off x="638175" y="5562600"/>
            <a:ext cx="2686050" cy="95"/>
          </a:xfrm>
          <a:custGeom>
            <a:avLst/>
            <a:gdLst/>
            <a:ahLst/>
            <a:cxnLst/>
            <a:rect l="0" t="0" r="0" b="0"/>
            <a:pathLst>
              <a:path w="2686050" h="95">
                <a:moveTo>
                  <a:pt x="0" y="0"/>
                </a:moveTo>
                <a:lnTo>
                  <a:pt x="2686050" y="0"/>
                </a:lnTo>
              </a:path>
            </a:pathLst>
          </a:custGeom>
          <a:noFill/>
          <a:ln w="12383">
            <a:solidFill>
              <a:srgbClr val="081B41"/>
            </a:solidFill>
          </a:ln>
        </p:spPr>
      </p:sp>
      <p:sp>
        <p:nvSpPr>
          <p:cNvPr id="51" name="Editable Curve 51">
            <a:extLst>
              <a:ext uri="{FF2B5EF4-FFF2-40B4-BE49-F238E27FC236}">
                <a16:creationId xmlns:a16="http://schemas.microsoft.com/office/drawing/2014/main" id="{A72B8B50-0EDE-FAF4-C191-010143DAD52B}"/>
              </a:ext>
            </a:extLst>
          </p:cNvPr>
          <p:cNvSpPr/>
          <p:nvPr/>
        </p:nvSpPr>
        <p:spPr>
          <a:xfrm>
            <a:off x="638175" y="4838700"/>
            <a:ext cx="95" cy="723900"/>
          </a:xfrm>
          <a:custGeom>
            <a:avLst/>
            <a:gdLst/>
            <a:ahLst/>
            <a:cxnLst/>
            <a:rect l="0" t="0" r="0" b="0"/>
            <a:pathLst>
              <a:path w="95" h="723900">
                <a:moveTo>
                  <a:pt x="0" y="72390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81B41"/>
            </a:solidFill>
          </a:ln>
        </p:spPr>
      </p:sp>
      <p:sp>
        <p:nvSpPr>
          <p:cNvPr id="52" name="Element 52">
            <a:extLst>
              <a:ext uri="{FF2B5EF4-FFF2-40B4-BE49-F238E27FC236}">
                <a16:creationId xmlns:a16="http://schemas.microsoft.com/office/drawing/2014/main" id="{C609FFBD-55ED-6579-0161-253679928905}"/>
              </a:ext>
            </a:extLst>
          </p:cNvPr>
          <p:cNvSpPr/>
          <p:nvPr/>
        </p:nvSpPr>
        <p:spPr>
          <a:xfrm rot="5400000">
            <a:off x="3286125" y="5534025"/>
            <a:ext cx="66675" cy="57150"/>
          </a:xfrm>
          <a:prstGeom prst="triangle">
            <a:avLst/>
          </a:prstGeom>
          <a:solidFill>
            <a:srgbClr val="081B41"/>
          </a:solidFill>
          <a:ln w="0">
            <a:noFill/>
          </a:ln>
        </p:spPr>
      </p:sp>
      <p:sp>
        <p:nvSpPr>
          <p:cNvPr id="53" name="Element 53">
            <a:extLst>
              <a:ext uri="{FF2B5EF4-FFF2-40B4-BE49-F238E27FC236}">
                <a16:creationId xmlns:a16="http://schemas.microsoft.com/office/drawing/2014/main" id="{BAA3DEC4-EB6B-8E4D-0F67-6B68415D369D}"/>
              </a:ext>
            </a:extLst>
          </p:cNvPr>
          <p:cNvSpPr/>
          <p:nvPr/>
        </p:nvSpPr>
        <p:spPr>
          <a:xfrm>
            <a:off x="609600" y="4819650"/>
            <a:ext cx="57150" cy="66675"/>
          </a:xfrm>
          <a:prstGeom prst="triangle">
            <a:avLst/>
          </a:prstGeom>
          <a:solidFill>
            <a:srgbClr val="081B41"/>
          </a:solidFill>
          <a:ln w="0">
            <a:noFill/>
          </a:ln>
        </p:spPr>
      </p:sp>
      <p:sp>
        <p:nvSpPr>
          <p:cNvPr id="54" name="Element 54">
            <a:extLst>
              <a:ext uri="{FF2B5EF4-FFF2-40B4-BE49-F238E27FC236}">
                <a16:creationId xmlns:a16="http://schemas.microsoft.com/office/drawing/2014/main" id="{45490433-905B-2C76-E4F3-1ED533DF6950}"/>
              </a:ext>
            </a:extLst>
          </p:cNvPr>
          <p:cNvSpPr txBox="1"/>
          <p:nvPr/>
        </p:nvSpPr>
        <p:spPr>
          <a:xfrm>
            <a:off x="1697355" y="5572125"/>
            <a:ext cx="661988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time</a:t>
            </a:r>
          </a:p>
        </p:txBody>
      </p:sp>
      <p:sp>
        <p:nvSpPr>
          <p:cNvPr id="55" name="Element 55">
            <a:extLst>
              <a:ext uri="{FF2B5EF4-FFF2-40B4-BE49-F238E27FC236}">
                <a16:creationId xmlns:a16="http://schemas.microsoft.com/office/drawing/2014/main" id="{F961B0E0-2DB5-ADBD-E97A-BE2FBA4BD5DF}"/>
              </a:ext>
            </a:extLst>
          </p:cNvPr>
          <p:cNvSpPr txBox="1"/>
          <p:nvPr/>
        </p:nvSpPr>
        <p:spPr>
          <a:xfrm rot="16200000">
            <a:off x="190500" y="498348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value</a:t>
            </a:r>
          </a:p>
        </p:txBody>
      </p:sp>
      <p:sp>
        <p:nvSpPr>
          <p:cNvPr id="56" name="Editable Curve 56">
            <a:extLst>
              <a:ext uri="{FF2B5EF4-FFF2-40B4-BE49-F238E27FC236}">
                <a16:creationId xmlns:a16="http://schemas.microsoft.com/office/drawing/2014/main" id="{C3900DF5-AAFF-4E8F-3998-DE178EB7A14D}"/>
              </a:ext>
            </a:extLst>
          </p:cNvPr>
          <p:cNvSpPr/>
          <p:nvPr/>
        </p:nvSpPr>
        <p:spPr>
          <a:xfrm>
            <a:off x="676138" y="5321300"/>
            <a:ext cx="151854" cy="174625"/>
          </a:xfrm>
          <a:custGeom>
            <a:avLst/>
            <a:gdLst/>
            <a:ahLst/>
            <a:cxnLst/>
            <a:rect l="0" t="0" r="0" b="0"/>
            <a:pathLst>
              <a:path w="151854" h="174625">
                <a:moveTo>
                  <a:pt x="0" y="174625"/>
                </a:moveTo>
                <a:lnTo>
                  <a:pt x="9491" y="168275"/>
                </a:lnTo>
                <a:lnTo>
                  <a:pt x="18982" y="150813"/>
                </a:lnTo>
                <a:lnTo>
                  <a:pt x="28473" y="117475"/>
                </a:lnTo>
                <a:lnTo>
                  <a:pt x="37963" y="98425"/>
                </a:lnTo>
                <a:lnTo>
                  <a:pt x="47454" y="98425"/>
                </a:lnTo>
                <a:lnTo>
                  <a:pt x="56945" y="98425"/>
                </a:lnTo>
                <a:lnTo>
                  <a:pt x="66436" y="112713"/>
                </a:lnTo>
                <a:lnTo>
                  <a:pt x="75927" y="117475"/>
                </a:lnTo>
                <a:lnTo>
                  <a:pt x="85418" y="103188"/>
                </a:lnTo>
                <a:lnTo>
                  <a:pt x="94909" y="84138"/>
                </a:lnTo>
                <a:lnTo>
                  <a:pt x="104399" y="65088"/>
                </a:lnTo>
                <a:lnTo>
                  <a:pt x="113890" y="41275"/>
                </a:lnTo>
                <a:lnTo>
                  <a:pt x="123381" y="15875"/>
                </a:lnTo>
                <a:lnTo>
                  <a:pt x="132872" y="3175"/>
                </a:lnTo>
                <a:lnTo>
                  <a:pt x="142363" y="0"/>
                </a:lnTo>
                <a:lnTo>
                  <a:pt x="151854" y="3175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57" name="Editable Curve 57">
            <a:extLst>
              <a:ext uri="{FF2B5EF4-FFF2-40B4-BE49-F238E27FC236}">
                <a16:creationId xmlns:a16="http://schemas.microsoft.com/office/drawing/2014/main" id="{48768840-1E50-2AEF-921B-1CA74CEEB05B}"/>
              </a:ext>
            </a:extLst>
          </p:cNvPr>
          <p:cNvSpPr/>
          <p:nvPr/>
        </p:nvSpPr>
        <p:spPr>
          <a:xfrm>
            <a:off x="846974" y="5084445"/>
            <a:ext cx="873159" cy="311468"/>
          </a:xfrm>
          <a:custGeom>
            <a:avLst/>
            <a:gdLst/>
            <a:ahLst/>
            <a:cxnLst/>
            <a:rect l="0" t="0" r="0" b="0"/>
            <a:pathLst>
              <a:path w="873159" h="311468">
                <a:moveTo>
                  <a:pt x="0" y="273368"/>
                </a:moveTo>
                <a:lnTo>
                  <a:pt x="9491" y="268605"/>
                </a:lnTo>
                <a:lnTo>
                  <a:pt x="18982" y="263843"/>
                </a:lnTo>
                <a:lnTo>
                  <a:pt x="28473" y="243205"/>
                </a:lnTo>
                <a:lnTo>
                  <a:pt x="37963" y="240030"/>
                </a:lnTo>
                <a:lnTo>
                  <a:pt x="47454" y="240030"/>
                </a:lnTo>
                <a:lnTo>
                  <a:pt x="56945" y="225743"/>
                </a:lnTo>
                <a:lnTo>
                  <a:pt x="66436" y="206693"/>
                </a:lnTo>
                <a:lnTo>
                  <a:pt x="75927" y="187643"/>
                </a:lnTo>
                <a:lnTo>
                  <a:pt x="85418" y="167005"/>
                </a:lnTo>
                <a:lnTo>
                  <a:pt x="94909" y="168593"/>
                </a:lnTo>
                <a:lnTo>
                  <a:pt x="104399" y="170180"/>
                </a:lnTo>
                <a:lnTo>
                  <a:pt x="113890" y="187643"/>
                </a:lnTo>
                <a:lnTo>
                  <a:pt x="123381" y="201930"/>
                </a:lnTo>
                <a:lnTo>
                  <a:pt x="132872" y="197168"/>
                </a:lnTo>
                <a:lnTo>
                  <a:pt x="142363" y="201930"/>
                </a:lnTo>
                <a:lnTo>
                  <a:pt x="151854" y="182880"/>
                </a:lnTo>
                <a:lnTo>
                  <a:pt x="161345" y="182880"/>
                </a:lnTo>
                <a:lnTo>
                  <a:pt x="170835" y="187643"/>
                </a:lnTo>
                <a:lnTo>
                  <a:pt x="180326" y="192405"/>
                </a:lnTo>
                <a:lnTo>
                  <a:pt x="189817" y="182880"/>
                </a:lnTo>
                <a:lnTo>
                  <a:pt x="199308" y="168593"/>
                </a:lnTo>
                <a:lnTo>
                  <a:pt x="208799" y="151130"/>
                </a:lnTo>
                <a:lnTo>
                  <a:pt x="218290" y="130493"/>
                </a:lnTo>
                <a:lnTo>
                  <a:pt x="227781" y="122555"/>
                </a:lnTo>
                <a:lnTo>
                  <a:pt x="237272" y="135255"/>
                </a:lnTo>
                <a:lnTo>
                  <a:pt x="246762" y="157480"/>
                </a:lnTo>
                <a:lnTo>
                  <a:pt x="256253" y="168593"/>
                </a:lnTo>
                <a:lnTo>
                  <a:pt x="265744" y="168593"/>
                </a:lnTo>
                <a:lnTo>
                  <a:pt x="275235" y="163830"/>
                </a:lnTo>
                <a:lnTo>
                  <a:pt x="284726" y="168593"/>
                </a:lnTo>
                <a:lnTo>
                  <a:pt x="294217" y="170180"/>
                </a:lnTo>
                <a:lnTo>
                  <a:pt x="303708" y="197168"/>
                </a:lnTo>
                <a:lnTo>
                  <a:pt x="313198" y="201930"/>
                </a:lnTo>
                <a:lnTo>
                  <a:pt x="322689" y="201930"/>
                </a:lnTo>
                <a:lnTo>
                  <a:pt x="332180" y="198755"/>
                </a:lnTo>
                <a:lnTo>
                  <a:pt x="341671" y="211455"/>
                </a:lnTo>
                <a:lnTo>
                  <a:pt x="351162" y="233680"/>
                </a:lnTo>
                <a:lnTo>
                  <a:pt x="360653" y="240030"/>
                </a:lnTo>
                <a:lnTo>
                  <a:pt x="370144" y="254318"/>
                </a:lnTo>
                <a:lnTo>
                  <a:pt x="379634" y="255905"/>
                </a:lnTo>
                <a:lnTo>
                  <a:pt x="389125" y="287655"/>
                </a:lnTo>
                <a:lnTo>
                  <a:pt x="398616" y="301943"/>
                </a:lnTo>
                <a:lnTo>
                  <a:pt x="408107" y="311468"/>
                </a:lnTo>
                <a:lnTo>
                  <a:pt x="417598" y="290036"/>
                </a:lnTo>
                <a:lnTo>
                  <a:pt x="427089" y="259080"/>
                </a:lnTo>
                <a:lnTo>
                  <a:pt x="436580" y="227330"/>
                </a:lnTo>
                <a:lnTo>
                  <a:pt x="446070" y="216218"/>
                </a:lnTo>
                <a:lnTo>
                  <a:pt x="455561" y="211455"/>
                </a:lnTo>
                <a:lnTo>
                  <a:pt x="465052" y="216218"/>
                </a:lnTo>
                <a:lnTo>
                  <a:pt x="474543" y="220980"/>
                </a:lnTo>
                <a:lnTo>
                  <a:pt x="484034" y="230505"/>
                </a:lnTo>
                <a:lnTo>
                  <a:pt x="493525" y="240030"/>
                </a:lnTo>
                <a:lnTo>
                  <a:pt x="503016" y="259080"/>
                </a:lnTo>
                <a:lnTo>
                  <a:pt x="512506" y="259080"/>
                </a:lnTo>
                <a:lnTo>
                  <a:pt x="521997" y="249555"/>
                </a:lnTo>
                <a:lnTo>
                  <a:pt x="531488" y="235268"/>
                </a:lnTo>
                <a:lnTo>
                  <a:pt x="540979" y="225743"/>
                </a:lnTo>
                <a:lnTo>
                  <a:pt x="550470" y="235268"/>
                </a:lnTo>
                <a:lnTo>
                  <a:pt x="559961" y="254318"/>
                </a:lnTo>
                <a:lnTo>
                  <a:pt x="569452" y="273368"/>
                </a:lnTo>
                <a:lnTo>
                  <a:pt x="578942" y="290830"/>
                </a:lnTo>
                <a:lnTo>
                  <a:pt x="588433" y="284480"/>
                </a:lnTo>
                <a:lnTo>
                  <a:pt x="597924" y="271780"/>
                </a:lnTo>
                <a:lnTo>
                  <a:pt x="607415" y="244793"/>
                </a:lnTo>
                <a:lnTo>
                  <a:pt x="616906" y="224155"/>
                </a:lnTo>
                <a:lnTo>
                  <a:pt x="626397" y="211455"/>
                </a:lnTo>
                <a:lnTo>
                  <a:pt x="635888" y="211455"/>
                </a:lnTo>
                <a:lnTo>
                  <a:pt x="645378" y="205105"/>
                </a:lnTo>
                <a:lnTo>
                  <a:pt x="654869" y="192405"/>
                </a:lnTo>
                <a:lnTo>
                  <a:pt x="664360" y="156210"/>
                </a:lnTo>
                <a:lnTo>
                  <a:pt x="673851" y="120968"/>
                </a:lnTo>
                <a:lnTo>
                  <a:pt x="683342" y="106680"/>
                </a:lnTo>
                <a:lnTo>
                  <a:pt x="692833" y="97155"/>
                </a:lnTo>
                <a:lnTo>
                  <a:pt x="702324" y="82868"/>
                </a:lnTo>
                <a:lnTo>
                  <a:pt x="711815" y="54293"/>
                </a:lnTo>
                <a:lnTo>
                  <a:pt x="721305" y="54293"/>
                </a:lnTo>
                <a:lnTo>
                  <a:pt x="730796" y="49530"/>
                </a:lnTo>
                <a:lnTo>
                  <a:pt x="740287" y="78105"/>
                </a:lnTo>
                <a:lnTo>
                  <a:pt x="749778" y="120968"/>
                </a:lnTo>
                <a:lnTo>
                  <a:pt x="759269" y="154305"/>
                </a:lnTo>
                <a:lnTo>
                  <a:pt x="768760" y="163830"/>
                </a:lnTo>
                <a:lnTo>
                  <a:pt x="778251" y="168593"/>
                </a:lnTo>
                <a:lnTo>
                  <a:pt x="787741" y="150495"/>
                </a:lnTo>
                <a:lnTo>
                  <a:pt x="797232" y="125730"/>
                </a:lnTo>
                <a:lnTo>
                  <a:pt x="806723" y="97155"/>
                </a:lnTo>
                <a:lnTo>
                  <a:pt x="816214" y="82868"/>
                </a:lnTo>
                <a:lnTo>
                  <a:pt x="825705" y="82868"/>
                </a:lnTo>
                <a:lnTo>
                  <a:pt x="835196" y="82868"/>
                </a:lnTo>
                <a:lnTo>
                  <a:pt x="844687" y="68580"/>
                </a:lnTo>
                <a:lnTo>
                  <a:pt x="854177" y="40005"/>
                </a:lnTo>
                <a:lnTo>
                  <a:pt x="863668" y="16193"/>
                </a:lnTo>
                <a:lnTo>
                  <a:pt x="873159" y="0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58" name="Editable Curve 58">
            <a:extLst>
              <a:ext uri="{FF2B5EF4-FFF2-40B4-BE49-F238E27FC236}">
                <a16:creationId xmlns:a16="http://schemas.microsoft.com/office/drawing/2014/main" id="{1D8DC2C2-7A54-9B06-AED9-C4FDDC4A4E6F}"/>
              </a:ext>
            </a:extLst>
          </p:cNvPr>
          <p:cNvSpPr/>
          <p:nvPr/>
        </p:nvSpPr>
        <p:spPr>
          <a:xfrm>
            <a:off x="2147222" y="4905375"/>
            <a:ext cx="1100940" cy="423863"/>
          </a:xfrm>
          <a:custGeom>
            <a:avLst/>
            <a:gdLst/>
            <a:ahLst/>
            <a:cxnLst/>
            <a:rect l="0" t="0" r="0" b="0"/>
            <a:pathLst>
              <a:path w="1100940" h="423863">
                <a:moveTo>
                  <a:pt x="0" y="280988"/>
                </a:moveTo>
                <a:lnTo>
                  <a:pt x="9491" y="280988"/>
                </a:lnTo>
                <a:lnTo>
                  <a:pt x="18982" y="285750"/>
                </a:lnTo>
                <a:lnTo>
                  <a:pt x="28473" y="276225"/>
                </a:lnTo>
                <a:lnTo>
                  <a:pt x="37963" y="261938"/>
                </a:lnTo>
                <a:lnTo>
                  <a:pt x="47454" y="238125"/>
                </a:lnTo>
                <a:lnTo>
                  <a:pt x="56945" y="233363"/>
                </a:lnTo>
                <a:lnTo>
                  <a:pt x="66436" y="242888"/>
                </a:lnTo>
                <a:lnTo>
                  <a:pt x="75927" y="266700"/>
                </a:lnTo>
                <a:lnTo>
                  <a:pt x="85418" y="290513"/>
                </a:lnTo>
                <a:lnTo>
                  <a:pt x="94909" y="295275"/>
                </a:lnTo>
                <a:lnTo>
                  <a:pt x="104399" y="295275"/>
                </a:lnTo>
                <a:lnTo>
                  <a:pt x="113890" y="319088"/>
                </a:lnTo>
                <a:lnTo>
                  <a:pt x="123381" y="323850"/>
                </a:lnTo>
                <a:lnTo>
                  <a:pt x="132872" y="348615"/>
                </a:lnTo>
                <a:lnTo>
                  <a:pt x="142363" y="381000"/>
                </a:lnTo>
                <a:lnTo>
                  <a:pt x="151854" y="390525"/>
                </a:lnTo>
                <a:lnTo>
                  <a:pt x="161345" y="393700"/>
                </a:lnTo>
                <a:lnTo>
                  <a:pt x="170835" y="368300"/>
                </a:lnTo>
                <a:lnTo>
                  <a:pt x="180326" y="347663"/>
                </a:lnTo>
                <a:lnTo>
                  <a:pt x="189817" y="304800"/>
                </a:lnTo>
                <a:lnTo>
                  <a:pt x="199308" y="285750"/>
                </a:lnTo>
                <a:lnTo>
                  <a:pt x="208799" y="266700"/>
                </a:lnTo>
                <a:lnTo>
                  <a:pt x="218290" y="238125"/>
                </a:lnTo>
                <a:lnTo>
                  <a:pt x="227781" y="219075"/>
                </a:lnTo>
                <a:lnTo>
                  <a:pt x="237272" y="209550"/>
                </a:lnTo>
                <a:lnTo>
                  <a:pt x="246762" y="209550"/>
                </a:lnTo>
                <a:lnTo>
                  <a:pt x="256253" y="204788"/>
                </a:lnTo>
                <a:lnTo>
                  <a:pt x="265744" y="175260"/>
                </a:lnTo>
                <a:lnTo>
                  <a:pt x="275235" y="147638"/>
                </a:lnTo>
                <a:lnTo>
                  <a:pt x="284726" y="119063"/>
                </a:lnTo>
                <a:lnTo>
                  <a:pt x="294217" y="104775"/>
                </a:lnTo>
                <a:lnTo>
                  <a:pt x="303708" y="79375"/>
                </a:lnTo>
                <a:lnTo>
                  <a:pt x="313198" y="85725"/>
                </a:lnTo>
                <a:lnTo>
                  <a:pt x="322689" y="95250"/>
                </a:lnTo>
                <a:lnTo>
                  <a:pt x="332180" y="116681"/>
                </a:lnTo>
                <a:lnTo>
                  <a:pt x="341671" y="135731"/>
                </a:lnTo>
                <a:lnTo>
                  <a:pt x="351162" y="146050"/>
                </a:lnTo>
                <a:lnTo>
                  <a:pt x="360653" y="142875"/>
                </a:lnTo>
                <a:lnTo>
                  <a:pt x="370144" y="133350"/>
                </a:lnTo>
                <a:lnTo>
                  <a:pt x="379634" y="139700"/>
                </a:lnTo>
                <a:lnTo>
                  <a:pt x="389125" y="166688"/>
                </a:lnTo>
                <a:lnTo>
                  <a:pt x="398616" y="176213"/>
                </a:lnTo>
                <a:lnTo>
                  <a:pt x="408107" y="166688"/>
                </a:lnTo>
                <a:lnTo>
                  <a:pt x="417598" y="147638"/>
                </a:lnTo>
                <a:lnTo>
                  <a:pt x="427089" y="120650"/>
                </a:lnTo>
                <a:lnTo>
                  <a:pt x="436580" y="100013"/>
                </a:lnTo>
                <a:lnTo>
                  <a:pt x="446070" y="76200"/>
                </a:lnTo>
                <a:lnTo>
                  <a:pt x="455561" y="61913"/>
                </a:lnTo>
                <a:lnTo>
                  <a:pt x="465052" y="66675"/>
                </a:lnTo>
                <a:lnTo>
                  <a:pt x="474543" y="80963"/>
                </a:lnTo>
                <a:lnTo>
                  <a:pt x="484034" y="76200"/>
                </a:lnTo>
                <a:lnTo>
                  <a:pt x="493525" y="76200"/>
                </a:lnTo>
                <a:lnTo>
                  <a:pt x="503016" y="57150"/>
                </a:lnTo>
                <a:lnTo>
                  <a:pt x="512506" y="23813"/>
                </a:lnTo>
                <a:lnTo>
                  <a:pt x="521997" y="0"/>
                </a:lnTo>
                <a:lnTo>
                  <a:pt x="531488" y="0"/>
                </a:lnTo>
                <a:lnTo>
                  <a:pt x="540979" y="0"/>
                </a:lnTo>
                <a:lnTo>
                  <a:pt x="550470" y="30956"/>
                </a:lnTo>
                <a:lnTo>
                  <a:pt x="559961" y="42863"/>
                </a:lnTo>
                <a:lnTo>
                  <a:pt x="569452" y="74613"/>
                </a:lnTo>
                <a:lnTo>
                  <a:pt x="578942" y="114300"/>
                </a:lnTo>
                <a:lnTo>
                  <a:pt x="588433" y="166688"/>
                </a:lnTo>
                <a:lnTo>
                  <a:pt x="597924" y="204788"/>
                </a:lnTo>
                <a:lnTo>
                  <a:pt x="607415" y="212725"/>
                </a:lnTo>
                <a:lnTo>
                  <a:pt x="616906" y="209550"/>
                </a:lnTo>
                <a:lnTo>
                  <a:pt x="626397" y="211931"/>
                </a:lnTo>
                <a:lnTo>
                  <a:pt x="635888" y="243840"/>
                </a:lnTo>
                <a:lnTo>
                  <a:pt x="645378" y="278130"/>
                </a:lnTo>
                <a:lnTo>
                  <a:pt x="654869" y="314325"/>
                </a:lnTo>
                <a:lnTo>
                  <a:pt x="664360" y="352425"/>
                </a:lnTo>
                <a:lnTo>
                  <a:pt x="673851" y="378619"/>
                </a:lnTo>
                <a:lnTo>
                  <a:pt x="683342" y="377825"/>
                </a:lnTo>
                <a:lnTo>
                  <a:pt x="692833" y="352425"/>
                </a:lnTo>
                <a:lnTo>
                  <a:pt x="702324" y="328613"/>
                </a:lnTo>
                <a:lnTo>
                  <a:pt x="711815" y="285750"/>
                </a:lnTo>
                <a:lnTo>
                  <a:pt x="721305" y="276225"/>
                </a:lnTo>
                <a:lnTo>
                  <a:pt x="730796" y="271463"/>
                </a:lnTo>
                <a:lnTo>
                  <a:pt x="740287" y="257175"/>
                </a:lnTo>
                <a:lnTo>
                  <a:pt x="749778" y="228600"/>
                </a:lnTo>
                <a:lnTo>
                  <a:pt x="759269" y="200025"/>
                </a:lnTo>
                <a:lnTo>
                  <a:pt x="768760" y="190500"/>
                </a:lnTo>
                <a:lnTo>
                  <a:pt x="778251" y="185738"/>
                </a:lnTo>
                <a:lnTo>
                  <a:pt x="787741" y="209550"/>
                </a:lnTo>
                <a:lnTo>
                  <a:pt x="797232" y="238125"/>
                </a:lnTo>
                <a:lnTo>
                  <a:pt x="806723" y="247650"/>
                </a:lnTo>
                <a:lnTo>
                  <a:pt x="816214" y="233363"/>
                </a:lnTo>
                <a:lnTo>
                  <a:pt x="825705" y="212725"/>
                </a:lnTo>
                <a:lnTo>
                  <a:pt x="835196" y="185738"/>
                </a:lnTo>
                <a:lnTo>
                  <a:pt x="844687" y="161925"/>
                </a:lnTo>
                <a:lnTo>
                  <a:pt x="854177" y="161925"/>
                </a:lnTo>
                <a:lnTo>
                  <a:pt x="863668" y="161925"/>
                </a:lnTo>
                <a:lnTo>
                  <a:pt x="873159" y="185738"/>
                </a:lnTo>
                <a:lnTo>
                  <a:pt x="882650" y="204788"/>
                </a:lnTo>
                <a:lnTo>
                  <a:pt x="892141" y="228600"/>
                </a:lnTo>
                <a:lnTo>
                  <a:pt x="901632" y="250825"/>
                </a:lnTo>
                <a:lnTo>
                  <a:pt x="911123" y="280988"/>
                </a:lnTo>
                <a:lnTo>
                  <a:pt x="920613" y="300038"/>
                </a:lnTo>
                <a:lnTo>
                  <a:pt x="930104" y="307975"/>
                </a:lnTo>
                <a:lnTo>
                  <a:pt x="939595" y="300038"/>
                </a:lnTo>
                <a:lnTo>
                  <a:pt x="949086" y="280988"/>
                </a:lnTo>
                <a:lnTo>
                  <a:pt x="958577" y="263525"/>
                </a:lnTo>
                <a:lnTo>
                  <a:pt x="968068" y="257175"/>
                </a:lnTo>
                <a:lnTo>
                  <a:pt x="977559" y="257175"/>
                </a:lnTo>
                <a:lnTo>
                  <a:pt x="987049" y="280988"/>
                </a:lnTo>
                <a:lnTo>
                  <a:pt x="996540" y="309563"/>
                </a:lnTo>
                <a:lnTo>
                  <a:pt x="1006031" y="338138"/>
                </a:lnTo>
                <a:lnTo>
                  <a:pt x="1015522" y="357188"/>
                </a:lnTo>
                <a:lnTo>
                  <a:pt x="1025013" y="352425"/>
                </a:lnTo>
                <a:lnTo>
                  <a:pt x="1034504" y="342900"/>
                </a:lnTo>
                <a:lnTo>
                  <a:pt x="1043995" y="338138"/>
                </a:lnTo>
                <a:lnTo>
                  <a:pt x="1053485" y="358775"/>
                </a:lnTo>
                <a:lnTo>
                  <a:pt x="1062976" y="387350"/>
                </a:lnTo>
                <a:lnTo>
                  <a:pt x="1072467" y="415925"/>
                </a:lnTo>
                <a:lnTo>
                  <a:pt x="1081958" y="423863"/>
                </a:lnTo>
                <a:lnTo>
                  <a:pt x="1091449" y="419100"/>
                </a:lnTo>
                <a:lnTo>
                  <a:pt x="1100940" y="406400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59" name="Element 59">
            <a:extLst>
              <a:ext uri="{FF2B5EF4-FFF2-40B4-BE49-F238E27FC236}">
                <a16:creationId xmlns:a16="http://schemas.microsoft.com/office/drawing/2014/main" id="{68A60E18-EB94-0D96-DE85-B7B07FFD26E0}"/>
              </a:ext>
            </a:extLst>
          </p:cNvPr>
          <p:cNvSpPr/>
          <p:nvPr/>
        </p:nvSpPr>
        <p:spPr>
          <a:xfrm>
            <a:off x="1768760" y="4976241"/>
            <a:ext cx="357027" cy="398145"/>
          </a:xfrm>
          <a:prstGeom prst="rect">
            <a:avLst/>
          </a:prstGeom>
          <a:solidFill>
            <a:srgbClr val="FFFFFF"/>
          </a:solidFill>
          <a:ln w="11430">
            <a:solidFill>
              <a:srgbClr val="173D65"/>
            </a:solidFill>
            <a:prstDash val="dash"/>
          </a:ln>
        </p:spPr>
      </p:sp>
      <p:sp>
        <p:nvSpPr>
          <p:cNvPr id="60" name="Element 60">
            <a:extLst>
              <a:ext uri="{FF2B5EF4-FFF2-40B4-BE49-F238E27FC236}">
                <a16:creationId xmlns:a16="http://schemas.microsoft.com/office/drawing/2014/main" id="{3EACCF1B-E852-DD36-739F-FC88BE2CEED9}"/>
              </a:ext>
            </a:extLst>
          </p:cNvPr>
          <p:cNvSpPr/>
          <p:nvPr/>
        </p:nvSpPr>
        <p:spPr>
          <a:xfrm>
            <a:off x="3600450" y="4781550"/>
            <a:ext cx="1428750" cy="847725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Element 61">
            <a:extLst>
              <a:ext uri="{FF2B5EF4-FFF2-40B4-BE49-F238E27FC236}">
                <a16:creationId xmlns:a16="http://schemas.microsoft.com/office/drawing/2014/main" id="{3E8244EF-81F3-440F-B2B1-DDA96464F16B}"/>
              </a:ext>
            </a:extLst>
          </p:cNvPr>
          <p:cNvSpPr txBox="1"/>
          <p:nvPr/>
        </p:nvSpPr>
        <p:spPr>
          <a:xfrm>
            <a:off x="3629025" y="4819650"/>
            <a:ext cx="1371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Best Action</a:t>
            </a:r>
          </a:p>
        </p:txBody>
      </p:sp>
      <p:sp>
        <p:nvSpPr>
          <p:cNvPr id="62" name="Element 62">
            <a:extLst>
              <a:ext uri="{FF2B5EF4-FFF2-40B4-BE49-F238E27FC236}">
                <a16:creationId xmlns:a16="http://schemas.microsoft.com/office/drawing/2014/main" id="{21E67AFE-EF26-3D5A-FAC4-A46E8F29E497}"/>
              </a:ext>
            </a:extLst>
          </p:cNvPr>
          <p:cNvSpPr/>
          <p:nvPr/>
        </p:nvSpPr>
        <p:spPr>
          <a:xfrm>
            <a:off x="3695700" y="5143500"/>
            <a:ext cx="1238250" cy="36195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Element 63">
            <a:extLst>
              <a:ext uri="{FF2B5EF4-FFF2-40B4-BE49-F238E27FC236}">
                <a16:creationId xmlns:a16="http://schemas.microsoft.com/office/drawing/2014/main" id="{C2311CB1-11C1-DEAC-CCDC-3325315433DE}"/>
              </a:ext>
            </a:extLst>
          </p:cNvPr>
          <p:cNvSpPr txBox="1"/>
          <p:nvPr/>
        </p:nvSpPr>
        <p:spPr>
          <a:xfrm>
            <a:off x="3714750" y="5172075"/>
            <a:ext cx="12001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Repair_2</a:t>
            </a:r>
          </a:p>
        </p:txBody>
      </p:sp>
      <p:graphicFrame>
        <p:nvGraphicFramePr>
          <p:cNvPr id="305" name="表格 304">
            <a:extLst>
              <a:ext uri="{FF2B5EF4-FFF2-40B4-BE49-F238E27FC236}">
                <a16:creationId xmlns:a16="http://schemas.microsoft.com/office/drawing/2014/main" id="{B834CE4A-AF57-20CB-9542-6BBE420CD8C7}"/>
              </a:ext>
            </a:extLst>
          </p:cNvPr>
          <p:cNvGraphicFramePr/>
          <p:nvPr/>
        </p:nvGraphicFramePr>
        <p:xfrm>
          <a:off x="295275" y="6010275"/>
          <a:ext cx="4772025" cy="1463040"/>
        </p:xfrm>
        <a:graphic>
          <a:graphicData uri="http://schemas.openxmlformats.org/drawingml/2006/table">
            <a:tbl>
              <a:tblPr/>
              <a:tblGrid>
                <a:gridCol w="116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1B41"/>
                          </a:solidFill>
                          <a:latin typeface="Calibri"/>
                          <a:ea typeface="Calibri"/>
                          <a:cs typeface="Calibri"/>
                        </a:rPr>
                        <a:t>Request</a:t>
                      </a:r>
                    </a:p>
                  </a:txBody>
                  <a:tcPr anchor="ctr">
                    <a:solidFill>
                      <a:srgbClr val="CCD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1B41"/>
                          </a:solidFill>
                          <a:latin typeface="Calibri"/>
                          <a:ea typeface="Calibri"/>
                          <a:cs typeface="Calibri"/>
                        </a:rPr>
                        <a:t>Context Type</a:t>
                      </a:r>
                    </a:p>
                  </a:txBody>
                  <a:tcPr anchor="ctr">
                    <a:solidFill>
                      <a:srgbClr val="CCD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1B41"/>
                          </a:solidFill>
                          <a:latin typeface="Calibri"/>
                          <a:ea typeface="Calibri"/>
                          <a:cs typeface="Calibri"/>
                        </a:rPr>
                        <a:t>Best Action</a:t>
                      </a:r>
                    </a:p>
                  </a:txBody>
                  <a:tcPr anchor="ctr">
                    <a:solidFill>
                      <a:srgbClr val="CCD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1B41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1B41"/>
                          </a:solidFill>
                          <a:latin typeface="Calibri"/>
                          <a:ea typeface="Calibri"/>
                          <a:cs typeface="Calibri"/>
                        </a:rPr>
                        <a:t>Sufficient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1B41"/>
                          </a:solidFill>
                          <a:latin typeface="Calibri"/>
                          <a:ea typeface="Calibri"/>
                          <a:cs typeface="Calibri"/>
                        </a:rPr>
                        <a:t>KEEP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1B41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1B41"/>
                          </a:solidFill>
                          <a:latin typeface="Calibri"/>
                          <a:ea typeface="Calibri"/>
                          <a:cs typeface="Calibri"/>
                        </a:rPr>
                        <a:t>Repeating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1B41"/>
                          </a:solidFill>
                          <a:latin typeface="Calibri"/>
                          <a:ea typeface="Calibri"/>
                          <a:cs typeface="Calibri"/>
                        </a:rPr>
                        <a:t>Repair_1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1B41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1B41"/>
                          </a:solidFill>
                          <a:latin typeface="Calibri"/>
                          <a:ea typeface="Calibri"/>
                          <a:cs typeface="Calibri"/>
                        </a:rPr>
                        <a:t>Complex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1B41"/>
                          </a:solidFill>
                          <a:latin typeface="Calibri"/>
                          <a:ea typeface="Calibri"/>
                          <a:cs typeface="Calibri"/>
                        </a:rPr>
                        <a:t>Repair_2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5" name="Element 64">
            <a:extLst>
              <a:ext uri="{FF2B5EF4-FFF2-40B4-BE49-F238E27FC236}">
                <a16:creationId xmlns:a16="http://schemas.microsoft.com/office/drawing/2014/main" id="{468BA8EE-8EE7-EBE7-6C2F-F9D986D75D60}"/>
              </a:ext>
            </a:extLst>
          </p:cNvPr>
          <p:cNvSpPr/>
          <p:nvPr/>
        </p:nvSpPr>
        <p:spPr>
          <a:xfrm>
            <a:off x="238125" y="7625750"/>
            <a:ext cx="4886325" cy="673700"/>
          </a:xfrm>
          <a:prstGeom prst="rect">
            <a:avLst/>
          </a:prstGeom>
          <a:solidFill>
            <a:srgbClr val="173D65"/>
          </a:solidFill>
          <a:ln w="12383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Element 65">
            <a:extLst>
              <a:ext uri="{FF2B5EF4-FFF2-40B4-BE49-F238E27FC236}">
                <a16:creationId xmlns:a16="http://schemas.microsoft.com/office/drawing/2014/main" id="{C85EE5DF-A52F-2813-40AF-B7649C29780C}"/>
              </a:ext>
            </a:extLst>
          </p:cNvPr>
          <p:cNvSpPr txBox="1"/>
          <p:nvPr/>
        </p:nvSpPr>
        <p:spPr>
          <a:xfrm>
            <a:off x="376237" y="7693777"/>
            <a:ext cx="4638675" cy="4572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ea typeface="Calibri"/>
                <a:cs typeface="Calibri"/>
              </a:rPr>
              <a:t>Different Requests, Different Actions</a:t>
            </a:r>
          </a:p>
        </p:txBody>
      </p:sp>
      <p:sp>
        <p:nvSpPr>
          <p:cNvPr id="69" name="Element 68">
            <a:extLst>
              <a:ext uri="{FF2B5EF4-FFF2-40B4-BE49-F238E27FC236}">
                <a16:creationId xmlns:a16="http://schemas.microsoft.com/office/drawing/2014/main" id="{F7E4500F-1FC4-EF36-195A-B3932E9D4D0E}"/>
              </a:ext>
            </a:extLst>
          </p:cNvPr>
          <p:cNvSpPr/>
          <p:nvPr/>
        </p:nvSpPr>
        <p:spPr>
          <a:xfrm>
            <a:off x="5514975" y="1009650"/>
            <a:ext cx="4867275" cy="152400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Element 71">
            <a:extLst>
              <a:ext uri="{FF2B5EF4-FFF2-40B4-BE49-F238E27FC236}">
                <a16:creationId xmlns:a16="http://schemas.microsoft.com/office/drawing/2014/main" id="{EA07D49B-5BE9-2621-6C98-1783C6495F51}"/>
              </a:ext>
            </a:extLst>
          </p:cNvPr>
          <p:cNvSpPr txBox="1"/>
          <p:nvPr/>
        </p:nvSpPr>
        <p:spPr>
          <a:xfrm>
            <a:off x="6067425" y="1047750"/>
            <a:ext cx="42100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Historical Windows (TRAIN)</a:t>
            </a:r>
          </a:p>
        </p:txBody>
      </p:sp>
      <p:sp>
        <p:nvSpPr>
          <p:cNvPr id="73" name="Element 72">
            <a:extLst>
              <a:ext uri="{FF2B5EF4-FFF2-40B4-BE49-F238E27FC236}">
                <a16:creationId xmlns:a16="http://schemas.microsoft.com/office/drawing/2014/main" id="{B6F98E38-C298-C7EB-0A9E-44092E3597C8}"/>
              </a:ext>
            </a:extLst>
          </p:cNvPr>
          <p:cNvSpPr/>
          <p:nvPr/>
        </p:nvSpPr>
        <p:spPr>
          <a:xfrm>
            <a:off x="6229350" y="1485900"/>
            <a:ext cx="2390775" cy="628650"/>
          </a:xfrm>
          <a:prstGeom prst="rect">
            <a:avLst/>
          </a:prstGeom>
          <a:solidFill>
            <a:srgbClr val="F4F7FA"/>
          </a:solidFill>
          <a:ln w="12383">
            <a:solidFill>
              <a:srgbClr val="54789A"/>
            </a:solidFill>
          </a:ln>
        </p:spPr>
      </p:sp>
      <p:sp>
        <p:nvSpPr>
          <p:cNvPr id="74" name="Element 73">
            <a:extLst>
              <a:ext uri="{FF2B5EF4-FFF2-40B4-BE49-F238E27FC236}">
                <a16:creationId xmlns:a16="http://schemas.microsoft.com/office/drawing/2014/main" id="{C44C1522-64B5-8B43-28AE-E4E87BF68AE5}"/>
              </a:ext>
            </a:extLst>
          </p:cNvPr>
          <p:cNvSpPr/>
          <p:nvPr/>
        </p:nvSpPr>
        <p:spPr>
          <a:xfrm>
            <a:off x="6010275" y="1600200"/>
            <a:ext cx="2390775" cy="628650"/>
          </a:xfrm>
          <a:prstGeom prst="rect">
            <a:avLst/>
          </a:prstGeom>
          <a:solidFill>
            <a:srgbClr val="F4F7FA"/>
          </a:solidFill>
          <a:ln w="12383">
            <a:solidFill>
              <a:srgbClr val="54789A"/>
            </a:solidFill>
          </a:ln>
        </p:spPr>
      </p:sp>
      <p:sp>
        <p:nvSpPr>
          <p:cNvPr id="75" name="Element 74">
            <a:extLst>
              <a:ext uri="{FF2B5EF4-FFF2-40B4-BE49-F238E27FC236}">
                <a16:creationId xmlns:a16="http://schemas.microsoft.com/office/drawing/2014/main" id="{48B90B7C-4391-A6DC-10F2-8148A5E46A39}"/>
              </a:ext>
            </a:extLst>
          </p:cNvPr>
          <p:cNvSpPr/>
          <p:nvPr/>
        </p:nvSpPr>
        <p:spPr>
          <a:xfrm>
            <a:off x="5791200" y="1714500"/>
            <a:ext cx="2390775" cy="628650"/>
          </a:xfrm>
          <a:prstGeom prst="rect">
            <a:avLst/>
          </a:prstGeom>
          <a:solidFill>
            <a:srgbClr val="F4F7FA"/>
          </a:solidFill>
          <a:ln w="12383">
            <a:solidFill>
              <a:srgbClr val="54789A"/>
            </a:solidFill>
          </a:ln>
        </p:spPr>
      </p:sp>
      <p:sp>
        <p:nvSpPr>
          <p:cNvPr id="76" name="Editable Curve 75">
            <a:extLst>
              <a:ext uri="{FF2B5EF4-FFF2-40B4-BE49-F238E27FC236}">
                <a16:creationId xmlns:a16="http://schemas.microsoft.com/office/drawing/2014/main" id="{A0D8D05F-5EDC-4049-65FC-F3647D9ACC5D}"/>
              </a:ext>
            </a:extLst>
          </p:cNvPr>
          <p:cNvSpPr/>
          <p:nvPr/>
        </p:nvSpPr>
        <p:spPr>
          <a:xfrm>
            <a:off x="5905012" y="1932725"/>
            <a:ext cx="2125052" cy="291788"/>
          </a:xfrm>
          <a:custGeom>
            <a:avLst/>
            <a:gdLst/>
            <a:ahLst/>
            <a:cxnLst/>
            <a:rect l="0" t="0" r="0" b="0"/>
            <a:pathLst>
              <a:path w="2125052" h="291788">
                <a:moveTo>
                  <a:pt x="0" y="215843"/>
                </a:moveTo>
                <a:lnTo>
                  <a:pt x="9403" y="231832"/>
                </a:lnTo>
                <a:lnTo>
                  <a:pt x="18806" y="227835"/>
                </a:lnTo>
                <a:lnTo>
                  <a:pt x="28209" y="215843"/>
                </a:lnTo>
                <a:lnTo>
                  <a:pt x="37612" y="191861"/>
                </a:lnTo>
                <a:lnTo>
                  <a:pt x="47014" y="178537"/>
                </a:lnTo>
                <a:lnTo>
                  <a:pt x="56417" y="147893"/>
                </a:lnTo>
                <a:lnTo>
                  <a:pt x="65820" y="127907"/>
                </a:lnTo>
                <a:lnTo>
                  <a:pt x="75223" y="127907"/>
                </a:lnTo>
                <a:lnTo>
                  <a:pt x="84626" y="143896"/>
                </a:lnTo>
                <a:lnTo>
                  <a:pt x="94029" y="143896"/>
                </a:lnTo>
                <a:lnTo>
                  <a:pt x="103432" y="143896"/>
                </a:lnTo>
                <a:lnTo>
                  <a:pt x="112835" y="115916"/>
                </a:lnTo>
                <a:lnTo>
                  <a:pt x="122238" y="95930"/>
                </a:lnTo>
                <a:lnTo>
                  <a:pt x="131640" y="95930"/>
                </a:lnTo>
                <a:lnTo>
                  <a:pt x="141043" y="121512"/>
                </a:lnTo>
                <a:lnTo>
                  <a:pt x="150446" y="141231"/>
                </a:lnTo>
                <a:lnTo>
                  <a:pt x="159849" y="159884"/>
                </a:lnTo>
                <a:lnTo>
                  <a:pt x="169252" y="155887"/>
                </a:lnTo>
                <a:lnTo>
                  <a:pt x="178655" y="163881"/>
                </a:lnTo>
                <a:lnTo>
                  <a:pt x="188058" y="175872"/>
                </a:lnTo>
                <a:lnTo>
                  <a:pt x="197461" y="179869"/>
                </a:lnTo>
                <a:lnTo>
                  <a:pt x="206863" y="175872"/>
                </a:lnTo>
                <a:lnTo>
                  <a:pt x="216266" y="179869"/>
                </a:lnTo>
                <a:lnTo>
                  <a:pt x="225669" y="191861"/>
                </a:lnTo>
                <a:lnTo>
                  <a:pt x="235072" y="219840"/>
                </a:lnTo>
                <a:lnTo>
                  <a:pt x="244475" y="231832"/>
                </a:lnTo>
                <a:lnTo>
                  <a:pt x="253878" y="231832"/>
                </a:lnTo>
                <a:lnTo>
                  <a:pt x="263281" y="207849"/>
                </a:lnTo>
                <a:lnTo>
                  <a:pt x="272684" y="178537"/>
                </a:lnTo>
                <a:lnTo>
                  <a:pt x="282087" y="159884"/>
                </a:lnTo>
                <a:lnTo>
                  <a:pt x="291489" y="147893"/>
                </a:lnTo>
                <a:lnTo>
                  <a:pt x="300892" y="155887"/>
                </a:lnTo>
                <a:lnTo>
                  <a:pt x="310295" y="167878"/>
                </a:lnTo>
                <a:lnTo>
                  <a:pt x="319698" y="163881"/>
                </a:lnTo>
                <a:lnTo>
                  <a:pt x="329101" y="167878"/>
                </a:lnTo>
                <a:lnTo>
                  <a:pt x="338504" y="183867"/>
                </a:lnTo>
                <a:lnTo>
                  <a:pt x="347907" y="203852"/>
                </a:lnTo>
                <a:lnTo>
                  <a:pt x="357310" y="203852"/>
                </a:lnTo>
                <a:lnTo>
                  <a:pt x="366713" y="175872"/>
                </a:lnTo>
                <a:lnTo>
                  <a:pt x="376115" y="151890"/>
                </a:lnTo>
                <a:lnTo>
                  <a:pt x="385518" y="135901"/>
                </a:lnTo>
                <a:lnTo>
                  <a:pt x="394921" y="119913"/>
                </a:lnTo>
                <a:lnTo>
                  <a:pt x="404324" y="99927"/>
                </a:lnTo>
                <a:lnTo>
                  <a:pt x="413727" y="82607"/>
                </a:lnTo>
                <a:lnTo>
                  <a:pt x="423130" y="50630"/>
                </a:lnTo>
                <a:lnTo>
                  <a:pt x="432533" y="47965"/>
                </a:lnTo>
                <a:lnTo>
                  <a:pt x="441936" y="63954"/>
                </a:lnTo>
                <a:lnTo>
                  <a:pt x="451338" y="92733"/>
                </a:lnTo>
                <a:lnTo>
                  <a:pt x="460741" y="111919"/>
                </a:lnTo>
                <a:lnTo>
                  <a:pt x="470144" y="109254"/>
                </a:lnTo>
                <a:lnTo>
                  <a:pt x="479547" y="87936"/>
                </a:lnTo>
                <a:lnTo>
                  <a:pt x="488950" y="59956"/>
                </a:lnTo>
                <a:lnTo>
                  <a:pt x="498353" y="27180"/>
                </a:lnTo>
                <a:lnTo>
                  <a:pt x="507756" y="0"/>
                </a:lnTo>
                <a:lnTo>
                  <a:pt x="517159" y="0"/>
                </a:lnTo>
                <a:lnTo>
                  <a:pt x="526562" y="36545"/>
                </a:lnTo>
                <a:lnTo>
                  <a:pt x="535964" y="70615"/>
                </a:lnTo>
                <a:lnTo>
                  <a:pt x="545367" y="103925"/>
                </a:lnTo>
                <a:lnTo>
                  <a:pt x="554770" y="107922"/>
                </a:lnTo>
                <a:lnTo>
                  <a:pt x="564173" y="111919"/>
                </a:lnTo>
                <a:lnTo>
                  <a:pt x="573576" y="127907"/>
                </a:lnTo>
                <a:lnTo>
                  <a:pt x="582979" y="174273"/>
                </a:lnTo>
                <a:lnTo>
                  <a:pt x="592382" y="199855"/>
                </a:lnTo>
                <a:lnTo>
                  <a:pt x="601785" y="223838"/>
                </a:lnTo>
                <a:lnTo>
                  <a:pt x="611188" y="227835"/>
                </a:lnTo>
                <a:lnTo>
                  <a:pt x="620590" y="197190"/>
                </a:lnTo>
                <a:lnTo>
                  <a:pt x="629993" y="181202"/>
                </a:lnTo>
                <a:lnTo>
                  <a:pt x="639396" y="167878"/>
                </a:lnTo>
                <a:lnTo>
                  <a:pt x="648799" y="139898"/>
                </a:lnTo>
                <a:lnTo>
                  <a:pt x="658202" y="131904"/>
                </a:lnTo>
                <a:lnTo>
                  <a:pt x="667605" y="139898"/>
                </a:lnTo>
                <a:lnTo>
                  <a:pt x="677008" y="159884"/>
                </a:lnTo>
                <a:lnTo>
                  <a:pt x="686411" y="163881"/>
                </a:lnTo>
                <a:lnTo>
                  <a:pt x="695813" y="159884"/>
                </a:lnTo>
                <a:lnTo>
                  <a:pt x="705216" y="147893"/>
                </a:lnTo>
                <a:lnTo>
                  <a:pt x="714619" y="123910"/>
                </a:lnTo>
                <a:lnTo>
                  <a:pt x="724022" y="107922"/>
                </a:lnTo>
                <a:lnTo>
                  <a:pt x="733425" y="111919"/>
                </a:lnTo>
                <a:lnTo>
                  <a:pt x="742828" y="131904"/>
                </a:lnTo>
                <a:lnTo>
                  <a:pt x="752231" y="154554"/>
                </a:lnTo>
                <a:lnTo>
                  <a:pt x="761634" y="175872"/>
                </a:lnTo>
                <a:lnTo>
                  <a:pt x="771037" y="167878"/>
                </a:lnTo>
                <a:lnTo>
                  <a:pt x="780439" y="163082"/>
                </a:lnTo>
                <a:lnTo>
                  <a:pt x="789842" y="139898"/>
                </a:lnTo>
                <a:lnTo>
                  <a:pt x="799245" y="109254"/>
                </a:lnTo>
                <a:lnTo>
                  <a:pt x="808648" y="91933"/>
                </a:lnTo>
                <a:lnTo>
                  <a:pt x="818051" y="67951"/>
                </a:lnTo>
                <a:lnTo>
                  <a:pt x="827454" y="61289"/>
                </a:lnTo>
                <a:lnTo>
                  <a:pt x="836857" y="75945"/>
                </a:lnTo>
                <a:lnTo>
                  <a:pt x="846260" y="82607"/>
                </a:lnTo>
                <a:lnTo>
                  <a:pt x="855663" y="71948"/>
                </a:lnTo>
                <a:lnTo>
                  <a:pt x="865065" y="45300"/>
                </a:lnTo>
                <a:lnTo>
                  <a:pt x="874468" y="43968"/>
                </a:lnTo>
                <a:lnTo>
                  <a:pt x="883871" y="35974"/>
                </a:lnTo>
                <a:lnTo>
                  <a:pt x="893274" y="35974"/>
                </a:lnTo>
                <a:lnTo>
                  <a:pt x="902677" y="39971"/>
                </a:lnTo>
                <a:lnTo>
                  <a:pt x="912080" y="15988"/>
                </a:lnTo>
                <a:lnTo>
                  <a:pt x="921483" y="1999"/>
                </a:lnTo>
                <a:lnTo>
                  <a:pt x="930886" y="3997"/>
                </a:lnTo>
                <a:lnTo>
                  <a:pt x="940288" y="47965"/>
                </a:lnTo>
                <a:lnTo>
                  <a:pt x="949691" y="71948"/>
                </a:lnTo>
                <a:lnTo>
                  <a:pt x="959094" y="107922"/>
                </a:lnTo>
                <a:lnTo>
                  <a:pt x="968497" y="127907"/>
                </a:lnTo>
                <a:lnTo>
                  <a:pt x="977900" y="143896"/>
                </a:lnTo>
                <a:lnTo>
                  <a:pt x="987303" y="151890"/>
                </a:lnTo>
                <a:lnTo>
                  <a:pt x="996706" y="151890"/>
                </a:lnTo>
                <a:lnTo>
                  <a:pt x="1006109" y="131904"/>
                </a:lnTo>
                <a:lnTo>
                  <a:pt x="1015512" y="107922"/>
                </a:lnTo>
                <a:lnTo>
                  <a:pt x="1024914" y="85271"/>
                </a:lnTo>
                <a:lnTo>
                  <a:pt x="1034317" y="82607"/>
                </a:lnTo>
                <a:lnTo>
                  <a:pt x="1043720" y="99927"/>
                </a:lnTo>
                <a:lnTo>
                  <a:pt x="1053123" y="135901"/>
                </a:lnTo>
                <a:lnTo>
                  <a:pt x="1062526" y="175872"/>
                </a:lnTo>
                <a:lnTo>
                  <a:pt x="1071929" y="186531"/>
                </a:lnTo>
                <a:lnTo>
                  <a:pt x="1081332" y="191861"/>
                </a:lnTo>
                <a:lnTo>
                  <a:pt x="1090735" y="215843"/>
                </a:lnTo>
                <a:lnTo>
                  <a:pt x="1100138" y="243823"/>
                </a:lnTo>
                <a:lnTo>
                  <a:pt x="1109540" y="243823"/>
                </a:lnTo>
                <a:lnTo>
                  <a:pt x="1118943" y="242491"/>
                </a:lnTo>
                <a:lnTo>
                  <a:pt x="1128346" y="219840"/>
                </a:lnTo>
                <a:lnTo>
                  <a:pt x="1137749" y="195858"/>
                </a:lnTo>
                <a:lnTo>
                  <a:pt x="1147152" y="195858"/>
                </a:lnTo>
                <a:lnTo>
                  <a:pt x="1156555" y="211846"/>
                </a:lnTo>
                <a:lnTo>
                  <a:pt x="1165958" y="211846"/>
                </a:lnTo>
                <a:lnTo>
                  <a:pt x="1175361" y="207849"/>
                </a:lnTo>
                <a:lnTo>
                  <a:pt x="1184763" y="191861"/>
                </a:lnTo>
                <a:lnTo>
                  <a:pt x="1194166" y="175872"/>
                </a:lnTo>
                <a:lnTo>
                  <a:pt x="1203569" y="171875"/>
                </a:lnTo>
                <a:lnTo>
                  <a:pt x="1212972" y="163881"/>
                </a:lnTo>
                <a:lnTo>
                  <a:pt x="1222375" y="167878"/>
                </a:lnTo>
                <a:lnTo>
                  <a:pt x="1231778" y="171875"/>
                </a:lnTo>
                <a:lnTo>
                  <a:pt x="1241181" y="155887"/>
                </a:lnTo>
                <a:lnTo>
                  <a:pt x="1250584" y="141231"/>
                </a:lnTo>
                <a:lnTo>
                  <a:pt x="1259987" y="141897"/>
                </a:lnTo>
                <a:lnTo>
                  <a:pt x="1269389" y="167878"/>
                </a:lnTo>
                <a:lnTo>
                  <a:pt x="1278792" y="179869"/>
                </a:lnTo>
                <a:lnTo>
                  <a:pt x="1288195" y="183867"/>
                </a:lnTo>
                <a:lnTo>
                  <a:pt x="1297598" y="205184"/>
                </a:lnTo>
                <a:lnTo>
                  <a:pt x="1307001" y="215843"/>
                </a:lnTo>
                <a:lnTo>
                  <a:pt x="1316404" y="223838"/>
                </a:lnTo>
                <a:lnTo>
                  <a:pt x="1325807" y="215843"/>
                </a:lnTo>
                <a:lnTo>
                  <a:pt x="1335210" y="215843"/>
                </a:lnTo>
                <a:lnTo>
                  <a:pt x="1344613" y="223838"/>
                </a:lnTo>
                <a:lnTo>
                  <a:pt x="1354015" y="243823"/>
                </a:lnTo>
                <a:lnTo>
                  <a:pt x="1363418" y="243823"/>
                </a:lnTo>
                <a:lnTo>
                  <a:pt x="1372821" y="219840"/>
                </a:lnTo>
                <a:lnTo>
                  <a:pt x="1382224" y="203852"/>
                </a:lnTo>
                <a:lnTo>
                  <a:pt x="1391627" y="187864"/>
                </a:lnTo>
                <a:lnTo>
                  <a:pt x="1401030" y="171875"/>
                </a:lnTo>
                <a:lnTo>
                  <a:pt x="1410433" y="151890"/>
                </a:lnTo>
                <a:lnTo>
                  <a:pt x="1419836" y="115916"/>
                </a:lnTo>
                <a:lnTo>
                  <a:pt x="1429238" y="111919"/>
                </a:lnTo>
                <a:lnTo>
                  <a:pt x="1438641" y="127907"/>
                </a:lnTo>
                <a:lnTo>
                  <a:pt x="1448044" y="149891"/>
                </a:lnTo>
                <a:lnTo>
                  <a:pt x="1457447" y="151890"/>
                </a:lnTo>
                <a:lnTo>
                  <a:pt x="1466850" y="127907"/>
                </a:lnTo>
                <a:lnTo>
                  <a:pt x="1476253" y="107922"/>
                </a:lnTo>
                <a:lnTo>
                  <a:pt x="1485656" y="103925"/>
                </a:lnTo>
                <a:lnTo>
                  <a:pt x="1495059" y="107922"/>
                </a:lnTo>
                <a:lnTo>
                  <a:pt x="1504462" y="145494"/>
                </a:lnTo>
                <a:lnTo>
                  <a:pt x="1513864" y="191861"/>
                </a:lnTo>
                <a:lnTo>
                  <a:pt x="1523267" y="207849"/>
                </a:lnTo>
                <a:lnTo>
                  <a:pt x="1532670" y="227835"/>
                </a:lnTo>
                <a:lnTo>
                  <a:pt x="1542073" y="231832"/>
                </a:lnTo>
                <a:lnTo>
                  <a:pt x="1551476" y="231832"/>
                </a:lnTo>
                <a:lnTo>
                  <a:pt x="1560879" y="249419"/>
                </a:lnTo>
                <a:lnTo>
                  <a:pt x="1570282" y="275800"/>
                </a:lnTo>
                <a:lnTo>
                  <a:pt x="1579685" y="291788"/>
                </a:lnTo>
                <a:lnTo>
                  <a:pt x="1589088" y="291788"/>
                </a:lnTo>
                <a:lnTo>
                  <a:pt x="1598490" y="282462"/>
                </a:lnTo>
                <a:lnTo>
                  <a:pt x="1607893" y="255814"/>
                </a:lnTo>
                <a:lnTo>
                  <a:pt x="1617296" y="245155"/>
                </a:lnTo>
                <a:lnTo>
                  <a:pt x="1626699" y="231832"/>
                </a:lnTo>
                <a:lnTo>
                  <a:pt x="1636102" y="203852"/>
                </a:lnTo>
                <a:lnTo>
                  <a:pt x="1645505" y="193859"/>
                </a:lnTo>
                <a:lnTo>
                  <a:pt x="1654908" y="199855"/>
                </a:lnTo>
                <a:lnTo>
                  <a:pt x="1664311" y="219840"/>
                </a:lnTo>
                <a:lnTo>
                  <a:pt x="1673713" y="223838"/>
                </a:lnTo>
                <a:lnTo>
                  <a:pt x="1683116" y="215843"/>
                </a:lnTo>
                <a:lnTo>
                  <a:pt x="1692519" y="219840"/>
                </a:lnTo>
                <a:lnTo>
                  <a:pt x="1701922" y="227835"/>
                </a:lnTo>
                <a:lnTo>
                  <a:pt x="1711325" y="227835"/>
                </a:lnTo>
                <a:lnTo>
                  <a:pt x="1720728" y="219840"/>
                </a:lnTo>
                <a:lnTo>
                  <a:pt x="1730131" y="203852"/>
                </a:lnTo>
                <a:lnTo>
                  <a:pt x="1739534" y="189196"/>
                </a:lnTo>
                <a:lnTo>
                  <a:pt x="1748937" y="175872"/>
                </a:lnTo>
                <a:lnTo>
                  <a:pt x="1758339" y="163881"/>
                </a:lnTo>
                <a:lnTo>
                  <a:pt x="1767742" y="155887"/>
                </a:lnTo>
                <a:lnTo>
                  <a:pt x="1777145" y="143896"/>
                </a:lnTo>
                <a:lnTo>
                  <a:pt x="1786548" y="151890"/>
                </a:lnTo>
                <a:lnTo>
                  <a:pt x="1795951" y="147893"/>
                </a:lnTo>
                <a:lnTo>
                  <a:pt x="1805354" y="147893"/>
                </a:lnTo>
                <a:lnTo>
                  <a:pt x="1814757" y="119913"/>
                </a:lnTo>
                <a:lnTo>
                  <a:pt x="1824160" y="107922"/>
                </a:lnTo>
                <a:lnTo>
                  <a:pt x="1833563" y="93266"/>
                </a:lnTo>
                <a:lnTo>
                  <a:pt x="1842965" y="79942"/>
                </a:lnTo>
                <a:lnTo>
                  <a:pt x="1852368" y="79942"/>
                </a:lnTo>
                <a:lnTo>
                  <a:pt x="1861771" y="83939"/>
                </a:lnTo>
                <a:lnTo>
                  <a:pt x="1871174" y="101260"/>
                </a:lnTo>
                <a:lnTo>
                  <a:pt x="1880577" y="122578"/>
                </a:lnTo>
                <a:lnTo>
                  <a:pt x="1889980" y="135901"/>
                </a:lnTo>
                <a:lnTo>
                  <a:pt x="1899383" y="127907"/>
                </a:lnTo>
                <a:lnTo>
                  <a:pt x="1908786" y="135901"/>
                </a:lnTo>
                <a:lnTo>
                  <a:pt x="1918188" y="139898"/>
                </a:lnTo>
                <a:lnTo>
                  <a:pt x="1927591" y="147893"/>
                </a:lnTo>
                <a:lnTo>
                  <a:pt x="1936994" y="143896"/>
                </a:lnTo>
                <a:lnTo>
                  <a:pt x="1946397" y="143896"/>
                </a:lnTo>
                <a:lnTo>
                  <a:pt x="1955800" y="155887"/>
                </a:lnTo>
                <a:lnTo>
                  <a:pt x="1965203" y="154554"/>
                </a:lnTo>
                <a:lnTo>
                  <a:pt x="1974606" y="141231"/>
                </a:lnTo>
                <a:lnTo>
                  <a:pt x="1984009" y="127907"/>
                </a:lnTo>
                <a:lnTo>
                  <a:pt x="1993412" y="127907"/>
                </a:lnTo>
                <a:lnTo>
                  <a:pt x="2002814" y="119913"/>
                </a:lnTo>
                <a:lnTo>
                  <a:pt x="2012217" y="99927"/>
                </a:lnTo>
                <a:lnTo>
                  <a:pt x="2021620" y="91933"/>
                </a:lnTo>
                <a:lnTo>
                  <a:pt x="2031023" y="87936"/>
                </a:lnTo>
                <a:lnTo>
                  <a:pt x="2040426" y="99927"/>
                </a:lnTo>
                <a:lnTo>
                  <a:pt x="2049829" y="95930"/>
                </a:lnTo>
                <a:lnTo>
                  <a:pt x="2059232" y="79942"/>
                </a:lnTo>
                <a:lnTo>
                  <a:pt x="2068635" y="66618"/>
                </a:lnTo>
                <a:lnTo>
                  <a:pt x="2078038" y="43968"/>
                </a:lnTo>
                <a:lnTo>
                  <a:pt x="2087440" y="47965"/>
                </a:lnTo>
                <a:lnTo>
                  <a:pt x="2096843" y="59956"/>
                </a:lnTo>
                <a:lnTo>
                  <a:pt x="2106246" y="79942"/>
                </a:lnTo>
                <a:lnTo>
                  <a:pt x="2115649" y="103925"/>
                </a:lnTo>
                <a:lnTo>
                  <a:pt x="2125052" y="103925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77" name="Element 76">
            <a:extLst>
              <a:ext uri="{FF2B5EF4-FFF2-40B4-BE49-F238E27FC236}">
                <a16:creationId xmlns:a16="http://schemas.microsoft.com/office/drawing/2014/main" id="{A2D4A97F-579E-C28A-95A9-DAF90B7ED007}"/>
              </a:ext>
            </a:extLst>
          </p:cNvPr>
          <p:cNvSpPr txBox="1"/>
          <p:nvPr/>
        </p:nvSpPr>
        <p:spPr>
          <a:xfrm>
            <a:off x="8486775" y="176212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600" b="1">
                <a:solidFill>
                  <a:srgbClr val="081B41"/>
                </a:solidFill>
                <a:ea typeface="Calibri"/>
                <a:cs typeface="Calibri"/>
              </a:rPr>
              <a:t>···</a:t>
            </a:r>
          </a:p>
        </p:txBody>
      </p:sp>
      <p:sp>
        <p:nvSpPr>
          <p:cNvPr id="78" name="Element 77">
            <a:extLst>
              <a:ext uri="{FF2B5EF4-FFF2-40B4-BE49-F238E27FC236}">
                <a16:creationId xmlns:a16="http://schemas.microsoft.com/office/drawing/2014/main" id="{05C56C3C-17E5-FDEE-B6FB-8099AE43216A}"/>
              </a:ext>
            </a:extLst>
          </p:cNvPr>
          <p:cNvSpPr txBox="1"/>
          <p:nvPr/>
        </p:nvSpPr>
        <p:spPr>
          <a:xfrm>
            <a:off x="9067556" y="1752600"/>
            <a:ext cx="1390650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80000"/>
              </a:lnSpc>
            </a:pPr>
            <a:r>
              <a:rPr b="1">
                <a:solidFill>
                  <a:srgbClr val="081B41"/>
                </a:solidFill>
                <a:ea typeface="Calibri"/>
                <a:cs typeface="Calibri"/>
              </a:rPr>
              <a:t>Historical</a:t>
            </a:r>
          </a:p>
          <a:p>
            <a:pPr>
              <a:lnSpc>
                <a:spcPct val="80000"/>
              </a:lnSpc>
            </a:pPr>
            <a:r>
              <a:rPr b="1">
                <a:solidFill>
                  <a:srgbClr val="081B41"/>
                </a:solidFill>
                <a:ea typeface="Calibri"/>
                <a:cs typeface="Calibri"/>
              </a:rPr>
              <a:t>Windows</a:t>
            </a:r>
          </a:p>
        </p:txBody>
      </p:sp>
      <p:sp>
        <p:nvSpPr>
          <p:cNvPr id="80" name="Element 79">
            <a:extLst>
              <a:ext uri="{FF2B5EF4-FFF2-40B4-BE49-F238E27FC236}">
                <a16:creationId xmlns:a16="http://schemas.microsoft.com/office/drawing/2014/main" id="{F653F8B4-0418-7110-DB36-8DE8568095B5}"/>
              </a:ext>
            </a:extLst>
          </p:cNvPr>
          <p:cNvSpPr/>
          <p:nvPr/>
        </p:nvSpPr>
        <p:spPr>
          <a:xfrm>
            <a:off x="5514975" y="2743200"/>
            <a:ext cx="4867275" cy="1457325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Element 82">
            <a:extLst>
              <a:ext uri="{FF2B5EF4-FFF2-40B4-BE49-F238E27FC236}">
                <a16:creationId xmlns:a16="http://schemas.microsoft.com/office/drawing/2014/main" id="{5B349C97-99B7-3C56-B44F-5127D40FF7FA}"/>
              </a:ext>
            </a:extLst>
          </p:cNvPr>
          <p:cNvSpPr txBox="1"/>
          <p:nvPr/>
        </p:nvSpPr>
        <p:spPr>
          <a:xfrm>
            <a:off x="6067425" y="2781300"/>
            <a:ext cx="42100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Registered Missingness</a:t>
            </a:r>
          </a:p>
        </p:txBody>
      </p:sp>
      <p:sp>
        <p:nvSpPr>
          <p:cNvPr id="84" name="Element 83">
            <a:extLst>
              <a:ext uri="{FF2B5EF4-FFF2-40B4-BE49-F238E27FC236}">
                <a16:creationId xmlns:a16="http://schemas.microsoft.com/office/drawing/2014/main" id="{5DAB399B-FB0F-9E0B-3074-D67653EE5AE6}"/>
              </a:ext>
            </a:extLst>
          </p:cNvPr>
          <p:cNvSpPr/>
          <p:nvPr/>
        </p:nvSpPr>
        <p:spPr>
          <a:xfrm>
            <a:off x="6229350" y="3190875"/>
            <a:ext cx="2390775" cy="647700"/>
          </a:xfrm>
          <a:prstGeom prst="rect">
            <a:avLst/>
          </a:prstGeom>
          <a:solidFill>
            <a:srgbClr val="F4F7FA"/>
          </a:solidFill>
          <a:ln w="12383">
            <a:solidFill>
              <a:srgbClr val="54789A"/>
            </a:solidFill>
          </a:ln>
        </p:spPr>
      </p:sp>
      <p:sp>
        <p:nvSpPr>
          <p:cNvPr id="85" name="Element 84">
            <a:extLst>
              <a:ext uri="{FF2B5EF4-FFF2-40B4-BE49-F238E27FC236}">
                <a16:creationId xmlns:a16="http://schemas.microsoft.com/office/drawing/2014/main" id="{DA3A1AB5-9C30-FC64-D7AD-D2EF80394BBA}"/>
              </a:ext>
            </a:extLst>
          </p:cNvPr>
          <p:cNvSpPr/>
          <p:nvPr/>
        </p:nvSpPr>
        <p:spPr>
          <a:xfrm>
            <a:off x="6010275" y="3305175"/>
            <a:ext cx="2390775" cy="647700"/>
          </a:xfrm>
          <a:prstGeom prst="rect">
            <a:avLst/>
          </a:prstGeom>
          <a:solidFill>
            <a:srgbClr val="F4F7FA"/>
          </a:solidFill>
          <a:ln w="12383">
            <a:solidFill>
              <a:srgbClr val="54789A"/>
            </a:solidFill>
          </a:ln>
        </p:spPr>
      </p:sp>
      <p:sp>
        <p:nvSpPr>
          <p:cNvPr id="86" name="Element 85">
            <a:extLst>
              <a:ext uri="{FF2B5EF4-FFF2-40B4-BE49-F238E27FC236}">
                <a16:creationId xmlns:a16="http://schemas.microsoft.com/office/drawing/2014/main" id="{3F798357-7E5B-CBA6-5E20-B5D80DC5A216}"/>
              </a:ext>
            </a:extLst>
          </p:cNvPr>
          <p:cNvSpPr/>
          <p:nvPr/>
        </p:nvSpPr>
        <p:spPr>
          <a:xfrm>
            <a:off x="5791200" y="3419475"/>
            <a:ext cx="2390775" cy="647700"/>
          </a:xfrm>
          <a:prstGeom prst="rect">
            <a:avLst/>
          </a:prstGeom>
          <a:solidFill>
            <a:srgbClr val="F4F7FA"/>
          </a:solidFill>
          <a:ln w="12383">
            <a:solidFill>
              <a:srgbClr val="54789A"/>
            </a:solidFill>
          </a:ln>
        </p:spPr>
      </p:sp>
      <p:sp>
        <p:nvSpPr>
          <p:cNvPr id="87" name="Editable Curve 86">
            <a:extLst>
              <a:ext uri="{FF2B5EF4-FFF2-40B4-BE49-F238E27FC236}">
                <a16:creationId xmlns:a16="http://schemas.microsoft.com/office/drawing/2014/main" id="{FC634851-9B9E-CEFB-6B57-A347F11C4AFC}"/>
              </a:ext>
            </a:extLst>
          </p:cNvPr>
          <p:cNvSpPr/>
          <p:nvPr/>
        </p:nvSpPr>
        <p:spPr>
          <a:xfrm>
            <a:off x="5905012" y="3720951"/>
            <a:ext cx="244475" cy="206623"/>
          </a:xfrm>
          <a:custGeom>
            <a:avLst/>
            <a:gdLst/>
            <a:ahLst/>
            <a:cxnLst/>
            <a:rect l="0" t="0" r="0" b="0"/>
            <a:pathLst>
              <a:path w="244475" h="206623">
                <a:moveTo>
                  <a:pt x="0" y="192038"/>
                </a:moveTo>
                <a:lnTo>
                  <a:pt x="9403" y="196900"/>
                </a:lnTo>
                <a:lnTo>
                  <a:pt x="18806" y="196900"/>
                </a:lnTo>
                <a:lnTo>
                  <a:pt x="28209" y="162868"/>
                </a:lnTo>
                <a:lnTo>
                  <a:pt x="37612" y="145365"/>
                </a:lnTo>
                <a:lnTo>
                  <a:pt x="47014" y="104527"/>
                </a:lnTo>
                <a:lnTo>
                  <a:pt x="56417" y="85080"/>
                </a:lnTo>
                <a:lnTo>
                  <a:pt x="65820" y="80218"/>
                </a:lnTo>
                <a:lnTo>
                  <a:pt x="75223" y="94804"/>
                </a:lnTo>
                <a:lnTo>
                  <a:pt x="84626" y="94804"/>
                </a:lnTo>
                <a:lnTo>
                  <a:pt x="94029" y="75357"/>
                </a:lnTo>
                <a:lnTo>
                  <a:pt x="103432" y="36463"/>
                </a:lnTo>
                <a:lnTo>
                  <a:pt x="112835" y="12154"/>
                </a:lnTo>
                <a:lnTo>
                  <a:pt x="122238" y="0"/>
                </a:lnTo>
                <a:lnTo>
                  <a:pt x="131640" y="17016"/>
                </a:lnTo>
                <a:lnTo>
                  <a:pt x="141043" y="65633"/>
                </a:lnTo>
                <a:lnTo>
                  <a:pt x="150446" y="96748"/>
                </a:lnTo>
                <a:lnTo>
                  <a:pt x="159849" y="109389"/>
                </a:lnTo>
                <a:lnTo>
                  <a:pt x="169252" y="104527"/>
                </a:lnTo>
                <a:lnTo>
                  <a:pt x="178655" y="112306"/>
                </a:lnTo>
                <a:lnTo>
                  <a:pt x="188058" y="128836"/>
                </a:lnTo>
                <a:lnTo>
                  <a:pt x="197461" y="140990"/>
                </a:lnTo>
                <a:lnTo>
                  <a:pt x="206863" y="133697"/>
                </a:lnTo>
                <a:lnTo>
                  <a:pt x="216266" y="138559"/>
                </a:lnTo>
                <a:lnTo>
                  <a:pt x="225669" y="148282"/>
                </a:lnTo>
                <a:lnTo>
                  <a:pt x="235072" y="192038"/>
                </a:lnTo>
                <a:lnTo>
                  <a:pt x="244475" y="206623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88" name="Editable Curve 87">
            <a:extLst>
              <a:ext uri="{FF2B5EF4-FFF2-40B4-BE49-F238E27FC236}">
                <a16:creationId xmlns:a16="http://schemas.microsoft.com/office/drawing/2014/main" id="{EB560601-16B9-CA4E-C6CD-1108858E47F5}"/>
              </a:ext>
            </a:extLst>
          </p:cNvPr>
          <p:cNvSpPr/>
          <p:nvPr/>
        </p:nvSpPr>
        <p:spPr>
          <a:xfrm>
            <a:off x="6177695" y="3626148"/>
            <a:ext cx="535964" cy="311150"/>
          </a:xfrm>
          <a:custGeom>
            <a:avLst/>
            <a:gdLst/>
            <a:ahLst/>
            <a:cxnLst/>
            <a:rect l="0" t="0" r="0" b="0"/>
            <a:pathLst>
              <a:path w="535964" h="311150">
                <a:moveTo>
                  <a:pt x="0" y="311150"/>
                </a:moveTo>
                <a:lnTo>
                  <a:pt x="9403" y="296565"/>
                </a:lnTo>
                <a:lnTo>
                  <a:pt x="18806" y="267395"/>
                </a:lnTo>
                <a:lnTo>
                  <a:pt x="28209" y="257671"/>
                </a:lnTo>
                <a:lnTo>
                  <a:pt x="37612" y="257671"/>
                </a:lnTo>
                <a:lnTo>
                  <a:pt x="47014" y="252809"/>
                </a:lnTo>
                <a:lnTo>
                  <a:pt x="56417" y="228501"/>
                </a:lnTo>
                <a:lnTo>
                  <a:pt x="65820" y="202572"/>
                </a:lnTo>
                <a:lnTo>
                  <a:pt x="75223" y="177453"/>
                </a:lnTo>
                <a:lnTo>
                  <a:pt x="84626" y="165298"/>
                </a:lnTo>
                <a:lnTo>
                  <a:pt x="94029" y="155575"/>
                </a:lnTo>
                <a:lnTo>
                  <a:pt x="103432" y="155575"/>
                </a:lnTo>
                <a:lnTo>
                  <a:pt x="112835" y="145852"/>
                </a:lnTo>
                <a:lnTo>
                  <a:pt x="122237" y="131266"/>
                </a:lnTo>
                <a:lnTo>
                  <a:pt x="131640" y="105337"/>
                </a:lnTo>
                <a:lnTo>
                  <a:pt x="141043" y="85890"/>
                </a:lnTo>
                <a:lnTo>
                  <a:pt x="150446" y="56720"/>
                </a:lnTo>
                <a:lnTo>
                  <a:pt x="159849" y="48617"/>
                </a:lnTo>
                <a:lnTo>
                  <a:pt x="169252" y="56720"/>
                </a:lnTo>
                <a:lnTo>
                  <a:pt x="178655" y="82649"/>
                </a:lnTo>
                <a:lnTo>
                  <a:pt x="188058" y="106958"/>
                </a:lnTo>
                <a:lnTo>
                  <a:pt x="197461" y="102096"/>
                </a:lnTo>
                <a:lnTo>
                  <a:pt x="206863" y="87511"/>
                </a:lnTo>
                <a:lnTo>
                  <a:pt x="216266" y="58341"/>
                </a:lnTo>
                <a:lnTo>
                  <a:pt x="225669" y="29170"/>
                </a:lnTo>
                <a:lnTo>
                  <a:pt x="235072" y="0"/>
                </a:lnTo>
                <a:lnTo>
                  <a:pt x="244475" y="9723"/>
                </a:lnTo>
                <a:lnTo>
                  <a:pt x="253878" y="35421"/>
                </a:lnTo>
                <a:lnTo>
                  <a:pt x="263281" y="77787"/>
                </a:lnTo>
                <a:lnTo>
                  <a:pt x="272684" y="111820"/>
                </a:lnTo>
                <a:lnTo>
                  <a:pt x="282087" y="116681"/>
                </a:lnTo>
                <a:lnTo>
                  <a:pt x="291489" y="121543"/>
                </a:lnTo>
                <a:lnTo>
                  <a:pt x="300892" y="136128"/>
                </a:lnTo>
                <a:lnTo>
                  <a:pt x="310295" y="197386"/>
                </a:lnTo>
                <a:lnTo>
                  <a:pt x="319698" y="233363"/>
                </a:lnTo>
                <a:lnTo>
                  <a:pt x="329101" y="267395"/>
                </a:lnTo>
                <a:lnTo>
                  <a:pt x="338504" y="280359"/>
                </a:lnTo>
                <a:lnTo>
                  <a:pt x="347907" y="277118"/>
                </a:lnTo>
                <a:lnTo>
                  <a:pt x="357310" y="257671"/>
                </a:lnTo>
                <a:lnTo>
                  <a:pt x="366713" y="238224"/>
                </a:lnTo>
                <a:lnTo>
                  <a:pt x="376115" y="218777"/>
                </a:lnTo>
                <a:lnTo>
                  <a:pt x="385518" y="194469"/>
                </a:lnTo>
                <a:lnTo>
                  <a:pt x="394921" y="179884"/>
                </a:lnTo>
                <a:lnTo>
                  <a:pt x="404324" y="184745"/>
                </a:lnTo>
                <a:lnTo>
                  <a:pt x="413727" y="199330"/>
                </a:lnTo>
                <a:lnTo>
                  <a:pt x="423130" y="199330"/>
                </a:lnTo>
                <a:lnTo>
                  <a:pt x="432533" y="184745"/>
                </a:lnTo>
                <a:lnTo>
                  <a:pt x="441936" y="163678"/>
                </a:lnTo>
                <a:lnTo>
                  <a:pt x="451338" y="147472"/>
                </a:lnTo>
                <a:lnTo>
                  <a:pt x="460741" y="131266"/>
                </a:lnTo>
                <a:lnTo>
                  <a:pt x="470144" y="108578"/>
                </a:lnTo>
                <a:lnTo>
                  <a:pt x="479547" y="116681"/>
                </a:lnTo>
                <a:lnTo>
                  <a:pt x="488950" y="121543"/>
                </a:lnTo>
                <a:lnTo>
                  <a:pt x="498353" y="121543"/>
                </a:lnTo>
                <a:lnTo>
                  <a:pt x="507756" y="126405"/>
                </a:lnTo>
                <a:lnTo>
                  <a:pt x="517159" y="106958"/>
                </a:lnTo>
                <a:lnTo>
                  <a:pt x="526562" y="102096"/>
                </a:lnTo>
                <a:lnTo>
                  <a:pt x="535964" y="77787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89" name="Editable Curve 88">
            <a:extLst>
              <a:ext uri="{FF2B5EF4-FFF2-40B4-BE49-F238E27FC236}">
                <a16:creationId xmlns:a16="http://schemas.microsoft.com/office/drawing/2014/main" id="{68B5F154-1262-7EA3-5058-C8FCAE14320D}"/>
              </a:ext>
            </a:extLst>
          </p:cNvPr>
          <p:cNvSpPr/>
          <p:nvPr/>
        </p:nvSpPr>
        <p:spPr>
          <a:xfrm>
            <a:off x="7099178" y="3621286"/>
            <a:ext cx="930886" cy="316012"/>
          </a:xfrm>
          <a:custGeom>
            <a:avLst/>
            <a:gdLst/>
            <a:ahLst/>
            <a:cxnLst/>
            <a:rect l="0" t="0" r="0" b="0"/>
            <a:pathLst>
              <a:path w="930886" h="316012">
                <a:moveTo>
                  <a:pt x="0" y="165298"/>
                </a:moveTo>
                <a:lnTo>
                  <a:pt x="9403" y="179884"/>
                </a:lnTo>
                <a:lnTo>
                  <a:pt x="18806" y="184745"/>
                </a:lnTo>
                <a:lnTo>
                  <a:pt x="28209" y="194469"/>
                </a:lnTo>
                <a:lnTo>
                  <a:pt x="37612" y="217157"/>
                </a:lnTo>
                <a:lnTo>
                  <a:pt x="47014" y="243086"/>
                </a:lnTo>
                <a:lnTo>
                  <a:pt x="56417" y="259292"/>
                </a:lnTo>
                <a:lnTo>
                  <a:pt x="65820" y="285221"/>
                </a:lnTo>
                <a:lnTo>
                  <a:pt x="75223" y="277118"/>
                </a:lnTo>
                <a:lnTo>
                  <a:pt x="84626" y="272256"/>
                </a:lnTo>
                <a:lnTo>
                  <a:pt x="94029" y="243086"/>
                </a:lnTo>
                <a:lnTo>
                  <a:pt x="103432" y="235793"/>
                </a:lnTo>
                <a:lnTo>
                  <a:pt x="112835" y="243086"/>
                </a:lnTo>
                <a:lnTo>
                  <a:pt x="122238" y="277118"/>
                </a:lnTo>
                <a:lnTo>
                  <a:pt x="131640" y="291703"/>
                </a:lnTo>
                <a:lnTo>
                  <a:pt x="141043" y="296565"/>
                </a:lnTo>
                <a:lnTo>
                  <a:pt x="150446" y="272256"/>
                </a:lnTo>
                <a:lnTo>
                  <a:pt x="159849" y="235793"/>
                </a:lnTo>
                <a:lnTo>
                  <a:pt x="169252" y="235793"/>
                </a:lnTo>
                <a:lnTo>
                  <a:pt x="178655" y="247948"/>
                </a:lnTo>
                <a:lnTo>
                  <a:pt x="188058" y="265774"/>
                </a:lnTo>
                <a:lnTo>
                  <a:pt x="197461" y="257671"/>
                </a:lnTo>
                <a:lnTo>
                  <a:pt x="206863" y="233363"/>
                </a:lnTo>
                <a:lnTo>
                  <a:pt x="216266" y="194469"/>
                </a:lnTo>
                <a:lnTo>
                  <a:pt x="225669" y="155575"/>
                </a:lnTo>
                <a:lnTo>
                  <a:pt x="235072" y="145852"/>
                </a:lnTo>
                <a:lnTo>
                  <a:pt x="244475" y="150713"/>
                </a:lnTo>
                <a:lnTo>
                  <a:pt x="253878" y="140990"/>
                </a:lnTo>
                <a:lnTo>
                  <a:pt x="263281" y="116681"/>
                </a:lnTo>
                <a:lnTo>
                  <a:pt x="272684" y="72926"/>
                </a:lnTo>
                <a:lnTo>
                  <a:pt x="282087" y="25929"/>
                </a:lnTo>
                <a:lnTo>
                  <a:pt x="291489" y="6482"/>
                </a:lnTo>
                <a:lnTo>
                  <a:pt x="300892" y="4862"/>
                </a:lnTo>
                <a:lnTo>
                  <a:pt x="310295" y="0"/>
                </a:lnTo>
                <a:lnTo>
                  <a:pt x="319698" y="19447"/>
                </a:lnTo>
                <a:lnTo>
                  <a:pt x="329101" y="29170"/>
                </a:lnTo>
                <a:lnTo>
                  <a:pt x="338504" y="66119"/>
                </a:lnTo>
                <a:lnTo>
                  <a:pt x="347907" y="112792"/>
                </a:lnTo>
                <a:lnTo>
                  <a:pt x="357310" y="143421"/>
                </a:lnTo>
                <a:lnTo>
                  <a:pt x="366713" y="150713"/>
                </a:lnTo>
                <a:lnTo>
                  <a:pt x="376115" y="163354"/>
                </a:lnTo>
                <a:lnTo>
                  <a:pt x="385518" y="194469"/>
                </a:lnTo>
                <a:lnTo>
                  <a:pt x="394921" y="230932"/>
                </a:lnTo>
                <a:lnTo>
                  <a:pt x="404324" y="247948"/>
                </a:lnTo>
                <a:lnTo>
                  <a:pt x="413727" y="252809"/>
                </a:lnTo>
                <a:lnTo>
                  <a:pt x="423130" y="233363"/>
                </a:lnTo>
                <a:lnTo>
                  <a:pt x="432533" y="233363"/>
                </a:lnTo>
                <a:lnTo>
                  <a:pt x="441936" y="243086"/>
                </a:lnTo>
                <a:lnTo>
                  <a:pt x="451338" y="273877"/>
                </a:lnTo>
                <a:lnTo>
                  <a:pt x="460741" y="296565"/>
                </a:lnTo>
                <a:lnTo>
                  <a:pt x="470144" y="306288"/>
                </a:lnTo>
                <a:lnTo>
                  <a:pt x="479547" y="286841"/>
                </a:lnTo>
                <a:lnTo>
                  <a:pt x="488950" y="278739"/>
                </a:lnTo>
                <a:lnTo>
                  <a:pt x="498353" y="296565"/>
                </a:lnTo>
                <a:lnTo>
                  <a:pt x="507756" y="311150"/>
                </a:lnTo>
                <a:lnTo>
                  <a:pt x="517159" y="316012"/>
                </a:lnTo>
                <a:lnTo>
                  <a:pt x="526562" y="301427"/>
                </a:lnTo>
                <a:lnTo>
                  <a:pt x="535964" y="281980"/>
                </a:lnTo>
                <a:lnTo>
                  <a:pt x="545367" y="252809"/>
                </a:lnTo>
                <a:lnTo>
                  <a:pt x="554770" y="228501"/>
                </a:lnTo>
                <a:lnTo>
                  <a:pt x="564173" y="210674"/>
                </a:lnTo>
                <a:lnTo>
                  <a:pt x="573576" y="194469"/>
                </a:lnTo>
                <a:lnTo>
                  <a:pt x="582979" y="189607"/>
                </a:lnTo>
                <a:lnTo>
                  <a:pt x="592382" y="189607"/>
                </a:lnTo>
                <a:lnTo>
                  <a:pt x="601785" y="165298"/>
                </a:lnTo>
                <a:lnTo>
                  <a:pt x="611187" y="136128"/>
                </a:lnTo>
                <a:lnTo>
                  <a:pt x="620590" y="106958"/>
                </a:lnTo>
                <a:lnTo>
                  <a:pt x="629993" y="97234"/>
                </a:lnTo>
                <a:lnTo>
                  <a:pt x="639396" y="106958"/>
                </a:lnTo>
                <a:lnTo>
                  <a:pt x="648799" y="102096"/>
                </a:lnTo>
                <a:lnTo>
                  <a:pt x="658202" y="72926"/>
                </a:lnTo>
                <a:lnTo>
                  <a:pt x="667605" y="38894"/>
                </a:lnTo>
                <a:lnTo>
                  <a:pt x="677008" y="14585"/>
                </a:lnTo>
                <a:lnTo>
                  <a:pt x="686411" y="4862"/>
                </a:lnTo>
                <a:lnTo>
                  <a:pt x="695813" y="19447"/>
                </a:lnTo>
                <a:lnTo>
                  <a:pt x="705216" y="43755"/>
                </a:lnTo>
                <a:lnTo>
                  <a:pt x="714619" y="63202"/>
                </a:lnTo>
                <a:lnTo>
                  <a:pt x="724022" y="58341"/>
                </a:lnTo>
                <a:lnTo>
                  <a:pt x="733425" y="72926"/>
                </a:lnTo>
                <a:lnTo>
                  <a:pt x="742828" y="92373"/>
                </a:lnTo>
                <a:lnTo>
                  <a:pt x="752231" y="116681"/>
                </a:lnTo>
                <a:lnTo>
                  <a:pt x="761634" y="131266"/>
                </a:lnTo>
                <a:lnTo>
                  <a:pt x="771037" y="153954"/>
                </a:lnTo>
                <a:lnTo>
                  <a:pt x="780439" y="179884"/>
                </a:lnTo>
                <a:lnTo>
                  <a:pt x="789842" y="197710"/>
                </a:lnTo>
                <a:lnTo>
                  <a:pt x="799245" y="194469"/>
                </a:lnTo>
                <a:lnTo>
                  <a:pt x="808648" y="204192"/>
                </a:lnTo>
                <a:lnTo>
                  <a:pt x="818051" y="218777"/>
                </a:lnTo>
                <a:lnTo>
                  <a:pt x="827454" y="252809"/>
                </a:lnTo>
                <a:lnTo>
                  <a:pt x="836857" y="252809"/>
                </a:lnTo>
                <a:lnTo>
                  <a:pt x="846260" y="238224"/>
                </a:lnTo>
                <a:lnTo>
                  <a:pt x="855663" y="213916"/>
                </a:lnTo>
                <a:lnTo>
                  <a:pt x="865065" y="187176"/>
                </a:lnTo>
                <a:lnTo>
                  <a:pt x="874468" y="187176"/>
                </a:lnTo>
                <a:lnTo>
                  <a:pt x="883871" y="209054"/>
                </a:lnTo>
                <a:lnTo>
                  <a:pt x="893274" y="238224"/>
                </a:lnTo>
                <a:lnTo>
                  <a:pt x="902677" y="252809"/>
                </a:lnTo>
                <a:lnTo>
                  <a:pt x="912080" y="256051"/>
                </a:lnTo>
                <a:lnTo>
                  <a:pt x="921483" y="230121"/>
                </a:lnTo>
                <a:lnTo>
                  <a:pt x="930886" y="223639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90" name="Element 89">
            <a:extLst>
              <a:ext uri="{FF2B5EF4-FFF2-40B4-BE49-F238E27FC236}">
                <a16:creationId xmlns:a16="http://schemas.microsoft.com/office/drawing/2014/main" id="{0AF11711-0B45-7FCB-1E29-8D2CFCCAB85D}"/>
              </a:ext>
            </a:extLst>
          </p:cNvPr>
          <p:cNvSpPr/>
          <p:nvPr/>
        </p:nvSpPr>
        <p:spPr>
          <a:xfrm>
            <a:off x="6806843" y="3622453"/>
            <a:ext cx="296666" cy="256699"/>
          </a:xfrm>
          <a:prstGeom prst="rect">
            <a:avLst/>
          </a:prstGeom>
          <a:solidFill>
            <a:srgbClr val="FFFFFF"/>
          </a:solidFill>
          <a:ln w="11430">
            <a:solidFill>
              <a:srgbClr val="173D65"/>
            </a:solidFill>
            <a:prstDash val="dash"/>
          </a:ln>
        </p:spPr>
      </p:sp>
      <p:sp>
        <p:nvSpPr>
          <p:cNvPr id="91" name="Element 90">
            <a:extLst>
              <a:ext uri="{FF2B5EF4-FFF2-40B4-BE49-F238E27FC236}">
                <a16:creationId xmlns:a16="http://schemas.microsoft.com/office/drawing/2014/main" id="{8652A89C-96EB-4A29-2AA7-D77559310EAD}"/>
              </a:ext>
            </a:extLst>
          </p:cNvPr>
          <p:cNvSpPr txBox="1"/>
          <p:nvPr/>
        </p:nvSpPr>
        <p:spPr>
          <a:xfrm>
            <a:off x="8486775" y="3467100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600" b="1">
                <a:solidFill>
                  <a:srgbClr val="081B41"/>
                </a:solidFill>
                <a:ea typeface="Calibri"/>
                <a:cs typeface="Calibri"/>
              </a:rPr>
              <a:t>···</a:t>
            </a:r>
          </a:p>
        </p:txBody>
      </p:sp>
      <p:sp>
        <p:nvSpPr>
          <p:cNvPr id="92" name="Element 91">
            <a:extLst>
              <a:ext uri="{FF2B5EF4-FFF2-40B4-BE49-F238E27FC236}">
                <a16:creationId xmlns:a16="http://schemas.microsoft.com/office/drawing/2014/main" id="{1C376A0C-E5CA-F49B-7AE5-410802B73EDA}"/>
              </a:ext>
            </a:extLst>
          </p:cNvPr>
          <p:cNvSpPr txBox="1"/>
          <p:nvPr/>
        </p:nvSpPr>
        <p:spPr>
          <a:xfrm>
            <a:off x="9106056" y="3336925"/>
            <a:ext cx="139065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80000"/>
              </a:lnSpc>
            </a:pPr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Patterns</a:t>
            </a:r>
          </a:p>
          <a:p>
            <a:pPr algn="l">
              <a:lnSpc>
                <a:spcPct val="80000"/>
              </a:lnSpc>
            </a:pPr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everities</a:t>
            </a:r>
          </a:p>
        </p:txBody>
      </p:sp>
      <p:sp>
        <p:nvSpPr>
          <p:cNvPr id="94" name="Element 93">
            <a:extLst>
              <a:ext uri="{FF2B5EF4-FFF2-40B4-BE49-F238E27FC236}">
                <a16:creationId xmlns:a16="http://schemas.microsoft.com/office/drawing/2014/main" id="{78E1BBA9-5EA2-81A2-08AA-8741F296EB9B}"/>
              </a:ext>
            </a:extLst>
          </p:cNvPr>
          <p:cNvSpPr/>
          <p:nvPr/>
        </p:nvSpPr>
        <p:spPr>
          <a:xfrm>
            <a:off x="5514975" y="4448175"/>
            <a:ext cx="4867275" cy="2060575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Element 96">
            <a:extLst>
              <a:ext uri="{FF2B5EF4-FFF2-40B4-BE49-F238E27FC236}">
                <a16:creationId xmlns:a16="http://schemas.microsoft.com/office/drawing/2014/main" id="{CE1C4FB2-1775-C8AE-61FF-C9DA21771B4A}"/>
              </a:ext>
            </a:extLst>
          </p:cNvPr>
          <p:cNvSpPr txBox="1"/>
          <p:nvPr/>
        </p:nvSpPr>
        <p:spPr>
          <a:xfrm>
            <a:off x="6067425" y="4486275"/>
            <a:ext cx="42100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Full-Action Execution</a:t>
            </a:r>
          </a:p>
        </p:txBody>
      </p:sp>
      <p:sp>
        <p:nvSpPr>
          <p:cNvPr id="98" name="Element 97">
            <a:extLst>
              <a:ext uri="{FF2B5EF4-FFF2-40B4-BE49-F238E27FC236}">
                <a16:creationId xmlns:a16="http://schemas.microsoft.com/office/drawing/2014/main" id="{147584E5-2EB5-AE22-A4E5-EC91C02C9BC2}"/>
              </a:ext>
            </a:extLst>
          </p:cNvPr>
          <p:cNvSpPr/>
          <p:nvPr/>
        </p:nvSpPr>
        <p:spPr>
          <a:xfrm>
            <a:off x="5835823" y="4867275"/>
            <a:ext cx="3198110" cy="4572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Element 98">
            <a:extLst>
              <a:ext uri="{FF2B5EF4-FFF2-40B4-BE49-F238E27FC236}">
                <a16:creationId xmlns:a16="http://schemas.microsoft.com/office/drawing/2014/main" id="{9FC102EB-C4AB-CC94-1D74-85ADE201EBE9}"/>
              </a:ext>
            </a:extLst>
          </p:cNvPr>
          <p:cNvSpPr txBox="1"/>
          <p:nvPr/>
        </p:nvSpPr>
        <p:spPr>
          <a:xfrm>
            <a:off x="5873515" y="4895850"/>
            <a:ext cx="3145357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KEEP · Repair_1 · Repair_2 · …</a:t>
            </a:r>
          </a:p>
        </p:txBody>
      </p:sp>
      <p:sp>
        <p:nvSpPr>
          <p:cNvPr id="102" name="Element 101">
            <a:extLst>
              <a:ext uri="{FF2B5EF4-FFF2-40B4-BE49-F238E27FC236}">
                <a16:creationId xmlns:a16="http://schemas.microsoft.com/office/drawing/2014/main" id="{34A25341-C673-F3E0-B812-2E03BA6F5F2F}"/>
              </a:ext>
            </a:extLst>
          </p:cNvPr>
          <p:cNvSpPr/>
          <p:nvPr/>
        </p:nvSpPr>
        <p:spPr>
          <a:xfrm>
            <a:off x="8380995" y="5329237"/>
            <a:ext cx="114300" cy="200025"/>
          </a:xfrm>
          <a:prstGeom prst="downArrow">
            <a:avLst/>
          </a:prstGeom>
          <a:solidFill>
            <a:srgbClr val="173D6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Element 102">
            <a:extLst>
              <a:ext uri="{FF2B5EF4-FFF2-40B4-BE49-F238E27FC236}">
                <a16:creationId xmlns:a16="http://schemas.microsoft.com/office/drawing/2014/main" id="{9A77A407-4938-1A7E-DEDC-25E65F086FDA}"/>
              </a:ext>
            </a:extLst>
          </p:cNvPr>
          <p:cNvSpPr/>
          <p:nvPr/>
        </p:nvSpPr>
        <p:spPr>
          <a:xfrm>
            <a:off x="5847549" y="5572125"/>
            <a:ext cx="3203318" cy="828675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Element 118">
            <a:extLst>
              <a:ext uri="{FF2B5EF4-FFF2-40B4-BE49-F238E27FC236}">
                <a16:creationId xmlns:a16="http://schemas.microsoft.com/office/drawing/2014/main" id="{F8D38E72-C11E-81AD-6AFA-DAE5D36152CF}"/>
              </a:ext>
            </a:extLst>
          </p:cNvPr>
          <p:cNvSpPr txBox="1"/>
          <p:nvPr/>
        </p:nvSpPr>
        <p:spPr>
          <a:xfrm>
            <a:off x="6986587" y="5800725"/>
            <a:ext cx="16954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>
                <a:solidFill>
                  <a:srgbClr val="081B41"/>
                </a:solidFill>
                <a:ea typeface="Calibri"/>
                <a:cs typeface="Calibri"/>
              </a:rPr>
              <a:t>Frozen TSFM</a:t>
            </a:r>
          </a:p>
        </p:txBody>
      </p:sp>
      <p:sp>
        <p:nvSpPr>
          <p:cNvPr id="120" name="Element 119">
            <a:extLst>
              <a:ext uri="{FF2B5EF4-FFF2-40B4-BE49-F238E27FC236}">
                <a16:creationId xmlns:a16="http://schemas.microsoft.com/office/drawing/2014/main" id="{EC9D1996-F0E9-C705-D169-E7E39ABBE18A}"/>
              </a:ext>
            </a:extLst>
          </p:cNvPr>
          <p:cNvSpPr txBox="1"/>
          <p:nvPr/>
        </p:nvSpPr>
        <p:spPr>
          <a:xfrm>
            <a:off x="9134475" y="4894246"/>
            <a:ext cx="13620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b="1">
                <a:solidFill>
                  <a:srgbClr val="081B41"/>
                </a:solidFill>
                <a:ea typeface="Calibri"/>
                <a:cs typeface="Calibri"/>
              </a:rPr>
              <a:t>Candidate</a:t>
            </a:r>
          </a:p>
        </p:txBody>
      </p:sp>
      <p:sp>
        <p:nvSpPr>
          <p:cNvPr id="122" name="Element 121">
            <a:extLst>
              <a:ext uri="{FF2B5EF4-FFF2-40B4-BE49-F238E27FC236}">
                <a16:creationId xmlns:a16="http://schemas.microsoft.com/office/drawing/2014/main" id="{0EE5EAF3-133B-7BAB-8D80-9FAD848456A0}"/>
              </a:ext>
            </a:extLst>
          </p:cNvPr>
          <p:cNvSpPr/>
          <p:nvPr/>
        </p:nvSpPr>
        <p:spPr>
          <a:xfrm>
            <a:off x="5514975" y="6772276"/>
            <a:ext cx="4867275" cy="152400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Element 124">
            <a:extLst>
              <a:ext uri="{FF2B5EF4-FFF2-40B4-BE49-F238E27FC236}">
                <a16:creationId xmlns:a16="http://schemas.microsoft.com/office/drawing/2014/main" id="{9A7B5714-43EA-9F92-4304-AA816EF12519}"/>
              </a:ext>
            </a:extLst>
          </p:cNvPr>
          <p:cNvSpPr txBox="1"/>
          <p:nvPr/>
        </p:nvSpPr>
        <p:spPr>
          <a:xfrm>
            <a:off x="6067425" y="6810375"/>
            <a:ext cx="42100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Realized Utility And Storage</a:t>
            </a:r>
          </a:p>
        </p:txBody>
      </p:sp>
      <p:sp>
        <p:nvSpPr>
          <p:cNvPr id="126" name="Element 125">
            <a:extLst>
              <a:ext uri="{FF2B5EF4-FFF2-40B4-BE49-F238E27FC236}">
                <a16:creationId xmlns:a16="http://schemas.microsoft.com/office/drawing/2014/main" id="{8A0FFB20-A2D1-2F0D-280E-1160B616E3E2}"/>
              </a:ext>
            </a:extLst>
          </p:cNvPr>
          <p:cNvSpPr/>
          <p:nvPr/>
        </p:nvSpPr>
        <p:spPr>
          <a:xfrm>
            <a:off x="5610225" y="7248525"/>
            <a:ext cx="1196975" cy="97155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Element 126">
            <a:extLst>
              <a:ext uri="{FF2B5EF4-FFF2-40B4-BE49-F238E27FC236}">
                <a16:creationId xmlns:a16="http://schemas.microsoft.com/office/drawing/2014/main" id="{923CCDCD-FC54-9E41-62B3-0781B8FB63F2}"/>
              </a:ext>
            </a:extLst>
          </p:cNvPr>
          <p:cNvSpPr txBox="1"/>
          <p:nvPr/>
        </p:nvSpPr>
        <p:spPr>
          <a:xfrm>
            <a:off x="5695950" y="7410450"/>
            <a:ext cx="11239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80000"/>
              </a:lnSpc>
            </a:pPr>
            <a:r>
              <a:rPr b="1">
                <a:solidFill>
                  <a:srgbClr val="081B41"/>
                </a:solidFill>
                <a:ea typeface="Calibri"/>
                <a:cs typeface="Calibri"/>
              </a:rPr>
              <a:t>Forecast</a:t>
            </a:r>
          </a:p>
          <a:p>
            <a:pPr>
              <a:lnSpc>
                <a:spcPct val="80000"/>
              </a:lnSpc>
            </a:pPr>
            <a:r>
              <a:rPr b="1">
                <a:solidFill>
                  <a:srgbClr val="081B41"/>
                </a:solidFill>
                <a:ea typeface="Calibri"/>
                <a:cs typeface="Calibri"/>
              </a:rPr>
              <a:t>Loss</a:t>
            </a:r>
          </a:p>
          <a:p>
            <a:pPr>
              <a:lnSpc>
                <a:spcPct val="80000"/>
              </a:lnSpc>
            </a:pPr>
            <a:r>
              <a:rPr b="1">
                <a:solidFill>
                  <a:srgbClr val="081B41"/>
                </a:solidFill>
                <a:ea typeface="Calibri"/>
                <a:cs typeface="Calibri"/>
              </a:rPr>
              <a:t>Reduction</a:t>
            </a:r>
            <a:endParaRPr sz="2000" b="1">
              <a:solidFill>
                <a:srgbClr val="081B41"/>
              </a:solidFill>
              <a:ea typeface="Calibri"/>
              <a:cs typeface="Calibri"/>
            </a:endParaRPr>
          </a:p>
        </p:txBody>
      </p:sp>
      <p:sp>
        <p:nvSpPr>
          <p:cNvPr id="129" name="Element 128">
            <a:extLst>
              <a:ext uri="{FF2B5EF4-FFF2-40B4-BE49-F238E27FC236}">
                <a16:creationId xmlns:a16="http://schemas.microsoft.com/office/drawing/2014/main" id="{31797D27-2529-4C94-5751-4753A18BD193}"/>
              </a:ext>
            </a:extLst>
          </p:cNvPr>
          <p:cNvSpPr/>
          <p:nvPr/>
        </p:nvSpPr>
        <p:spPr>
          <a:xfrm>
            <a:off x="6967538" y="7200900"/>
            <a:ext cx="2067560" cy="1032933"/>
          </a:xfrm>
          <a:prstGeom prst="can">
            <a:avLst/>
          </a:prstGeom>
          <a:solidFill>
            <a:srgbClr val="E9E5FA"/>
          </a:solidFill>
          <a:ln w="17145">
            <a:solidFill>
              <a:srgbClr val="081B4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Element 131">
            <a:extLst>
              <a:ext uri="{FF2B5EF4-FFF2-40B4-BE49-F238E27FC236}">
                <a16:creationId xmlns:a16="http://schemas.microsoft.com/office/drawing/2014/main" id="{E2EE31BD-9DBA-2F3E-5532-FE22DB5CF43A}"/>
              </a:ext>
            </a:extLst>
          </p:cNvPr>
          <p:cNvSpPr/>
          <p:nvPr/>
        </p:nvSpPr>
        <p:spPr>
          <a:xfrm>
            <a:off x="9131300" y="7229475"/>
            <a:ext cx="1146175" cy="9906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Element 132">
            <a:extLst>
              <a:ext uri="{FF2B5EF4-FFF2-40B4-BE49-F238E27FC236}">
                <a16:creationId xmlns:a16="http://schemas.microsoft.com/office/drawing/2014/main" id="{FE6A6D23-2022-01FC-BB5B-AE0DBA245E14}"/>
              </a:ext>
            </a:extLst>
          </p:cNvPr>
          <p:cNvSpPr txBox="1"/>
          <p:nvPr/>
        </p:nvSpPr>
        <p:spPr>
          <a:xfrm>
            <a:off x="9248575" y="7434815"/>
            <a:ext cx="1114425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80000"/>
              </a:lnSpc>
            </a:pPr>
            <a:r>
              <a:rPr b="1">
                <a:solidFill>
                  <a:srgbClr val="081B41"/>
                </a:solidFill>
                <a:ea typeface="Calibri"/>
                <a:cs typeface="Calibri"/>
              </a:rPr>
              <a:t>Historical</a:t>
            </a:r>
          </a:p>
          <a:p>
            <a:pPr>
              <a:lnSpc>
                <a:spcPct val="80000"/>
              </a:lnSpc>
            </a:pPr>
            <a:r>
              <a:rPr b="1">
                <a:solidFill>
                  <a:srgbClr val="081B41"/>
                </a:solidFill>
                <a:ea typeface="Calibri"/>
                <a:cs typeface="Calibri"/>
              </a:rPr>
              <a:t>Action</a:t>
            </a:r>
          </a:p>
          <a:p>
            <a:pPr>
              <a:lnSpc>
                <a:spcPct val="80000"/>
              </a:lnSpc>
            </a:pPr>
            <a:r>
              <a:rPr b="1">
                <a:solidFill>
                  <a:srgbClr val="081B41"/>
                </a:solidFill>
                <a:ea typeface="Calibri"/>
                <a:cs typeface="Calibri"/>
              </a:rPr>
              <a:t>Outcomes</a:t>
            </a:r>
            <a:endParaRPr sz="2000" b="1">
              <a:solidFill>
                <a:srgbClr val="081B41"/>
              </a:solidFill>
              <a:ea typeface="Calibri"/>
              <a:cs typeface="Calibri"/>
            </a:endParaRPr>
          </a:p>
        </p:txBody>
      </p:sp>
      <p:sp>
        <p:nvSpPr>
          <p:cNvPr id="136" name="Element 135">
            <a:extLst>
              <a:ext uri="{FF2B5EF4-FFF2-40B4-BE49-F238E27FC236}">
                <a16:creationId xmlns:a16="http://schemas.microsoft.com/office/drawing/2014/main" id="{592A7603-7480-B019-B5BB-DB5069854599}"/>
              </a:ext>
            </a:extLst>
          </p:cNvPr>
          <p:cNvSpPr/>
          <p:nvPr/>
        </p:nvSpPr>
        <p:spPr>
          <a:xfrm>
            <a:off x="10763250" y="962025"/>
            <a:ext cx="4933950" cy="116205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Element 138">
            <a:extLst>
              <a:ext uri="{FF2B5EF4-FFF2-40B4-BE49-F238E27FC236}">
                <a16:creationId xmlns:a16="http://schemas.microsoft.com/office/drawing/2014/main" id="{49396035-CCDB-2D7B-F740-565B8D35D76F}"/>
              </a:ext>
            </a:extLst>
          </p:cNvPr>
          <p:cNvSpPr txBox="1"/>
          <p:nvPr/>
        </p:nvSpPr>
        <p:spPr>
          <a:xfrm>
            <a:off x="11315700" y="1000125"/>
            <a:ext cx="42767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Incomplete Request</a:t>
            </a:r>
          </a:p>
        </p:txBody>
      </p:sp>
      <p:sp>
        <p:nvSpPr>
          <p:cNvPr id="140" name="Editable Curve 139">
            <a:extLst>
              <a:ext uri="{FF2B5EF4-FFF2-40B4-BE49-F238E27FC236}">
                <a16:creationId xmlns:a16="http://schemas.microsoft.com/office/drawing/2014/main" id="{D75D325B-7B76-C3C9-D66E-46FA5FA16DAC}"/>
              </a:ext>
            </a:extLst>
          </p:cNvPr>
          <p:cNvSpPr/>
          <p:nvPr/>
        </p:nvSpPr>
        <p:spPr>
          <a:xfrm>
            <a:off x="11249025" y="1905000"/>
            <a:ext cx="2286000" cy="95"/>
          </a:xfrm>
          <a:custGeom>
            <a:avLst/>
            <a:gdLst/>
            <a:ahLst/>
            <a:cxnLst/>
            <a:rect l="0" t="0" r="0" b="0"/>
            <a:pathLst>
              <a:path w="2286000" h="9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2383">
            <a:solidFill>
              <a:srgbClr val="081B41"/>
            </a:solidFill>
          </a:ln>
        </p:spPr>
      </p:sp>
      <p:sp>
        <p:nvSpPr>
          <p:cNvPr id="141" name="Editable Curve 140">
            <a:extLst>
              <a:ext uri="{FF2B5EF4-FFF2-40B4-BE49-F238E27FC236}">
                <a16:creationId xmlns:a16="http://schemas.microsoft.com/office/drawing/2014/main" id="{D82AA0D1-0939-CFD3-56BC-1BC4A85C005D}"/>
              </a:ext>
            </a:extLst>
          </p:cNvPr>
          <p:cNvSpPr/>
          <p:nvPr/>
        </p:nvSpPr>
        <p:spPr>
          <a:xfrm>
            <a:off x="11249025" y="1381125"/>
            <a:ext cx="95" cy="523875"/>
          </a:xfrm>
          <a:custGeom>
            <a:avLst/>
            <a:gdLst/>
            <a:ahLst/>
            <a:cxnLst/>
            <a:rect l="0" t="0" r="0" b="0"/>
            <a:pathLst>
              <a:path w="95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81B41"/>
            </a:solidFill>
          </a:ln>
        </p:spPr>
      </p:sp>
      <p:sp>
        <p:nvSpPr>
          <p:cNvPr id="142" name="Element 141">
            <a:extLst>
              <a:ext uri="{FF2B5EF4-FFF2-40B4-BE49-F238E27FC236}">
                <a16:creationId xmlns:a16="http://schemas.microsoft.com/office/drawing/2014/main" id="{613EBF55-48FD-30E7-3A71-8B94C3C5FB38}"/>
              </a:ext>
            </a:extLst>
          </p:cNvPr>
          <p:cNvSpPr/>
          <p:nvPr/>
        </p:nvSpPr>
        <p:spPr>
          <a:xfrm rot="5400000">
            <a:off x="13496925" y="1876425"/>
            <a:ext cx="66675" cy="57150"/>
          </a:xfrm>
          <a:prstGeom prst="triangle">
            <a:avLst/>
          </a:prstGeom>
          <a:solidFill>
            <a:srgbClr val="081B41"/>
          </a:solidFill>
          <a:ln w="0">
            <a:noFill/>
          </a:ln>
        </p:spPr>
      </p:sp>
      <p:sp>
        <p:nvSpPr>
          <p:cNvPr id="143" name="Element 142">
            <a:extLst>
              <a:ext uri="{FF2B5EF4-FFF2-40B4-BE49-F238E27FC236}">
                <a16:creationId xmlns:a16="http://schemas.microsoft.com/office/drawing/2014/main" id="{2FF5F262-1E7A-40D6-A5D1-20EC89B4C34B}"/>
              </a:ext>
            </a:extLst>
          </p:cNvPr>
          <p:cNvSpPr/>
          <p:nvPr/>
        </p:nvSpPr>
        <p:spPr>
          <a:xfrm>
            <a:off x="11220450" y="1362075"/>
            <a:ext cx="57150" cy="66675"/>
          </a:xfrm>
          <a:prstGeom prst="triangle">
            <a:avLst/>
          </a:prstGeom>
          <a:solidFill>
            <a:srgbClr val="081B41"/>
          </a:solidFill>
          <a:ln w="0">
            <a:noFill/>
          </a:ln>
        </p:spPr>
      </p:sp>
      <p:sp>
        <p:nvSpPr>
          <p:cNvPr id="144" name="Element 143">
            <a:extLst>
              <a:ext uri="{FF2B5EF4-FFF2-40B4-BE49-F238E27FC236}">
                <a16:creationId xmlns:a16="http://schemas.microsoft.com/office/drawing/2014/main" id="{E5125B6C-03CD-7D71-4C95-A9195F5C6E4F}"/>
              </a:ext>
            </a:extLst>
          </p:cNvPr>
          <p:cNvSpPr txBox="1"/>
          <p:nvPr/>
        </p:nvSpPr>
        <p:spPr>
          <a:xfrm>
            <a:off x="12107545" y="1893094"/>
            <a:ext cx="5619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time</a:t>
            </a:r>
          </a:p>
        </p:txBody>
      </p:sp>
      <p:sp>
        <p:nvSpPr>
          <p:cNvPr id="145" name="Element 144">
            <a:extLst>
              <a:ext uri="{FF2B5EF4-FFF2-40B4-BE49-F238E27FC236}">
                <a16:creationId xmlns:a16="http://schemas.microsoft.com/office/drawing/2014/main" id="{F5AA37AB-6B76-630C-9D10-40A795F0386B}"/>
              </a:ext>
            </a:extLst>
          </p:cNvPr>
          <p:cNvSpPr txBox="1"/>
          <p:nvPr/>
        </p:nvSpPr>
        <p:spPr>
          <a:xfrm rot="16200000">
            <a:off x="10806113" y="1535747"/>
            <a:ext cx="6000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value</a:t>
            </a:r>
          </a:p>
        </p:txBody>
      </p:sp>
      <p:sp>
        <p:nvSpPr>
          <p:cNvPr id="146" name="Editable Curve 145">
            <a:extLst>
              <a:ext uri="{FF2B5EF4-FFF2-40B4-BE49-F238E27FC236}">
                <a16:creationId xmlns:a16="http://schemas.microsoft.com/office/drawing/2014/main" id="{76B439AD-657B-DDC4-03D7-D94BC0E34928}"/>
              </a:ext>
            </a:extLst>
          </p:cNvPr>
          <p:cNvSpPr/>
          <p:nvPr/>
        </p:nvSpPr>
        <p:spPr>
          <a:xfrm>
            <a:off x="11287287" y="1517551"/>
            <a:ext cx="918291" cy="321965"/>
          </a:xfrm>
          <a:custGeom>
            <a:avLst/>
            <a:gdLst/>
            <a:ahLst/>
            <a:cxnLst/>
            <a:rect l="0" t="0" r="0" b="0"/>
            <a:pathLst>
              <a:path w="918291" h="321965">
                <a:moveTo>
                  <a:pt x="0" y="267395"/>
                </a:moveTo>
                <a:lnTo>
                  <a:pt x="9566" y="256480"/>
                </a:lnTo>
                <a:lnTo>
                  <a:pt x="19131" y="245566"/>
                </a:lnTo>
                <a:lnTo>
                  <a:pt x="28697" y="256480"/>
                </a:lnTo>
                <a:lnTo>
                  <a:pt x="38262" y="267395"/>
                </a:lnTo>
                <a:lnTo>
                  <a:pt x="47828" y="272852"/>
                </a:lnTo>
                <a:lnTo>
                  <a:pt x="57393" y="278309"/>
                </a:lnTo>
                <a:lnTo>
                  <a:pt x="66959" y="272852"/>
                </a:lnTo>
                <a:lnTo>
                  <a:pt x="76524" y="289223"/>
                </a:lnTo>
                <a:lnTo>
                  <a:pt x="86090" y="294680"/>
                </a:lnTo>
                <a:lnTo>
                  <a:pt x="95655" y="283766"/>
                </a:lnTo>
                <a:lnTo>
                  <a:pt x="105221" y="278309"/>
                </a:lnTo>
                <a:lnTo>
                  <a:pt x="114786" y="283766"/>
                </a:lnTo>
                <a:lnTo>
                  <a:pt x="124352" y="300137"/>
                </a:lnTo>
                <a:lnTo>
                  <a:pt x="133917" y="316508"/>
                </a:lnTo>
                <a:lnTo>
                  <a:pt x="143483" y="321965"/>
                </a:lnTo>
                <a:lnTo>
                  <a:pt x="153049" y="316508"/>
                </a:lnTo>
                <a:lnTo>
                  <a:pt x="162614" y="305594"/>
                </a:lnTo>
                <a:lnTo>
                  <a:pt x="172180" y="305594"/>
                </a:lnTo>
                <a:lnTo>
                  <a:pt x="181745" y="311051"/>
                </a:lnTo>
                <a:lnTo>
                  <a:pt x="191311" y="316508"/>
                </a:lnTo>
                <a:lnTo>
                  <a:pt x="200876" y="311051"/>
                </a:lnTo>
                <a:lnTo>
                  <a:pt x="210442" y="289223"/>
                </a:lnTo>
                <a:lnTo>
                  <a:pt x="220007" y="267395"/>
                </a:lnTo>
                <a:lnTo>
                  <a:pt x="229573" y="252842"/>
                </a:lnTo>
                <a:lnTo>
                  <a:pt x="239138" y="248295"/>
                </a:lnTo>
                <a:lnTo>
                  <a:pt x="248704" y="261938"/>
                </a:lnTo>
                <a:lnTo>
                  <a:pt x="258269" y="278309"/>
                </a:lnTo>
                <a:lnTo>
                  <a:pt x="267835" y="289223"/>
                </a:lnTo>
                <a:lnTo>
                  <a:pt x="277400" y="289223"/>
                </a:lnTo>
                <a:lnTo>
                  <a:pt x="286966" y="303775"/>
                </a:lnTo>
                <a:lnTo>
                  <a:pt x="296531" y="316508"/>
                </a:lnTo>
                <a:lnTo>
                  <a:pt x="306097" y="321965"/>
                </a:lnTo>
                <a:lnTo>
                  <a:pt x="315663" y="316508"/>
                </a:lnTo>
                <a:lnTo>
                  <a:pt x="325228" y="303775"/>
                </a:lnTo>
                <a:lnTo>
                  <a:pt x="334794" y="291951"/>
                </a:lnTo>
                <a:lnTo>
                  <a:pt x="344359" y="289223"/>
                </a:lnTo>
                <a:lnTo>
                  <a:pt x="353925" y="283766"/>
                </a:lnTo>
                <a:lnTo>
                  <a:pt x="363490" y="294680"/>
                </a:lnTo>
                <a:lnTo>
                  <a:pt x="373056" y="311051"/>
                </a:lnTo>
                <a:lnTo>
                  <a:pt x="382621" y="294680"/>
                </a:lnTo>
                <a:lnTo>
                  <a:pt x="392187" y="289223"/>
                </a:lnTo>
                <a:lnTo>
                  <a:pt x="401752" y="263757"/>
                </a:lnTo>
                <a:lnTo>
                  <a:pt x="411318" y="238290"/>
                </a:lnTo>
                <a:lnTo>
                  <a:pt x="420883" y="210096"/>
                </a:lnTo>
                <a:lnTo>
                  <a:pt x="430449" y="201910"/>
                </a:lnTo>
                <a:lnTo>
                  <a:pt x="440014" y="196453"/>
                </a:lnTo>
                <a:lnTo>
                  <a:pt x="449580" y="207367"/>
                </a:lnTo>
                <a:lnTo>
                  <a:pt x="459146" y="207367"/>
                </a:lnTo>
                <a:lnTo>
                  <a:pt x="468711" y="201910"/>
                </a:lnTo>
                <a:lnTo>
                  <a:pt x="478277" y="190996"/>
                </a:lnTo>
                <a:lnTo>
                  <a:pt x="487842" y="185539"/>
                </a:lnTo>
                <a:lnTo>
                  <a:pt x="497408" y="176444"/>
                </a:lnTo>
                <a:lnTo>
                  <a:pt x="506973" y="147340"/>
                </a:lnTo>
                <a:lnTo>
                  <a:pt x="516539" y="139154"/>
                </a:lnTo>
                <a:lnTo>
                  <a:pt x="526104" y="147340"/>
                </a:lnTo>
                <a:lnTo>
                  <a:pt x="535670" y="169168"/>
                </a:lnTo>
                <a:lnTo>
                  <a:pt x="545235" y="180082"/>
                </a:lnTo>
                <a:lnTo>
                  <a:pt x="554801" y="177354"/>
                </a:lnTo>
                <a:lnTo>
                  <a:pt x="564366" y="158254"/>
                </a:lnTo>
                <a:lnTo>
                  <a:pt x="573932" y="130969"/>
                </a:lnTo>
                <a:lnTo>
                  <a:pt x="583497" y="114598"/>
                </a:lnTo>
                <a:lnTo>
                  <a:pt x="593063" y="114598"/>
                </a:lnTo>
                <a:lnTo>
                  <a:pt x="602629" y="109141"/>
                </a:lnTo>
                <a:lnTo>
                  <a:pt x="612194" y="103684"/>
                </a:lnTo>
                <a:lnTo>
                  <a:pt x="621760" y="76398"/>
                </a:lnTo>
                <a:lnTo>
                  <a:pt x="631325" y="52751"/>
                </a:lnTo>
                <a:lnTo>
                  <a:pt x="640891" y="49113"/>
                </a:lnTo>
                <a:lnTo>
                  <a:pt x="650456" y="54570"/>
                </a:lnTo>
                <a:lnTo>
                  <a:pt x="660022" y="74579"/>
                </a:lnTo>
                <a:lnTo>
                  <a:pt x="669587" y="70941"/>
                </a:lnTo>
                <a:lnTo>
                  <a:pt x="679153" y="60027"/>
                </a:lnTo>
                <a:lnTo>
                  <a:pt x="688718" y="38199"/>
                </a:lnTo>
                <a:lnTo>
                  <a:pt x="698284" y="27285"/>
                </a:lnTo>
                <a:lnTo>
                  <a:pt x="707849" y="1819"/>
                </a:lnTo>
                <a:lnTo>
                  <a:pt x="717415" y="0"/>
                </a:lnTo>
                <a:lnTo>
                  <a:pt x="726980" y="16371"/>
                </a:lnTo>
                <a:lnTo>
                  <a:pt x="736546" y="43656"/>
                </a:lnTo>
                <a:lnTo>
                  <a:pt x="746111" y="60027"/>
                </a:lnTo>
                <a:lnTo>
                  <a:pt x="755677" y="76398"/>
                </a:lnTo>
                <a:lnTo>
                  <a:pt x="765243" y="100046"/>
                </a:lnTo>
                <a:lnTo>
                  <a:pt x="774808" y="114598"/>
                </a:lnTo>
                <a:lnTo>
                  <a:pt x="784374" y="118236"/>
                </a:lnTo>
                <a:lnTo>
                  <a:pt x="793939" y="98227"/>
                </a:lnTo>
                <a:lnTo>
                  <a:pt x="803505" y="92770"/>
                </a:lnTo>
                <a:lnTo>
                  <a:pt x="813070" y="92770"/>
                </a:lnTo>
                <a:lnTo>
                  <a:pt x="822636" y="103684"/>
                </a:lnTo>
                <a:lnTo>
                  <a:pt x="832201" y="120055"/>
                </a:lnTo>
                <a:lnTo>
                  <a:pt x="841767" y="114598"/>
                </a:lnTo>
                <a:lnTo>
                  <a:pt x="851332" y="120055"/>
                </a:lnTo>
                <a:lnTo>
                  <a:pt x="860898" y="136426"/>
                </a:lnTo>
                <a:lnTo>
                  <a:pt x="870463" y="163711"/>
                </a:lnTo>
                <a:lnTo>
                  <a:pt x="880029" y="174625"/>
                </a:lnTo>
                <a:lnTo>
                  <a:pt x="889594" y="174625"/>
                </a:lnTo>
                <a:lnTo>
                  <a:pt x="899160" y="169168"/>
                </a:lnTo>
                <a:lnTo>
                  <a:pt x="908726" y="158254"/>
                </a:lnTo>
                <a:lnTo>
                  <a:pt x="918291" y="147340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147" name="Editable Curve 146">
            <a:extLst>
              <a:ext uri="{FF2B5EF4-FFF2-40B4-BE49-F238E27FC236}">
                <a16:creationId xmlns:a16="http://schemas.microsoft.com/office/drawing/2014/main" id="{EFA60A9A-9EA3-F6E7-73E6-33230496CB50}"/>
              </a:ext>
            </a:extLst>
          </p:cNvPr>
          <p:cNvSpPr/>
          <p:nvPr/>
        </p:nvSpPr>
        <p:spPr>
          <a:xfrm>
            <a:off x="12559503" y="1506637"/>
            <a:ext cx="899160" cy="216462"/>
          </a:xfrm>
          <a:custGeom>
            <a:avLst/>
            <a:gdLst/>
            <a:ahLst/>
            <a:cxnLst/>
            <a:rect l="0" t="0" r="0" b="0"/>
            <a:pathLst>
              <a:path w="899160" h="216462">
                <a:moveTo>
                  <a:pt x="0" y="212824"/>
                </a:moveTo>
                <a:lnTo>
                  <a:pt x="9566" y="216462"/>
                </a:lnTo>
                <a:lnTo>
                  <a:pt x="19131" y="190996"/>
                </a:lnTo>
                <a:lnTo>
                  <a:pt x="28697" y="194634"/>
                </a:lnTo>
                <a:lnTo>
                  <a:pt x="38262" y="161892"/>
                </a:lnTo>
                <a:lnTo>
                  <a:pt x="47828" y="140064"/>
                </a:lnTo>
                <a:lnTo>
                  <a:pt x="57393" y="136426"/>
                </a:lnTo>
                <a:lnTo>
                  <a:pt x="66959" y="125512"/>
                </a:lnTo>
                <a:lnTo>
                  <a:pt x="76524" y="136426"/>
                </a:lnTo>
                <a:lnTo>
                  <a:pt x="86090" y="130969"/>
                </a:lnTo>
                <a:lnTo>
                  <a:pt x="95655" y="125512"/>
                </a:lnTo>
                <a:lnTo>
                  <a:pt x="105221" y="109141"/>
                </a:lnTo>
                <a:lnTo>
                  <a:pt x="114786" y="70941"/>
                </a:lnTo>
                <a:lnTo>
                  <a:pt x="124352" y="56389"/>
                </a:lnTo>
                <a:lnTo>
                  <a:pt x="133917" y="43656"/>
                </a:lnTo>
                <a:lnTo>
                  <a:pt x="143483" y="34561"/>
                </a:lnTo>
                <a:lnTo>
                  <a:pt x="153049" y="45475"/>
                </a:lnTo>
                <a:lnTo>
                  <a:pt x="162614" y="65484"/>
                </a:lnTo>
                <a:lnTo>
                  <a:pt x="172180" y="60027"/>
                </a:lnTo>
                <a:lnTo>
                  <a:pt x="181745" y="52751"/>
                </a:lnTo>
                <a:lnTo>
                  <a:pt x="191311" y="32742"/>
                </a:lnTo>
                <a:lnTo>
                  <a:pt x="200876" y="9095"/>
                </a:lnTo>
                <a:lnTo>
                  <a:pt x="210442" y="10914"/>
                </a:lnTo>
                <a:lnTo>
                  <a:pt x="220007" y="16371"/>
                </a:lnTo>
                <a:lnTo>
                  <a:pt x="229573" y="38199"/>
                </a:lnTo>
                <a:lnTo>
                  <a:pt x="239138" y="49113"/>
                </a:lnTo>
                <a:lnTo>
                  <a:pt x="248704" y="70941"/>
                </a:lnTo>
                <a:lnTo>
                  <a:pt x="258269" y="92770"/>
                </a:lnTo>
                <a:lnTo>
                  <a:pt x="267835" y="98227"/>
                </a:lnTo>
                <a:lnTo>
                  <a:pt x="277400" y="98227"/>
                </a:lnTo>
                <a:lnTo>
                  <a:pt x="286966" y="87312"/>
                </a:lnTo>
                <a:lnTo>
                  <a:pt x="296531" y="81855"/>
                </a:lnTo>
                <a:lnTo>
                  <a:pt x="306097" y="92770"/>
                </a:lnTo>
                <a:lnTo>
                  <a:pt x="315663" y="103684"/>
                </a:lnTo>
                <a:lnTo>
                  <a:pt x="325228" y="103684"/>
                </a:lnTo>
                <a:lnTo>
                  <a:pt x="334794" y="98227"/>
                </a:lnTo>
                <a:lnTo>
                  <a:pt x="344359" y="81855"/>
                </a:lnTo>
                <a:lnTo>
                  <a:pt x="353925" y="92770"/>
                </a:lnTo>
                <a:lnTo>
                  <a:pt x="363490" y="103684"/>
                </a:lnTo>
                <a:lnTo>
                  <a:pt x="373056" y="92770"/>
                </a:lnTo>
                <a:lnTo>
                  <a:pt x="382621" y="103684"/>
                </a:lnTo>
                <a:lnTo>
                  <a:pt x="392187" y="125512"/>
                </a:lnTo>
                <a:lnTo>
                  <a:pt x="401752" y="129150"/>
                </a:lnTo>
                <a:lnTo>
                  <a:pt x="411318" y="118236"/>
                </a:lnTo>
                <a:lnTo>
                  <a:pt x="420883" y="103684"/>
                </a:lnTo>
                <a:lnTo>
                  <a:pt x="430449" y="76398"/>
                </a:lnTo>
                <a:lnTo>
                  <a:pt x="440014" y="70941"/>
                </a:lnTo>
                <a:lnTo>
                  <a:pt x="449580" y="65484"/>
                </a:lnTo>
                <a:lnTo>
                  <a:pt x="459146" y="70941"/>
                </a:lnTo>
                <a:lnTo>
                  <a:pt x="468711" y="60027"/>
                </a:lnTo>
                <a:lnTo>
                  <a:pt x="478277" y="38199"/>
                </a:lnTo>
                <a:lnTo>
                  <a:pt x="487842" y="27285"/>
                </a:lnTo>
                <a:lnTo>
                  <a:pt x="497408" y="21828"/>
                </a:lnTo>
                <a:lnTo>
                  <a:pt x="506973" y="27285"/>
                </a:lnTo>
                <a:lnTo>
                  <a:pt x="516539" y="38199"/>
                </a:lnTo>
                <a:lnTo>
                  <a:pt x="526104" y="60027"/>
                </a:lnTo>
                <a:lnTo>
                  <a:pt x="535670" y="74579"/>
                </a:lnTo>
                <a:lnTo>
                  <a:pt x="545235" y="81855"/>
                </a:lnTo>
                <a:lnTo>
                  <a:pt x="554801" y="87312"/>
                </a:lnTo>
                <a:lnTo>
                  <a:pt x="564366" y="87312"/>
                </a:lnTo>
                <a:lnTo>
                  <a:pt x="573932" y="81855"/>
                </a:lnTo>
                <a:lnTo>
                  <a:pt x="583497" y="92770"/>
                </a:lnTo>
                <a:lnTo>
                  <a:pt x="593063" y="103684"/>
                </a:lnTo>
                <a:lnTo>
                  <a:pt x="602629" y="114598"/>
                </a:lnTo>
                <a:lnTo>
                  <a:pt x="612194" y="103684"/>
                </a:lnTo>
                <a:lnTo>
                  <a:pt x="621760" y="98227"/>
                </a:lnTo>
                <a:lnTo>
                  <a:pt x="631325" y="103684"/>
                </a:lnTo>
                <a:lnTo>
                  <a:pt x="640891" y="103684"/>
                </a:lnTo>
                <a:lnTo>
                  <a:pt x="650456" y="92770"/>
                </a:lnTo>
                <a:lnTo>
                  <a:pt x="660022" y="78217"/>
                </a:lnTo>
                <a:lnTo>
                  <a:pt x="669587" y="65484"/>
                </a:lnTo>
                <a:lnTo>
                  <a:pt x="679153" y="65484"/>
                </a:lnTo>
                <a:lnTo>
                  <a:pt x="688718" y="70941"/>
                </a:lnTo>
                <a:lnTo>
                  <a:pt x="698284" y="70941"/>
                </a:lnTo>
                <a:lnTo>
                  <a:pt x="707849" y="56389"/>
                </a:lnTo>
                <a:lnTo>
                  <a:pt x="717415" y="34561"/>
                </a:lnTo>
                <a:lnTo>
                  <a:pt x="726980" y="12733"/>
                </a:lnTo>
                <a:lnTo>
                  <a:pt x="736546" y="10914"/>
                </a:lnTo>
                <a:lnTo>
                  <a:pt x="746111" y="0"/>
                </a:lnTo>
                <a:lnTo>
                  <a:pt x="755677" y="21828"/>
                </a:lnTo>
                <a:lnTo>
                  <a:pt x="765243" y="38199"/>
                </a:lnTo>
                <a:lnTo>
                  <a:pt x="774808" y="43656"/>
                </a:lnTo>
                <a:lnTo>
                  <a:pt x="784374" y="32742"/>
                </a:lnTo>
                <a:lnTo>
                  <a:pt x="793939" y="21828"/>
                </a:lnTo>
                <a:lnTo>
                  <a:pt x="803505" y="21828"/>
                </a:lnTo>
                <a:lnTo>
                  <a:pt x="813070" y="38199"/>
                </a:lnTo>
                <a:lnTo>
                  <a:pt x="822636" y="32742"/>
                </a:lnTo>
                <a:lnTo>
                  <a:pt x="832201" y="21828"/>
                </a:lnTo>
                <a:lnTo>
                  <a:pt x="841767" y="16371"/>
                </a:lnTo>
                <a:lnTo>
                  <a:pt x="851332" y="16371"/>
                </a:lnTo>
                <a:lnTo>
                  <a:pt x="860898" y="27285"/>
                </a:lnTo>
                <a:lnTo>
                  <a:pt x="870463" y="38199"/>
                </a:lnTo>
                <a:lnTo>
                  <a:pt x="880029" y="49113"/>
                </a:lnTo>
                <a:lnTo>
                  <a:pt x="889594" y="60027"/>
                </a:lnTo>
                <a:lnTo>
                  <a:pt x="899160" y="70941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148" name="Element 147">
            <a:extLst>
              <a:ext uri="{FF2B5EF4-FFF2-40B4-BE49-F238E27FC236}">
                <a16:creationId xmlns:a16="http://schemas.microsoft.com/office/drawing/2014/main" id="{669B4DF9-6B93-A5E0-29FF-DF9A6CE80913}"/>
              </a:ext>
            </a:extLst>
          </p:cNvPr>
          <p:cNvSpPr/>
          <p:nvPr/>
        </p:nvSpPr>
        <p:spPr>
          <a:xfrm>
            <a:off x="12208803" y="1480661"/>
            <a:ext cx="303088" cy="288131"/>
          </a:xfrm>
          <a:prstGeom prst="rect">
            <a:avLst/>
          </a:prstGeom>
          <a:solidFill>
            <a:srgbClr val="FFFFFF"/>
          </a:solidFill>
          <a:ln w="11430">
            <a:solidFill>
              <a:srgbClr val="173D65"/>
            </a:solidFill>
            <a:prstDash val="dash"/>
          </a:ln>
        </p:spPr>
      </p:sp>
      <p:sp>
        <p:nvSpPr>
          <p:cNvPr id="149" name="Element 148">
            <a:extLst>
              <a:ext uri="{FF2B5EF4-FFF2-40B4-BE49-F238E27FC236}">
                <a16:creationId xmlns:a16="http://schemas.microsoft.com/office/drawing/2014/main" id="{3F5606EF-61CF-2CB4-BBDA-55C4D3772309}"/>
              </a:ext>
            </a:extLst>
          </p:cNvPr>
          <p:cNvSpPr/>
          <p:nvPr/>
        </p:nvSpPr>
        <p:spPr>
          <a:xfrm>
            <a:off x="13846175" y="1352550"/>
            <a:ext cx="1762125" cy="59055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Element 149">
            <a:extLst>
              <a:ext uri="{FF2B5EF4-FFF2-40B4-BE49-F238E27FC236}">
                <a16:creationId xmlns:a16="http://schemas.microsoft.com/office/drawing/2014/main" id="{7E966827-0B46-6ADC-ACC0-40FC1924D433}"/>
              </a:ext>
            </a:extLst>
          </p:cNvPr>
          <p:cNvSpPr txBox="1"/>
          <p:nvPr/>
        </p:nvSpPr>
        <p:spPr>
          <a:xfrm>
            <a:off x="14044083" y="1495488"/>
            <a:ext cx="15621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80000"/>
              </a:lnSpc>
            </a:pPr>
            <a:r>
              <a:rPr b="1">
                <a:solidFill>
                  <a:srgbClr val="081B41"/>
                </a:solidFill>
                <a:ea typeface="Calibri"/>
                <a:cs typeface="Calibri"/>
              </a:rPr>
              <a:t>Missing Values</a:t>
            </a:r>
          </a:p>
        </p:txBody>
      </p:sp>
      <p:sp>
        <p:nvSpPr>
          <p:cNvPr id="152" name="Element 151">
            <a:extLst>
              <a:ext uri="{FF2B5EF4-FFF2-40B4-BE49-F238E27FC236}">
                <a16:creationId xmlns:a16="http://schemas.microsoft.com/office/drawing/2014/main" id="{8C30A259-353E-5FF4-0AB9-FAD8DCF76407}"/>
              </a:ext>
            </a:extLst>
          </p:cNvPr>
          <p:cNvSpPr/>
          <p:nvPr/>
        </p:nvSpPr>
        <p:spPr>
          <a:xfrm>
            <a:off x="10763250" y="2324100"/>
            <a:ext cx="4933950" cy="1247775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Element 154">
            <a:extLst>
              <a:ext uri="{FF2B5EF4-FFF2-40B4-BE49-F238E27FC236}">
                <a16:creationId xmlns:a16="http://schemas.microsoft.com/office/drawing/2014/main" id="{24DBB78B-F69B-7FCC-79EB-F51343366D83}"/>
              </a:ext>
            </a:extLst>
          </p:cNvPr>
          <p:cNvSpPr txBox="1"/>
          <p:nvPr/>
        </p:nvSpPr>
        <p:spPr>
          <a:xfrm>
            <a:off x="11315700" y="2362200"/>
            <a:ext cx="42767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Action-Conditioned State</a:t>
            </a:r>
          </a:p>
        </p:txBody>
      </p:sp>
      <p:sp>
        <p:nvSpPr>
          <p:cNvPr id="156" name="Element 155">
            <a:extLst>
              <a:ext uri="{FF2B5EF4-FFF2-40B4-BE49-F238E27FC236}">
                <a16:creationId xmlns:a16="http://schemas.microsoft.com/office/drawing/2014/main" id="{18798339-82D4-DA9F-9231-C9C8A4236B82}"/>
              </a:ext>
            </a:extLst>
          </p:cNvPr>
          <p:cNvSpPr/>
          <p:nvPr/>
        </p:nvSpPr>
        <p:spPr>
          <a:xfrm>
            <a:off x="10906125" y="2724150"/>
            <a:ext cx="1323975" cy="7239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Element 156">
            <a:extLst>
              <a:ext uri="{FF2B5EF4-FFF2-40B4-BE49-F238E27FC236}">
                <a16:creationId xmlns:a16="http://schemas.microsoft.com/office/drawing/2014/main" id="{DEF6E433-7E0C-1DA0-B19A-19CD89BB1D75}"/>
              </a:ext>
            </a:extLst>
          </p:cNvPr>
          <p:cNvSpPr txBox="1"/>
          <p:nvPr/>
        </p:nvSpPr>
        <p:spPr>
          <a:xfrm>
            <a:off x="10944225" y="2762250"/>
            <a:ext cx="12668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Input Version</a:t>
            </a:r>
          </a:p>
        </p:txBody>
      </p:sp>
      <p:sp>
        <p:nvSpPr>
          <p:cNvPr id="158" name="Editable Curve 157">
            <a:extLst>
              <a:ext uri="{FF2B5EF4-FFF2-40B4-BE49-F238E27FC236}">
                <a16:creationId xmlns:a16="http://schemas.microsoft.com/office/drawing/2014/main" id="{C5844E24-0C87-15D0-24B7-2D8F1C8B4EC9}"/>
              </a:ext>
            </a:extLst>
          </p:cNvPr>
          <p:cNvSpPr/>
          <p:nvPr/>
        </p:nvSpPr>
        <p:spPr>
          <a:xfrm>
            <a:off x="11029950" y="3152433"/>
            <a:ext cx="455381" cy="134007"/>
          </a:xfrm>
          <a:custGeom>
            <a:avLst/>
            <a:gdLst/>
            <a:ahLst/>
            <a:cxnLst/>
            <a:rect l="0" t="0" r="0" b="0"/>
            <a:pathLst>
              <a:path w="455381" h="134007">
                <a:moveTo>
                  <a:pt x="0" y="67017"/>
                </a:moveTo>
                <a:lnTo>
                  <a:pt x="12308" y="37248"/>
                </a:lnTo>
                <a:lnTo>
                  <a:pt x="24615" y="13667"/>
                </a:lnTo>
                <a:lnTo>
                  <a:pt x="36923" y="1178"/>
                </a:lnTo>
                <a:lnTo>
                  <a:pt x="49230" y="2376"/>
                </a:lnTo>
                <a:lnTo>
                  <a:pt x="61538" y="17013"/>
                </a:lnTo>
                <a:lnTo>
                  <a:pt x="73846" y="42046"/>
                </a:lnTo>
                <a:lnTo>
                  <a:pt x="86153" y="72270"/>
                </a:lnTo>
                <a:lnTo>
                  <a:pt x="98461" y="101402"/>
                </a:lnTo>
                <a:lnTo>
                  <a:pt x="110768" y="123385"/>
                </a:lnTo>
                <a:lnTo>
                  <a:pt x="123076" y="133650"/>
                </a:lnTo>
                <a:lnTo>
                  <a:pt x="135383" y="130063"/>
                </a:lnTo>
                <a:lnTo>
                  <a:pt x="147691" y="113368"/>
                </a:lnTo>
                <a:lnTo>
                  <a:pt x="159999" y="87038"/>
                </a:lnTo>
                <a:lnTo>
                  <a:pt x="172306" y="56545"/>
                </a:lnTo>
                <a:lnTo>
                  <a:pt x="184614" y="28229"/>
                </a:lnTo>
                <a:lnTo>
                  <a:pt x="196921" y="7978"/>
                </a:lnTo>
                <a:lnTo>
                  <a:pt x="209229" y="0"/>
                </a:lnTo>
                <a:lnTo>
                  <a:pt x="221537" y="5955"/>
                </a:lnTo>
                <a:lnTo>
                  <a:pt x="233844" y="24604"/>
                </a:lnTo>
                <a:lnTo>
                  <a:pt x="246152" y="52071"/>
                </a:lnTo>
                <a:lnTo>
                  <a:pt x="258459" y="82645"/>
                </a:lnTo>
                <a:lnTo>
                  <a:pt x="270767" y="109970"/>
                </a:lnTo>
                <a:lnTo>
                  <a:pt x="283074" y="128366"/>
                </a:lnTo>
                <a:lnTo>
                  <a:pt x="295382" y="134007"/>
                </a:lnTo>
                <a:lnTo>
                  <a:pt x="307690" y="125722"/>
                </a:lnTo>
                <a:lnTo>
                  <a:pt x="319997" y="105232"/>
                </a:lnTo>
                <a:lnTo>
                  <a:pt x="332305" y="76797"/>
                </a:lnTo>
                <a:lnTo>
                  <a:pt x="344612" y="46330"/>
                </a:lnTo>
                <a:lnTo>
                  <a:pt x="356920" y="20163"/>
                </a:lnTo>
                <a:lnTo>
                  <a:pt x="369228" y="3737"/>
                </a:lnTo>
                <a:lnTo>
                  <a:pt x="381535" y="467"/>
                </a:lnTo>
                <a:lnTo>
                  <a:pt x="393843" y="11032"/>
                </a:lnTo>
                <a:lnTo>
                  <a:pt x="406150" y="33236"/>
                </a:lnTo>
                <a:lnTo>
                  <a:pt x="418458" y="62463"/>
                </a:lnTo>
                <a:lnTo>
                  <a:pt x="430765" y="92637"/>
                </a:lnTo>
                <a:lnTo>
                  <a:pt x="443073" y="117485"/>
                </a:lnTo>
                <a:lnTo>
                  <a:pt x="455381" y="131841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159" name="Editable Curve 158">
            <a:extLst>
              <a:ext uri="{FF2B5EF4-FFF2-40B4-BE49-F238E27FC236}">
                <a16:creationId xmlns:a16="http://schemas.microsoft.com/office/drawing/2014/main" id="{0E064C22-01C8-2EEB-6D15-26387D410756}"/>
              </a:ext>
            </a:extLst>
          </p:cNvPr>
          <p:cNvSpPr/>
          <p:nvPr/>
        </p:nvSpPr>
        <p:spPr>
          <a:xfrm>
            <a:off x="11645329" y="3152413"/>
            <a:ext cx="479996" cy="133993"/>
          </a:xfrm>
          <a:custGeom>
            <a:avLst/>
            <a:gdLst/>
            <a:ahLst/>
            <a:cxnLst/>
            <a:rect l="0" t="0" r="0" b="0"/>
            <a:pathLst>
              <a:path w="479996" h="133993">
                <a:moveTo>
                  <a:pt x="0" y="123782"/>
                </a:moveTo>
                <a:lnTo>
                  <a:pt x="12308" y="133745"/>
                </a:lnTo>
                <a:lnTo>
                  <a:pt x="24615" y="129841"/>
                </a:lnTo>
                <a:lnTo>
                  <a:pt x="36923" y="112880"/>
                </a:lnTo>
                <a:lnTo>
                  <a:pt x="49230" y="86388"/>
                </a:lnTo>
                <a:lnTo>
                  <a:pt x="61538" y="55874"/>
                </a:lnTo>
                <a:lnTo>
                  <a:pt x="73846" y="27680"/>
                </a:lnTo>
                <a:lnTo>
                  <a:pt x="86153" y="7669"/>
                </a:lnTo>
                <a:lnTo>
                  <a:pt x="98461" y="0"/>
                </a:lnTo>
                <a:lnTo>
                  <a:pt x="110768" y="6268"/>
                </a:lnTo>
                <a:lnTo>
                  <a:pt x="123076" y="25169"/>
                </a:lnTo>
                <a:lnTo>
                  <a:pt x="135383" y="52775"/>
                </a:lnTo>
                <a:lnTo>
                  <a:pt x="147691" y="83346"/>
                </a:lnTo>
                <a:lnTo>
                  <a:pt x="159999" y="110526"/>
                </a:lnTo>
                <a:lnTo>
                  <a:pt x="172306" y="128665"/>
                </a:lnTo>
                <a:lnTo>
                  <a:pt x="184614" y="133993"/>
                </a:lnTo>
                <a:lnTo>
                  <a:pt x="196921" y="125400"/>
                </a:lnTo>
                <a:lnTo>
                  <a:pt x="209229" y="104674"/>
                </a:lnTo>
                <a:lnTo>
                  <a:pt x="221537" y="76124"/>
                </a:lnTo>
                <a:lnTo>
                  <a:pt x="233844" y="45685"/>
                </a:lnTo>
                <a:lnTo>
                  <a:pt x="246152" y="19685"/>
                </a:lnTo>
                <a:lnTo>
                  <a:pt x="258459" y="3529"/>
                </a:lnTo>
                <a:lnTo>
                  <a:pt x="270767" y="576"/>
                </a:lnTo>
                <a:lnTo>
                  <a:pt x="283074" y="11440"/>
                </a:lnTo>
                <a:lnTo>
                  <a:pt x="295382" y="33863"/>
                </a:lnTo>
                <a:lnTo>
                  <a:pt x="307690" y="63183"/>
                </a:lnTo>
                <a:lnTo>
                  <a:pt x="319997" y="93303"/>
                </a:lnTo>
                <a:lnTo>
                  <a:pt x="332305" y="117964"/>
                </a:lnTo>
                <a:lnTo>
                  <a:pt x="344612" y="132037"/>
                </a:lnTo>
                <a:lnTo>
                  <a:pt x="356920" y="132597"/>
                </a:lnTo>
                <a:lnTo>
                  <a:pt x="369228" y="119527"/>
                </a:lnTo>
                <a:lnTo>
                  <a:pt x="381535" y="95545"/>
                </a:lnTo>
                <a:lnTo>
                  <a:pt x="393843" y="65637"/>
                </a:lnTo>
                <a:lnTo>
                  <a:pt x="406150" y="36020"/>
                </a:lnTo>
                <a:lnTo>
                  <a:pt x="418458" y="12851"/>
                </a:lnTo>
                <a:lnTo>
                  <a:pt x="430765" y="947"/>
                </a:lnTo>
                <a:lnTo>
                  <a:pt x="443073" y="2783"/>
                </a:lnTo>
                <a:lnTo>
                  <a:pt x="455381" y="17977"/>
                </a:lnTo>
                <a:lnTo>
                  <a:pt x="467688" y="43371"/>
                </a:lnTo>
                <a:lnTo>
                  <a:pt x="479996" y="73685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160" name="Element 159">
            <a:extLst>
              <a:ext uri="{FF2B5EF4-FFF2-40B4-BE49-F238E27FC236}">
                <a16:creationId xmlns:a16="http://schemas.microsoft.com/office/drawing/2014/main" id="{79D9DA51-26B3-C1E8-906A-659BE6B773FE}"/>
              </a:ext>
            </a:extLst>
          </p:cNvPr>
          <p:cNvSpPr/>
          <p:nvPr/>
        </p:nvSpPr>
        <p:spPr>
          <a:xfrm>
            <a:off x="11497638" y="3124962"/>
            <a:ext cx="147691" cy="167640"/>
          </a:xfrm>
          <a:prstGeom prst="rect">
            <a:avLst/>
          </a:prstGeom>
          <a:solidFill>
            <a:srgbClr val="FFFFFF"/>
          </a:solidFill>
          <a:ln w="11430">
            <a:solidFill>
              <a:srgbClr val="173D65"/>
            </a:solidFill>
            <a:prstDash val="dash"/>
          </a:ln>
        </p:spPr>
      </p:sp>
      <p:sp>
        <p:nvSpPr>
          <p:cNvPr id="161" name="Element 160">
            <a:extLst>
              <a:ext uri="{FF2B5EF4-FFF2-40B4-BE49-F238E27FC236}">
                <a16:creationId xmlns:a16="http://schemas.microsoft.com/office/drawing/2014/main" id="{5CAA6B22-B8A8-A269-D1CB-E68CD87A9105}"/>
              </a:ext>
            </a:extLst>
          </p:cNvPr>
          <p:cNvSpPr/>
          <p:nvPr/>
        </p:nvSpPr>
        <p:spPr>
          <a:xfrm>
            <a:off x="12487275" y="2724150"/>
            <a:ext cx="1409700" cy="7239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Element 161">
            <a:extLst>
              <a:ext uri="{FF2B5EF4-FFF2-40B4-BE49-F238E27FC236}">
                <a16:creationId xmlns:a16="http://schemas.microsoft.com/office/drawing/2014/main" id="{3A247F39-2F08-8390-B7AF-B87BBE155CD3}"/>
              </a:ext>
            </a:extLst>
          </p:cNvPr>
          <p:cNvSpPr txBox="1"/>
          <p:nvPr/>
        </p:nvSpPr>
        <p:spPr>
          <a:xfrm>
            <a:off x="12515850" y="2762250"/>
            <a:ext cx="13620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Reference</a:t>
            </a:r>
          </a:p>
        </p:txBody>
      </p:sp>
      <p:sp>
        <p:nvSpPr>
          <p:cNvPr id="163" name="Editable Curve 162">
            <a:extLst>
              <a:ext uri="{FF2B5EF4-FFF2-40B4-BE49-F238E27FC236}">
                <a16:creationId xmlns:a16="http://schemas.microsoft.com/office/drawing/2014/main" id="{1064A786-1D2A-84EF-82EE-B1495CA28388}"/>
              </a:ext>
            </a:extLst>
          </p:cNvPr>
          <p:cNvSpPr/>
          <p:nvPr/>
        </p:nvSpPr>
        <p:spPr>
          <a:xfrm>
            <a:off x="12630150" y="3194688"/>
            <a:ext cx="475180" cy="49777"/>
          </a:xfrm>
          <a:custGeom>
            <a:avLst/>
            <a:gdLst/>
            <a:ahLst/>
            <a:cxnLst/>
            <a:rect l="0" t="0" r="0" b="0"/>
            <a:pathLst>
              <a:path w="475180" h="49777">
                <a:moveTo>
                  <a:pt x="0" y="12451"/>
                </a:moveTo>
                <a:lnTo>
                  <a:pt x="12843" y="16772"/>
                </a:lnTo>
                <a:lnTo>
                  <a:pt x="25685" y="12883"/>
                </a:lnTo>
                <a:lnTo>
                  <a:pt x="38528" y="12835"/>
                </a:lnTo>
                <a:lnTo>
                  <a:pt x="51371" y="18866"/>
                </a:lnTo>
                <a:lnTo>
                  <a:pt x="64213" y="5249"/>
                </a:lnTo>
                <a:lnTo>
                  <a:pt x="77056" y="32108"/>
                </a:lnTo>
                <a:lnTo>
                  <a:pt x="89899" y="31083"/>
                </a:lnTo>
                <a:lnTo>
                  <a:pt x="102742" y="49750"/>
                </a:lnTo>
                <a:lnTo>
                  <a:pt x="115584" y="37341"/>
                </a:lnTo>
                <a:lnTo>
                  <a:pt x="128427" y="27164"/>
                </a:lnTo>
                <a:lnTo>
                  <a:pt x="141270" y="31466"/>
                </a:lnTo>
                <a:lnTo>
                  <a:pt x="154112" y="16943"/>
                </a:lnTo>
                <a:lnTo>
                  <a:pt x="166955" y="26633"/>
                </a:lnTo>
                <a:lnTo>
                  <a:pt x="179798" y="0"/>
                </a:lnTo>
                <a:lnTo>
                  <a:pt x="192640" y="9853"/>
                </a:lnTo>
                <a:lnTo>
                  <a:pt x="205483" y="12846"/>
                </a:lnTo>
                <a:lnTo>
                  <a:pt x="218326" y="27186"/>
                </a:lnTo>
                <a:lnTo>
                  <a:pt x="231169" y="41082"/>
                </a:lnTo>
                <a:lnTo>
                  <a:pt x="244011" y="26881"/>
                </a:lnTo>
                <a:lnTo>
                  <a:pt x="256854" y="42704"/>
                </a:lnTo>
                <a:lnTo>
                  <a:pt x="269697" y="30081"/>
                </a:lnTo>
                <a:lnTo>
                  <a:pt x="282539" y="43090"/>
                </a:lnTo>
                <a:lnTo>
                  <a:pt x="295382" y="24235"/>
                </a:lnTo>
                <a:lnTo>
                  <a:pt x="308225" y="9961"/>
                </a:lnTo>
                <a:lnTo>
                  <a:pt x="321067" y="10264"/>
                </a:lnTo>
                <a:lnTo>
                  <a:pt x="333910" y="3756"/>
                </a:lnTo>
                <a:lnTo>
                  <a:pt x="346753" y="27838"/>
                </a:lnTo>
                <a:lnTo>
                  <a:pt x="359596" y="13979"/>
                </a:lnTo>
                <a:lnTo>
                  <a:pt x="372438" y="29163"/>
                </a:lnTo>
                <a:lnTo>
                  <a:pt x="385281" y="28394"/>
                </a:lnTo>
                <a:lnTo>
                  <a:pt x="398124" y="41260"/>
                </a:lnTo>
                <a:lnTo>
                  <a:pt x="410966" y="49777"/>
                </a:lnTo>
                <a:lnTo>
                  <a:pt x="423809" y="27866"/>
                </a:lnTo>
                <a:lnTo>
                  <a:pt x="436652" y="29783"/>
                </a:lnTo>
                <a:lnTo>
                  <a:pt x="449494" y="7155"/>
                </a:lnTo>
                <a:lnTo>
                  <a:pt x="462337" y="22361"/>
                </a:lnTo>
                <a:lnTo>
                  <a:pt x="475180" y="12083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164" name="Editable Curve 163">
            <a:extLst>
              <a:ext uri="{FF2B5EF4-FFF2-40B4-BE49-F238E27FC236}">
                <a16:creationId xmlns:a16="http://schemas.microsoft.com/office/drawing/2014/main" id="{F7B4C4E9-CC7C-D313-5D10-9A195F6C9A14}"/>
              </a:ext>
            </a:extLst>
          </p:cNvPr>
          <p:cNvSpPr/>
          <p:nvPr/>
        </p:nvSpPr>
        <p:spPr>
          <a:xfrm>
            <a:off x="13272285" y="3196249"/>
            <a:ext cx="500865" cy="47521"/>
          </a:xfrm>
          <a:custGeom>
            <a:avLst/>
            <a:gdLst/>
            <a:ahLst/>
            <a:cxnLst/>
            <a:rect l="0" t="0" r="0" b="0"/>
            <a:pathLst>
              <a:path w="500865" h="47521">
                <a:moveTo>
                  <a:pt x="0" y="19452"/>
                </a:moveTo>
                <a:lnTo>
                  <a:pt x="12843" y="21861"/>
                </a:lnTo>
                <a:lnTo>
                  <a:pt x="25685" y="31321"/>
                </a:lnTo>
                <a:lnTo>
                  <a:pt x="38528" y="34023"/>
                </a:lnTo>
                <a:lnTo>
                  <a:pt x="51371" y="26533"/>
                </a:lnTo>
                <a:lnTo>
                  <a:pt x="64213" y="46893"/>
                </a:lnTo>
                <a:lnTo>
                  <a:pt x="77056" y="29683"/>
                </a:lnTo>
                <a:lnTo>
                  <a:pt x="89899" y="32997"/>
                </a:lnTo>
                <a:lnTo>
                  <a:pt x="102742" y="6729"/>
                </a:lnTo>
                <a:lnTo>
                  <a:pt x="115584" y="6236"/>
                </a:lnTo>
                <a:lnTo>
                  <a:pt x="128427" y="13698"/>
                </a:lnTo>
                <a:lnTo>
                  <a:pt x="141270" y="10154"/>
                </a:lnTo>
                <a:lnTo>
                  <a:pt x="154112" y="25053"/>
                </a:lnTo>
                <a:lnTo>
                  <a:pt x="166955" y="10410"/>
                </a:lnTo>
                <a:lnTo>
                  <a:pt x="179798" y="36013"/>
                </a:lnTo>
                <a:lnTo>
                  <a:pt x="192640" y="36570"/>
                </a:lnTo>
                <a:lnTo>
                  <a:pt x="205483" y="44916"/>
                </a:lnTo>
                <a:lnTo>
                  <a:pt x="218326" y="36441"/>
                </a:lnTo>
                <a:lnTo>
                  <a:pt x="231169" y="15809"/>
                </a:lnTo>
                <a:lnTo>
                  <a:pt x="244011" y="24949"/>
                </a:lnTo>
                <a:lnTo>
                  <a:pt x="256854" y="8495"/>
                </a:lnTo>
                <a:lnTo>
                  <a:pt x="269697" y="20735"/>
                </a:lnTo>
                <a:lnTo>
                  <a:pt x="282539" y="1713"/>
                </a:lnTo>
                <a:lnTo>
                  <a:pt x="295382" y="8941"/>
                </a:lnTo>
                <a:lnTo>
                  <a:pt x="308225" y="22126"/>
                </a:lnTo>
                <a:lnTo>
                  <a:pt x="321067" y="29206"/>
                </a:lnTo>
                <a:lnTo>
                  <a:pt x="333910" y="47521"/>
                </a:lnTo>
                <a:lnTo>
                  <a:pt x="346753" y="26594"/>
                </a:lnTo>
                <a:lnTo>
                  <a:pt x="359596" y="38488"/>
                </a:lnTo>
                <a:lnTo>
                  <a:pt x="372438" y="25791"/>
                </a:lnTo>
                <a:lnTo>
                  <a:pt x="385281" y="30794"/>
                </a:lnTo>
                <a:lnTo>
                  <a:pt x="398124" y="19795"/>
                </a:lnTo>
                <a:lnTo>
                  <a:pt x="410966" y="0"/>
                </a:lnTo>
                <a:lnTo>
                  <a:pt x="423809" y="10312"/>
                </a:lnTo>
                <a:lnTo>
                  <a:pt x="436652" y="3985"/>
                </a:lnTo>
                <a:lnTo>
                  <a:pt x="449494" y="31565"/>
                </a:lnTo>
                <a:lnTo>
                  <a:pt x="462337" y="22015"/>
                </a:lnTo>
                <a:lnTo>
                  <a:pt x="475180" y="30544"/>
                </a:lnTo>
                <a:lnTo>
                  <a:pt x="488022" y="34617"/>
                </a:lnTo>
                <a:lnTo>
                  <a:pt x="500865" y="35821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165" name="Element 164">
            <a:extLst>
              <a:ext uri="{FF2B5EF4-FFF2-40B4-BE49-F238E27FC236}">
                <a16:creationId xmlns:a16="http://schemas.microsoft.com/office/drawing/2014/main" id="{499D5B47-CE25-E076-3E0B-295A52453FD5}"/>
              </a:ext>
            </a:extLst>
          </p:cNvPr>
          <p:cNvSpPr/>
          <p:nvPr/>
        </p:nvSpPr>
        <p:spPr>
          <a:xfrm>
            <a:off x="13118172" y="3124962"/>
            <a:ext cx="154112" cy="167640"/>
          </a:xfrm>
          <a:prstGeom prst="rect">
            <a:avLst/>
          </a:prstGeom>
          <a:solidFill>
            <a:srgbClr val="FFFFFF"/>
          </a:solidFill>
          <a:ln w="11430">
            <a:solidFill>
              <a:srgbClr val="173D65"/>
            </a:solidFill>
            <a:prstDash val="dash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Equation 1">
                <a:extLst>
                  <a:ext uri="{FF2B5EF4-FFF2-40B4-BE49-F238E27FC236}">
                    <a16:creationId xmlns:a16="http://schemas.microsoft.com/office/drawing/2014/main" id="{12EA2C8C-AB76-C91D-FE9E-DAEE096FF205}"/>
                  </a:ext>
                </a:extLst>
              </p:cNvPr>
              <p:cNvSpPr txBox="1"/>
              <p:nvPr/>
            </p:nvSpPr>
            <p:spPr>
              <a:xfrm>
                <a:off x="12268200" y="2933700"/>
                <a:ext cx="1905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sz="2200" b="1" i="1">
                          <a:solidFill>
                            <a:srgbClr val="081B41"/>
                          </a:solidFill>
                        </a:rPr>
                        <m:t>+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6" name="Equation 1">
                <a:extLst>
                  <a:ext uri="{FF2B5EF4-FFF2-40B4-BE49-F238E27FC236}">
                    <a16:creationId xmlns:a16="http://schemas.microsoft.com/office/drawing/2014/main" id="{12EA2C8C-AB76-C91D-FE9E-DAEE096FF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8200" y="2933700"/>
                <a:ext cx="190500" cy="323850"/>
              </a:xfrm>
              <a:prstGeom prst="rect">
                <a:avLst/>
              </a:prstGeom>
              <a:blipFill>
                <a:blip r:embed="rId3"/>
                <a:stretch>
                  <a:fillRect l="-45161" r="-9677" b="-37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Element 165">
            <a:extLst>
              <a:ext uri="{FF2B5EF4-FFF2-40B4-BE49-F238E27FC236}">
                <a16:creationId xmlns:a16="http://schemas.microsoft.com/office/drawing/2014/main" id="{CB10DD68-A2F4-403C-EC51-1DC548CE9C2F}"/>
              </a:ext>
            </a:extLst>
          </p:cNvPr>
          <p:cNvSpPr/>
          <p:nvPr/>
        </p:nvSpPr>
        <p:spPr>
          <a:xfrm>
            <a:off x="13944600" y="3028950"/>
            <a:ext cx="228600" cy="161925"/>
          </a:xfrm>
          <a:prstGeom prst="rightArrow">
            <a:avLst/>
          </a:prstGeom>
          <a:solidFill>
            <a:srgbClr val="173D6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Element 166">
            <a:extLst>
              <a:ext uri="{FF2B5EF4-FFF2-40B4-BE49-F238E27FC236}">
                <a16:creationId xmlns:a16="http://schemas.microsoft.com/office/drawing/2014/main" id="{0B5380C2-C8B8-FF12-FDC1-31BECDD0309A}"/>
              </a:ext>
            </a:extLst>
          </p:cNvPr>
          <p:cNvSpPr/>
          <p:nvPr/>
        </p:nvSpPr>
        <p:spPr>
          <a:xfrm>
            <a:off x="14220825" y="2724150"/>
            <a:ext cx="1381125" cy="7239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Element 167">
            <a:extLst>
              <a:ext uri="{FF2B5EF4-FFF2-40B4-BE49-F238E27FC236}">
                <a16:creationId xmlns:a16="http://schemas.microsoft.com/office/drawing/2014/main" id="{A573B2C6-DCFD-A201-78E5-6A3BA0F220F0}"/>
              </a:ext>
            </a:extLst>
          </p:cNvPr>
          <p:cNvSpPr txBox="1"/>
          <p:nvPr/>
        </p:nvSpPr>
        <p:spPr>
          <a:xfrm>
            <a:off x="14211300" y="2963333"/>
            <a:ext cx="13239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Query State</a:t>
            </a:r>
            <a:endParaRPr lang="en-US" sz="1800" b="1">
              <a:solidFill>
                <a:srgbClr val="081B41"/>
              </a:solidFill>
              <a:ea typeface="Calibri"/>
              <a:cs typeface="Calibri"/>
            </a:endParaRPr>
          </a:p>
          <a:p>
            <a:pPr algn="ctr"/>
            <a:r>
              <a:rPr lang="en-US" altLang="zh-CN" b="1">
                <a:solidFill>
                  <a:srgbClr val="081B41"/>
                </a:solidFill>
              </a:rPr>
              <a:t>Features</a:t>
            </a:r>
          </a:p>
        </p:txBody>
      </p:sp>
      <p:sp>
        <p:nvSpPr>
          <p:cNvPr id="170" name="Element 168">
            <a:extLst>
              <a:ext uri="{FF2B5EF4-FFF2-40B4-BE49-F238E27FC236}">
                <a16:creationId xmlns:a16="http://schemas.microsoft.com/office/drawing/2014/main" id="{9F8BDBF0-60A7-2DCF-7995-02879C28211F}"/>
              </a:ext>
            </a:extLst>
          </p:cNvPr>
          <p:cNvSpPr txBox="1"/>
          <p:nvPr/>
        </p:nvSpPr>
        <p:spPr>
          <a:xfrm>
            <a:off x="14249400" y="3152775"/>
            <a:ext cx="13239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sz="1600" b="1">
              <a:solidFill>
                <a:srgbClr val="081B41"/>
              </a:solidFill>
              <a:ea typeface="Calibri"/>
              <a:cs typeface="Calibri"/>
            </a:endParaRPr>
          </a:p>
        </p:txBody>
      </p:sp>
      <p:sp>
        <p:nvSpPr>
          <p:cNvPr id="172" name="Element 170">
            <a:extLst>
              <a:ext uri="{FF2B5EF4-FFF2-40B4-BE49-F238E27FC236}">
                <a16:creationId xmlns:a16="http://schemas.microsoft.com/office/drawing/2014/main" id="{1886EEDF-BB6C-3376-4331-F21250974B4C}"/>
              </a:ext>
            </a:extLst>
          </p:cNvPr>
          <p:cNvSpPr/>
          <p:nvPr/>
        </p:nvSpPr>
        <p:spPr>
          <a:xfrm>
            <a:off x="10763250" y="3771900"/>
            <a:ext cx="4933950" cy="120015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Element 173">
            <a:extLst>
              <a:ext uri="{FF2B5EF4-FFF2-40B4-BE49-F238E27FC236}">
                <a16:creationId xmlns:a16="http://schemas.microsoft.com/office/drawing/2014/main" id="{122E2F21-6797-84C0-3B8C-BA2483D43EDC}"/>
              </a:ext>
            </a:extLst>
          </p:cNvPr>
          <p:cNvSpPr txBox="1"/>
          <p:nvPr/>
        </p:nvSpPr>
        <p:spPr>
          <a:xfrm>
            <a:off x="11315700" y="3810000"/>
            <a:ext cx="42767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Same-Action Retrieval</a:t>
            </a:r>
          </a:p>
        </p:txBody>
      </p:sp>
      <p:sp>
        <p:nvSpPr>
          <p:cNvPr id="176" name="Element 174">
            <a:extLst>
              <a:ext uri="{FF2B5EF4-FFF2-40B4-BE49-F238E27FC236}">
                <a16:creationId xmlns:a16="http://schemas.microsoft.com/office/drawing/2014/main" id="{8F1F16E3-419A-C334-4355-D008F2AF6752}"/>
              </a:ext>
            </a:extLst>
          </p:cNvPr>
          <p:cNvSpPr/>
          <p:nvPr/>
        </p:nvSpPr>
        <p:spPr>
          <a:xfrm>
            <a:off x="11125200" y="4162425"/>
            <a:ext cx="2114550" cy="723900"/>
          </a:xfrm>
          <a:prstGeom prst="can">
            <a:avLst/>
          </a:prstGeom>
          <a:solidFill>
            <a:srgbClr val="E9E5FA"/>
          </a:solidFill>
          <a:ln w="17145">
            <a:solidFill>
              <a:srgbClr val="081B41"/>
            </a:solidFill>
          </a:ln>
        </p:spPr>
      </p:sp>
      <p:sp>
        <p:nvSpPr>
          <p:cNvPr id="177" name="Element 175">
            <a:extLst>
              <a:ext uri="{FF2B5EF4-FFF2-40B4-BE49-F238E27FC236}">
                <a16:creationId xmlns:a16="http://schemas.microsoft.com/office/drawing/2014/main" id="{179C3582-D038-36CE-7AFB-14A9BABC911B}"/>
              </a:ext>
            </a:extLst>
          </p:cNvPr>
          <p:cNvSpPr txBox="1"/>
          <p:nvPr/>
        </p:nvSpPr>
        <p:spPr>
          <a:xfrm>
            <a:off x="11177587" y="44291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Replay Bank</a:t>
            </a:r>
            <a:endParaRPr lang="en-US" sz="2000" b="1">
              <a:solidFill>
                <a:srgbClr val="081B41"/>
              </a:solidFill>
              <a:ea typeface="Calibri"/>
              <a:cs typeface="Calibri"/>
            </a:endParaRPr>
          </a:p>
          <a:p>
            <a:pPr algn="ctr">
              <a:lnSpc>
                <a:spcPct val="80000"/>
              </a:lnSpc>
            </a:pPr>
            <a:r>
              <a:rPr lang="en-US" altLang="zh-CN" b="1">
                <a:solidFill>
                  <a:srgbClr val="081B41"/>
                </a:solidFill>
              </a:rPr>
              <a:t>(State, Action, Utility)</a:t>
            </a:r>
          </a:p>
        </p:txBody>
      </p:sp>
      <p:sp>
        <p:nvSpPr>
          <p:cNvPr id="179" name="Element 177">
            <a:extLst>
              <a:ext uri="{FF2B5EF4-FFF2-40B4-BE49-F238E27FC236}">
                <a16:creationId xmlns:a16="http://schemas.microsoft.com/office/drawing/2014/main" id="{5F6D8935-EC8A-4D7A-20CF-5B0D4C856E45}"/>
              </a:ext>
            </a:extLst>
          </p:cNvPr>
          <p:cNvSpPr txBox="1"/>
          <p:nvPr/>
        </p:nvSpPr>
        <p:spPr>
          <a:xfrm>
            <a:off x="13638998" y="4294187"/>
            <a:ext cx="1976711" cy="5334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>
            <a:defPPr>
              <a:defRPr lang="zh-CN"/>
            </a:defPPr>
          </a:lstStyle>
          <a:p>
            <a:pPr algn="ctr">
              <a:lnSpc>
                <a:spcPct val="80000"/>
              </a:lnSpc>
            </a:pPr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Nearest States</a:t>
            </a:r>
          </a:p>
          <a:p>
            <a:pPr algn="ctr">
              <a:lnSpc>
                <a:spcPct val="80000"/>
              </a:lnSpc>
            </a:pPr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Realized Utilities</a:t>
            </a:r>
          </a:p>
        </p:txBody>
      </p:sp>
      <p:sp>
        <p:nvSpPr>
          <p:cNvPr id="181" name="Element 179">
            <a:extLst>
              <a:ext uri="{FF2B5EF4-FFF2-40B4-BE49-F238E27FC236}">
                <a16:creationId xmlns:a16="http://schemas.microsoft.com/office/drawing/2014/main" id="{FA07C95C-BAD3-0E5B-7F6B-7383EC98AE5B}"/>
              </a:ext>
            </a:extLst>
          </p:cNvPr>
          <p:cNvSpPr/>
          <p:nvPr/>
        </p:nvSpPr>
        <p:spPr>
          <a:xfrm>
            <a:off x="10763250" y="5162550"/>
            <a:ext cx="4933950" cy="1590675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" name="Element 182">
            <a:extLst>
              <a:ext uri="{FF2B5EF4-FFF2-40B4-BE49-F238E27FC236}">
                <a16:creationId xmlns:a16="http://schemas.microsoft.com/office/drawing/2014/main" id="{C8607548-0E17-FFA7-D7D7-764010A53DCB}"/>
              </a:ext>
            </a:extLst>
          </p:cNvPr>
          <p:cNvSpPr txBox="1"/>
          <p:nvPr/>
        </p:nvSpPr>
        <p:spPr>
          <a:xfrm>
            <a:off x="11315700" y="5200650"/>
            <a:ext cx="42767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Conservative Local Utility</a:t>
            </a:r>
          </a:p>
        </p:txBody>
      </p:sp>
      <p:sp>
        <p:nvSpPr>
          <p:cNvPr id="185" name="Element 183">
            <a:extLst>
              <a:ext uri="{FF2B5EF4-FFF2-40B4-BE49-F238E27FC236}">
                <a16:creationId xmlns:a16="http://schemas.microsoft.com/office/drawing/2014/main" id="{5BBA7C25-373A-3FD1-55DA-F43708AE0548}"/>
              </a:ext>
            </a:extLst>
          </p:cNvPr>
          <p:cNvSpPr txBox="1"/>
          <p:nvPr/>
        </p:nvSpPr>
        <p:spPr>
          <a:xfrm>
            <a:off x="10944225" y="5648325"/>
            <a:ext cx="161925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Local Utility</a:t>
            </a:r>
          </a:p>
          <a:p>
            <a:pPr algn="l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Uncertainty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Equation 2">
                <a:extLst>
                  <a:ext uri="{FF2B5EF4-FFF2-40B4-BE49-F238E27FC236}">
                    <a16:creationId xmlns:a16="http://schemas.microsoft.com/office/drawing/2014/main" id="{DA214840-9A0C-715B-AF18-4319E64948F6}"/>
                  </a:ext>
                </a:extLst>
              </p:cNvPr>
              <p:cNvSpPr txBox="1"/>
              <p:nvPr/>
            </p:nvSpPr>
            <p:spPr>
              <a:xfrm>
                <a:off x="10896600" y="6172200"/>
                <a:ext cx="1809750" cy="438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1600" b="1" i="1">
                              <a:solidFill>
                                <a:srgbClr val="081B41"/>
                              </a:solidFill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sz="1600" b="1" i="1">
                              <a:solidFill>
                                <a:srgbClr val="081B41"/>
                              </a:solidFill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sz="1600" b="1" i="1">
                              <a:solidFill>
                                <a:srgbClr val="081B41"/>
                              </a:solidFill>
                            </a:rPr>
                            <m:t>a</m:t>
                          </m:r>
                        </m:sub>
                      </m:sSub>
                      <m:r>
                        <m:rPr>
                          <m:nor/>
                        </m:rPr>
                        <a:rPr sz="1600" b="1" i="1">
                          <a:solidFill>
                            <a:srgbClr val="081B41"/>
                          </a:solidFill>
                        </a:rPr>
                        <m:t> = </m:t>
                      </m:r>
                      <m:sSub>
                        <m:sSubPr>
                          <m:ctrlPr>
                            <a:rPr sz="1600" b="1" i="1">
                              <a:solidFill>
                                <a:srgbClr val="081B4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sz="1600" b="1" i="1">
                                  <a:solidFill>
                                    <a:srgbClr val="081B41"/>
                                  </a:solidFill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sz="1600" b="1" i="1">
                                  <a:solidFill>
                                    <a:srgbClr val="081B41"/>
                                  </a:solidFill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sz="1600" b="1" i="1">
                              <a:solidFill>
                                <a:srgbClr val="081B41"/>
                              </a:solidFill>
                            </a:rPr>
                            <m:t>a</m:t>
                          </m:r>
                        </m:sub>
                      </m:sSub>
                      <m:r>
                        <m:rPr>
                          <m:nor/>
                        </m:rPr>
                        <a:rPr sz="1600" b="1" i="1">
                          <a:solidFill>
                            <a:srgbClr val="081B41"/>
                          </a:solidFill>
                        </a:rPr>
                        <m:t> − β</m:t>
                      </m:r>
                      <m:f>
                        <m:fPr>
                          <m:ctrlPr>
                            <a:rPr sz="1600" b="1" i="1">
                              <a:solidFill>
                                <a:srgbClr val="081B4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1600" b="1" i="1">
                                  <a:solidFill>
                                    <a:srgbClr val="081B4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sz="1600" b="1" i="1">
                                      <a:solidFill>
                                        <a:srgbClr val="081B41"/>
                                      </a:solidFill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sz="1600" b="1" i="1">
                                      <a:solidFill>
                                        <a:srgbClr val="081B41"/>
                                      </a:solidFill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nor/>
                                </m:rPr>
                                <a:rPr sz="1600" b="1" i="1">
                                  <a:solidFill>
                                    <a:srgbClr val="081B41"/>
                                  </a:solidFill>
                                </a:rPr>
                                <m:t>a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sz="1600" b="1" i="1">
                                  <a:solidFill>
                                    <a:srgbClr val="081B4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sz="1600" b="1" i="1">
                                      <a:solidFill>
                                        <a:srgbClr val="081B41"/>
                                      </a:solidFill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sz="1600" b="1" i="1">
                                      <a:solidFill>
                                        <a:srgbClr val="081B41"/>
                                      </a:solidFill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sz="1600" b="1" i="1">
                                      <a:solidFill>
                                        <a:srgbClr val="081B41"/>
                                      </a:solidFill>
                                    </a:rPr>
                                    <m:t>eff,a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6" name="Equation 2">
                <a:extLst>
                  <a:ext uri="{FF2B5EF4-FFF2-40B4-BE49-F238E27FC236}">
                    <a16:creationId xmlns:a16="http://schemas.microsoft.com/office/drawing/2014/main" id="{DA214840-9A0C-715B-AF18-4319E6494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6600" y="6172200"/>
                <a:ext cx="1809750" cy="438150"/>
              </a:xfrm>
              <a:prstGeom prst="rect">
                <a:avLst/>
              </a:prstGeom>
              <a:blipFill>
                <a:blip r:embed="rId4"/>
                <a:stretch>
                  <a:fillRect t="-9859" b="-1831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Editable Curve 184">
            <a:extLst>
              <a:ext uri="{FF2B5EF4-FFF2-40B4-BE49-F238E27FC236}">
                <a16:creationId xmlns:a16="http://schemas.microsoft.com/office/drawing/2014/main" id="{F4900473-E1AA-6A8E-A38A-DA5B7396D9A1}"/>
              </a:ext>
            </a:extLst>
          </p:cNvPr>
          <p:cNvSpPr/>
          <p:nvPr/>
        </p:nvSpPr>
        <p:spPr>
          <a:xfrm>
            <a:off x="13506450" y="5514975"/>
            <a:ext cx="95" cy="914400"/>
          </a:xfrm>
          <a:custGeom>
            <a:avLst/>
            <a:gdLst/>
            <a:ahLst/>
            <a:cxnLst/>
            <a:rect l="0" t="0" r="0" b="0"/>
            <a:pathLst>
              <a:path w="95"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noFill/>
          <a:ln w="12383">
            <a:solidFill>
              <a:srgbClr val="54789A"/>
            </a:solidFill>
          </a:ln>
        </p:spPr>
      </p:sp>
      <p:sp>
        <p:nvSpPr>
          <p:cNvPr id="188" name="Editable Curve 185">
            <a:extLst>
              <a:ext uri="{FF2B5EF4-FFF2-40B4-BE49-F238E27FC236}">
                <a16:creationId xmlns:a16="http://schemas.microsoft.com/office/drawing/2014/main" id="{8E32CAA1-F5EB-AE48-C9C1-56DF2D30AF58}"/>
              </a:ext>
            </a:extLst>
          </p:cNvPr>
          <p:cNvSpPr/>
          <p:nvPr/>
        </p:nvSpPr>
        <p:spPr>
          <a:xfrm>
            <a:off x="13506450" y="6429375"/>
            <a:ext cx="2019300" cy="95"/>
          </a:xfrm>
          <a:custGeom>
            <a:avLst/>
            <a:gdLst/>
            <a:ahLst/>
            <a:cxnLst/>
            <a:rect l="0" t="0" r="0" b="0"/>
            <a:pathLst>
              <a:path w="2019300" h="95">
                <a:moveTo>
                  <a:pt x="0" y="0"/>
                </a:moveTo>
                <a:lnTo>
                  <a:pt x="2019300" y="0"/>
                </a:lnTo>
              </a:path>
            </a:pathLst>
          </a:custGeom>
          <a:noFill/>
          <a:ln w="12383">
            <a:solidFill>
              <a:srgbClr val="081B41"/>
            </a:solidFill>
          </a:ln>
        </p:spPr>
      </p:sp>
      <p:sp>
        <p:nvSpPr>
          <p:cNvPr id="189" name="Editable Curve 186">
            <a:extLst>
              <a:ext uri="{FF2B5EF4-FFF2-40B4-BE49-F238E27FC236}">
                <a16:creationId xmlns:a16="http://schemas.microsoft.com/office/drawing/2014/main" id="{C398471E-7BF9-94EF-3EE9-235D5152AA2F}"/>
              </a:ext>
            </a:extLst>
          </p:cNvPr>
          <p:cNvSpPr/>
          <p:nvPr/>
        </p:nvSpPr>
        <p:spPr>
          <a:xfrm>
            <a:off x="14001750" y="5514975"/>
            <a:ext cx="95" cy="47625"/>
          </a:xfrm>
          <a:custGeom>
            <a:avLst/>
            <a:gdLst/>
            <a:ahLst/>
            <a:cxnLst/>
            <a:rect l="0" t="0" r="0" b="0"/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081B41"/>
            </a:solidFill>
          </a:ln>
        </p:spPr>
      </p:sp>
      <p:sp>
        <p:nvSpPr>
          <p:cNvPr id="190" name="Editable Curve 187">
            <a:extLst>
              <a:ext uri="{FF2B5EF4-FFF2-40B4-BE49-F238E27FC236}">
                <a16:creationId xmlns:a16="http://schemas.microsoft.com/office/drawing/2014/main" id="{6EAFDC9C-48B6-D7F5-278B-A50143D54680}"/>
              </a:ext>
            </a:extLst>
          </p:cNvPr>
          <p:cNvSpPr/>
          <p:nvPr/>
        </p:nvSpPr>
        <p:spPr>
          <a:xfrm>
            <a:off x="14001750" y="5600700"/>
            <a:ext cx="95" cy="47625"/>
          </a:xfrm>
          <a:custGeom>
            <a:avLst/>
            <a:gdLst/>
            <a:ahLst/>
            <a:cxnLst/>
            <a:rect l="0" t="0" r="0" b="0"/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081B41"/>
            </a:solidFill>
          </a:ln>
        </p:spPr>
      </p:sp>
      <p:sp>
        <p:nvSpPr>
          <p:cNvPr id="191" name="Editable Curve 188">
            <a:extLst>
              <a:ext uri="{FF2B5EF4-FFF2-40B4-BE49-F238E27FC236}">
                <a16:creationId xmlns:a16="http://schemas.microsoft.com/office/drawing/2014/main" id="{D7FC69A9-A1B2-7C37-526F-C939DD8BD263}"/>
              </a:ext>
            </a:extLst>
          </p:cNvPr>
          <p:cNvSpPr/>
          <p:nvPr/>
        </p:nvSpPr>
        <p:spPr>
          <a:xfrm>
            <a:off x="14001750" y="5686425"/>
            <a:ext cx="95" cy="47625"/>
          </a:xfrm>
          <a:custGeom>
            <a:avLst/>
            <a:gdLst/>
            <a:ahLst/>
            <a:cxnLst/>
            <a:rect l="0" t="0" r="0" b="0"/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081B41"/>
            </a:solidFill>
          </a:ln>
        </p:spPr>
      </p:sp>
      <p:sp>
        <p:nvSpPr>
          <p:cNvPr id="192" name="Editable Curve 189">
            <a:extLst>
              <a:ext uri="{FF2B5EF4-FFF2-40B4-BE49-F238E27FC236}">
                <a16:creationId xmlns:a16="http://schemas.microsoft.com/office/drawing/2014/main" id="{5884C25A-0FA3-F0D0-7FE3-240EC73978BF}"/>
              </a:ext>
            </a:extLst>
          </p:cNvPr>
          <p:cNvSpPr/>
          <p:nvPr/>
        </p:nvSpPr>
        <p:spPr>
          <a:xfrm>
            <a:off x="14001750" y="5772150"/>
            <a:ext cx="95" cy="47625"/>
          </a:xfrm>
          <a:custGeom>
            <a:avLst/>
            <a:gdLst/>
            <a:ahLst/>
            <a:cxnLst/>
            <a:rect l="0" t="0" r="0" b="0"/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081B41"/>
            </a:solidFill>
          </a:ln>
        </p:spPr>
      </p:sp>
      <p:sp>
        <p:nvSpPr>
          <p:cNvPr id="193" name="Editable Curve 190">
            <a:extLst>
              <a:ext uri="{FF2B5EF4-FFF2-40B4-BE49-F238E27FC236}">
                <a16:creationId xmlns:a16="http://schemas.microsoft.com/office/drawing/2014/main" id="{67DB00E2-969B-CC16-DA7A-EA914B587239}"/>
              </a:ext>
            </a:extLst>
          </p:cNvPr>
          <p:cNvSpPr/>
          <p:nvPr/>
        </p:nvSpPr>
        <p:spPr>
          <a:xfrm>
            <a:off x="14001750" y="5857875"/>
            <a:ext cx="95" cy="47625"/>
          </a:xfrm>
          <a:custGeom>
            <a:avLst/>
            <a:gdLst/>
            <a:ahLst/>
            <a:cxnLst/>
            <a:rect l="0" t="0" r="0" b="0"/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081B41"/>
            </a:solidFill>
          </a:ln>
        </p:spPr>
      </p:sp>
      <p:sp>
        <p:nvSpPr>
          <p:cNvPr id="194" name="Editable Curve 191">
            <a:extLst>
              <a:ext uri="{FF2B5EF4-FFF2-40B4-BE49-F238E27FC236}">
                <a16:creationId xmlns:a16="http://schemas.microsoft.com/office/drawing/2014/main" id="{427E82CF-56DA-7120-4EAD-A51C79F3BB3D}"/>
              </a:ext>
            </a:extLst>
          </p:cNvPr>
          <p:cNvSpPr/>
          <p:nvPr/>
        </p:nvSpPr>
        <p:spPr>
          <a:xfrm>
            <a:off x="14001750" y="5943600"/>
            <a:ext cx="95" cy="47625"/>
          </a:xfrm>
          <a:custGeom>
            <a:avLst/>
            <a:gdLst/>
            <a:ahLst/>
            <a:cxnLst/>
            <a:rect l="0" t="0" r="0" b="0"/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081B41"/>
            </a:solidFill>
          </a:ln>
        </p:spPr>
      </p:sp>
      <p:sp>
        <p:nvSpPr>
          <p:cNvPr id="195" name="Editable Curve 192">
            <a:extLst>
              <a:ext uri="{FF2B5EF4-FFF2-40B4-BE49-F238E27FC236}">
                <a16:creationId xmlns:a16="http://schemas.microsoft.com/office/drawing/2014/main" id="{12782A83-6C58-C271-539B-A1DF2C591654}"/>
              </a:ext>
            </a:extLst>
          </p:cNvPr>
          <p:cNvSpPr/>
          <p:nvPr/>
        </p:nvSpPr>
        <p:spPr>
          <a:xfrm>
            <a:off x="14001750" y="6029325"/>
            <a:ext cx="95" cy="47625"/>
          </a:xfrm>
          <a:custGeom>
            <a:avLst/>
            <a:gdLst/>
            <a:ahLst/>
            <a:cxnLst/>
            <a:rect l="0" t="0" r="0" b="0"/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081B41"/>
            </a:solidFill>
          </a:ln>
        </p:spPr>
      </p:sp>
      <p:sp>
        <p:nvSpPr>
          <p:cNvPr id="196" name="Editable Curve 193">
            <a:extLst>
              <a:ext uri="{FF2B5EF4-FFF2-40B4-BE49-F238E27FC236}">
                <a16:creationId xmlns:a16="http://schemas.microsoft.com/office/drawing/2014/main" id="{DE2D2D87-F5EC-B37E-2F3F-091BA5607417}"/>
              </a:ext>
            </a:extLst>
          </p:cNvPr>
          <p:cNvSpPr/>
          <p:nvPr/>
        </p:nvSpPr>
        <p:spPr>
          <a:xfrm>
            <a:off x="14001750" y="6115050"/>
            <a:ext cx="95" cy="47625"/>
          </a:xfrm>
          <a:custGeom>
            <a:avLst/>
            <a:gdLst/>
            <a:ahLst/>
            <a:cxnLst/>
            <a:rect l="0" t="0" r="0" b="0"/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081B41"/>
            </a:solidFill>
          </a:ln>
        </p:spPr>
      </p:sp>
      <p:sp>
        <p:nvSpPr>
          <p:cNvPr id="197" name="Editable Curve 194">
            <a:extLst>
              <a:ext uri="{FF2B5EF4-FFF2-40B4-BE49-F238E27FC236}">
                <a16:creationId xmlns:a16="http://schemas.microsoft.com/office/drawing/2014/main" id="{579A2C0D-847A-84C9-BCD0-68A0467DEC06}"/>
              </a:ext>
            </a:extLst>
          </p:cNvPr>
          <p:cNvSpPr/>
          <p:nvPr/>
        </p:nvSpPr>
        <p:spPr>
          <a:xfrm>
            <a:off x="14001750" y="6200775"/>
            <a:ext cx="95" cy="47625"/>
          </a:xfrm>
          <a:custGeom>
            <a:avLst/>
            <a:gdLst/>
            <a:ahLst/>
            <a:cxnLst/>
            <a:rect l="0" t="0" r="0" b="0"/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081B41"/>
            </a:solidFill>
          </a:ln>
        </p:spPr>
      </p:sp>
      <p:sp>
        <p:nvSpPr>
          <p:cNvPr id="198" name="Editable Curve 195">
            <a:extLst>
              <a:ext uri="{FF2B5EF4-FFF2-40B4-BE49-F238E27FC236}">
                <a16:creationId xmlns:a16="http://schemas.microsoft.com/office/drawing/2014/main" id="{9D08590B-58FE-0938-D726-D23055534614}"/>
              </a:ext>
            </a:extLst>
          </p:cNvPr>
          <p:cNvSpPr/>
          <p:nvPr/>
        </p:nvSpPr>
        <p:spPr>
          <a:xfrm>
            <a:off x="14001750" y="6286500"/>
            <a:ext cx="95" cy="47625"/>
          </a:xfrm>
          <a:custGeom>
            <a:avLst/>
            <a:gdLst/>
            <a:ahLst/>
            <a:cxnLst/>
            <a:rect l="0" t="0" r="0" b="0"/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081B41"/>
            </a:solidFill>
          </a:ln>
        </p:spPr>
      </p:sp>
      <p:sp>
        <p:nvSpPr>
          <p:cNvPr id="199" name="Editable Curve 196">
            <a:extLst>
              <a:ext uri="{FF2B5EF4-FFF2-40B4-BE49-F238E27FC236}">
                <a16:creationId xmlns:a16="http://schemas.microsoft.com/office/drawing/2014/main" id="{C2B972FE-5394-C54A-A075-F3103D7CA5A4}"/>
              </a:ext>
            </a:extLst>
          </p:cNvPr>
          <p:cNvSpPr/>
          <p:nvPr/>
        </p:nvSpPr>
        <p:spPr>
          <a:xfrm>
            <a:off x="14001750" y="6372225"/>
            <a:ext cx="95" cy="47625"/>
          </a:xfrm>
          <a:custGeom>
            <a:avLst/>
            <a:gdLst/>
            <a:ahLst/>
            <a:cxnLst/>
            <a:rect l="0" t="0" r="0" b="0"/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081B41"/>
            </a:solidFill>
          </a:ln>
        </p:spPr>
      </p:sp>
      <p:sp>
        <p:nvSpPr>
          <p:cNvPr id="200" name="Element 197">
            <a:extLst>
              <a:ext uri="{FF2B5EF4-FFF2-40B4-BE49-F238E27FC236}">
                <a16:creationId xmlns:a16="http://schemas.microsoft.com/office/drawing/2014/main" id="{2A1C4AFD-59E3-D369-72B2-A55B2618C831}"/>
              </a:ext>
            </a:extLst>
          </p:cNvPr>
          <p:cNvSpPr txBox="1"/>
          <p:nvPr/>
        </p:nvSpPr>
        <p:spPr>
          <a:xfrm>
            <a:off x="12649200" y="5543550"/>
            <a:ext cx="80962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KEEP</a:t>
            </a:r>
          </a:p>
        </p:txBody>
      </p:sp>
      <p:sp>
        <p:nvSpPr>
          <p:cNvPr id="201" name="Editable Curve 198">
            <a:extLst>
              <a:ext uri="{FF2B5EF4-FFF2-40B4-BE49-F238E27FC236}">
                <a16:creationId xmlns:a16="http://schemas.microsoft.com/office/drawing/2014/main" id="{EF61FEBB-AF18-88D6-19B3-2AA4A076223B}"/>
              </a:ext>
            </a:extLst>
          </p:cNvPr>
          <p:cNvSpPr/>
          <p:nvPr/>
        </p:nvSpPr>
        <p:spPr>
          <a:xfrm>
            <a:off x="14001750" y="56578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173D65"/>
            </a:solidFill>
          </a:ln>
        </p:spPr>
      </p:sp>
      <p:sp>
        <p:nvSpPr>
          <p:cNvPr id="202" name="Editable Curve 199">
            <a:extLst>
              <a:ext uri="{FF2B5EF4-FFF2-40B4-BE49-F238E27FC236}">
                <a16:creationId xmlns:a16="http://schemas.microsoft.com/office/drawing/2014/main" id="{F1C8AF91-08CF-2644-EFE1-C137B01A7AB8}"/>
              </a:ext>
            </a:extLst>
          </p:cNvPr>
          <p:cNvSpPr/>
          <p:nvPr/>
        </p:nvSpPr>
        <p:spPr>
          <a:xfrm>
            <a:off x="14001750" y="5619750"/>
            <a:ext cx="95" cy="76200"/>
          </a:xfrm>
          <a:custGeom>
            <a:avLst/>
            <a:gdLst/>
            <a:ahLst/>
            <a:cxnLst/>
            <a:rect l="0" t="0" r="0" b="0"/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4288">
            <a:solidFill>
              <a:srgbClr val="173D65"/>
            </a:solidFill>
          </a:ln>
        </p:spPr>
      </p:sp>
      <p:sp>
        <p:nvSpPr>
          <p:cNvPr id="203" name="Element 200">
            <a:extLst>
              <a:ext uri="{FF2B5EF4-FFF2-40B4-BE49-F238E27FC236}">
                <a16:creationId xmlns:a16="http://schemas.microsoft.com/office/drawing/2014/main" id="{82D1FBC2-A044-B9F7-4C38-21106AA6F0A0}"/>
              </a:ext>
            </a:extLst>
          </p:cNvPr>
          <p:cNvSpPr txBox="1"/>
          <p:nvPr/>
        </p:nvSpPr>
        <p:spPr>
          <a:xfrm>
            <a:off x="12649200" y="5753100"/>
            <a:ext cx="80962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Repair_1</a:t>
            </a:r>
          </a:p>
        </p:txBody>
      </p:sp>
      <p:sp>
        <p:nvSpPr>
          <p:cNvPr id="204" name="Element 201">
            <a:extLst>
              <a:ext uri="{FF2B5EF4-FFF2-40B4-BE49-F238E27FC236}">
                <a16:creationId xmlns:a16="http://schemas.microsoft.com/office/drawing/2014/main" id="{EA76D1F4-834A-17A6-529C-03A7C146E087}"/>
              </a:ext>
            </a:extLst>
          </p:cNvPr>
          <p:cNvSpPr/>
          <p:nvPr/>
        </p:nvSpPr>
        <p:spPr>
          <a:xfrm>
            <a:off x="14001750" y="5819775"/>
            <a:ext cx="714375" cy="104775"/>
          </a:xfrm>
          <a:prstGeom prst="rect">
            <a:avLst/>
          </a:prstGeom>
          <a:solidFill>
            <a:srgbClr val="638ABC"/>
          </a:solidFill>
          <a:ln w="0">
            <a:noFill/>
          </a:ln>
        </p:spPr>
      </p:sp>
      <p:sp>
        <p:nvSpPr>
          <p:cNvPr id="205" name="Editable Curve 202">
            <a:extLst>
              <a:ext uri="{FF2B5EF4-FFF2-40B4-BE49-F238E27FC236}">
                <a16:creationId xmlns:a16="http://schemas.microsoft.com/office/drawing/2014/main" id="{0FDD1516-324B-FF2F-3C36-59AE52E7CE89}"/>
              </a:ext>
            </a:extLst>
          </p:cNvPr>
          <p:cNvSpPr/>
          <p:nvPr/>
        </p:nvSpPr>
        <p:spPr>
          <a:xfrm>
            <a:off x="14716125" y="5867400"/>
            <a:ext cx="438150" cy="95"/>
          </a:xfrm>
          <a:custGeom>
            <a:avLst/>
            <a:gdLst/>
            <a:ahLst/>
            <a:cxnLst/>
            <a:rect l="0" t="0" r="0" b="0"/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14288">
            <a:solidFill>
              <a:srgbClr val="173D65"/>
            </a:solidFill>
          </a:ln>
        </p:spPr>
      </p:sp>
      <p:sp>
        <p:nvSpPr>
          <p:cNvPr id="206" name="Editable Curve 203">
            <a:extLst>
              <a:ext uri="{FF2B5EF4-FFF2-40B4-BE49-F238E27FC236}">
                <a16:creationId xmlns:a16="http://schemas.microsoft.com/office/drawing/2014/main" id="{830251CA-0968-6A63-95B0-23CBC8613A27}"/>
              </a:ext>
            </a:extLst>
          </p:cNvPr>
          <p:cNvSpPr/>
          <p:nvPr/>
        </p:nvSpPr>
        <p:spPr>
          <a:xfrm>
            <a:off x="15154275" y="5829300"/>
            <a:ext cx="95" cy="76200"/>
          </a:xfrm>
          <a:custGeom>
            <a:avLst/>
            <a:gdLst/>
            <a:ahLst/>
            <a:cxnLst/>
            <a:rect l="0" t="0" r="0" b="0"/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4288">
            <a:solidFill>
              <a:srgbClr val="173D65"/>
            </a:solidFill>
          </a:ln>
        </p:spPr>
      </p:sp>
      <p:sp>
        <p:nvSpPr>
          <p:cNvPr id="207" name="Element 204">
            <a:extLst>
              <a:ext uri="{FF2B5EF4-FFF2-40B4-BE49-F238E27FC236}">
                <a16:creationId xmlns:a16="http://schemas.microsoft.com/office/drawing/2014/main" id="{DF923A2D-7881-9CD0-9129-B4D22AB149E3}"/>
              </a:ext>
            </a:extLst>
          </p:cNvPr>
          <p:cNvSpPr txBox="1"/>
          <p:nvPr/>
        </p:nvSpPr>
        <p:spPr>
          <a:xfrm>
            <a:off x="12649200" y="5962650"/>
            <a:ext cx="80962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Repair_2</a:t>
            </a:r>
          </a:p>
        </p:txBody>
      </p:sp>
      <p:sp>
        <p:nvSpPr>
          <p:cNvPr id="208" name="Element 205">
            <a:extLst>
              <a:ext uri="{FF2B5EF4-FFF2-40B4-BE49-F238E27FC236}">
                <a16:creationId xmlns:a16="http://schemas.microsoft.com/office/drawing/2014/main" id="{86024B0C-C8A6-F0F3-C890-282DEB96991D}"/>
              </a:ext>
            </a:extLst>
          </p:cNvPr>
          <p:cNvSpPr/>
          <p:nvPr/>
        </p:nvSpPr>
        <p:spPr>
          <a:xfrm>
            <a:off x="14001750" y="6029325"/>
            <a:ext cx="466725" cy="104775"/>
          </a:xfrm>
          <a:prstGeom prst="rect">
            <a:avLst/>
          </a:prstGeom>
          <a:solidFill>
            <a:srgbClr val="638ABC"/>
          </a:solidFill>
          <a:ln w="0">
            <a:noFill/>
          </a:ln>
        </p:spPr>
      </p:sp>
      <p:sp>
        <p:nvSpPr>
          <p:cNvPr id="209" name="Editable Curve 206">
            <a:extLst>
              <a:ext uri="{FF2B5EF4-FFF2-40B4-BE49-F238E27FC236}">
                <a16:creationId xmlns:a16="http://schemas.microsoft.com/office/drawing/2014/main" id="{7711B670-F6FA-E08D-2DC5-3AA8F9A6A407}"/>
              </a:ext>
            </a:extLst>
          </p:cNvPr>
          <p:cNvSpPr/>
          <p:nvPr/>
        </p:nvSpPr>
        <p:spPr>
          <a:xfrm>
            <a:off x="14468475" y="6076950"/>
            <a:ext cx="409575" cy="95"/>
          </a:xfrm>
          <a:custGeom>
            <a:avLst/>
            <a:gdLst/>
            <a:ahLst/>
            <a:cxnLst/>
            <a:rect l="0" t="0" r="0" b="0"/>
            <a:pathLst>
              <a:path w="409575" h="9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4288">
            <a:solidFill>
              <a:srgbClr val="173D65"/>
            </a:solidFill>
          </a:ln>
        </p:spPr>
      </p:sp>
      <p:sp>
        <p:nvSpPr>
          <p:cNvPr id="210" name="Editable Curve 207">
            <a:extLst>
              <a:ext uri="{FF2B5EF4-FFF2-40B4-BE49-F238E27FC236}">
                <a16:creationId xmlns:a16="http://schemas.microsoft.com/office/drawing/2014/main" id="{08BC906F-B7B5-AC49-DBFC-F2C4FF47DE18}"/>
              </a:ext>
            </a:extLst>
          </p:cNvPr>
          <p:cNvSpPr/>
          <p:nvPr/>
        </p:nvSpPr>
        <p:spPr>
          <a:xfrm>
            <a:off x="14878050" y="6038850"/>
            <a:ext cx="95" cy="76200"/>
          </a:xfrm>
          <a:custGeom>
            <a:avLst/>
            <a:gdLst/>
            <a:ahLst/>
            <a:cxnLst/>
            <a:rect l="0" t="0" r="0" b="0"/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4288">
            <a:solidFill>
              <a:srgbClr val="173D65"/>
            </a:solidFill>
          </a:ln>
        </p:spPr>
      </p:sp>
      <p:sp>
        <p:nvSpPr>
          <p:cNvPr id="211" name="Element 208">
            <a:extLst>
              <a:ext uri="{FF2B5EF4-FFF2-40B4-BE49-F238E27FC236}">
                <a16:creationId xmlns:a16="http://schemas.microsoft.com/office/drawing/2014/main" id="{B9686C5D-6790-9F58-8CD4-EF5DEADC8BA9}"/>
              </a:ext>
            </a:extLst>
          </p:cNvPr>
          <p:cNvSpPr txBox="1"/>
          <p:nvPr/>
        </p:nvSpPr>
        <p:spPr>
          <a:xfrm>
            <a:off x="12649200" y="6172200"/>
            <a:ext cx="80962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Repair_3</a:t>
            </a:r>
          </a:p>
        </p:txBody>
      </p:sp>
      <p:sp>
        <p:nvSpPr>
          <p:cNvPr id="212" name="Element 209">
            <a:extLst>
              <a:ext uri="{FF2B5EF4-FFF2-40B4-BE49-F238E27FC236}">
                <a16:creationId xmlns:a16="http://schemas.microsoft.com/office/drawing/2014/main" id="{2E071D00-ACFF-48CB-17D4-D5982286C952}"/>
              </a:ext>
            </a:extLst>
          </p:cNvPr>
          <p:cNvSpPr/>
          <p:nvPr/>
        </p:nvSpPr>
        <p:spPr>
          <a:xfrm>
            <a:off x="14001750" y="6238875"/>
            <a:ext cx="342900" cy="104775"/>
          </a:xfrm>
          <a:prstGeom prst="rect">
            <a:avLst/>
          </a:prstGeom>
          <a:solidFill>
            <a:srgbClr val="638ABC"/>
          </a:solidFill>
          <a:ln w="0">
            <a:noFill/>
          </a:ln>
        </p:spPr>
      </p:sp>
      <p:sp>
        <p:nvSpPr>
          <p:cNvPr id="213" name="Editable Curve 210">
            <a:extLst>
              <a:ext uri="{FF2B5EF4-FFF2-40B4-BE49-F238E27FC236}">
                <a16:creationId xmlns:a16="http://schemas.microsoft.com/office/drawing/2014/main" id="{65AA94DF-5A5F-13B7-35CD-30198017BE54}"/>
              </a:ext>
            </a:extLst>
          </p:cNvPr>
          <p:cNvSpPr/>
          <p:nvPr/>
        </p:nvSpPr>
        <p:spPr>
          <a:xfrm>
            <a:off x="14344650" y="6286500"/>
            <a:ext cx="304800" cy="95"/>
          </a:xfrm>
          <a:custGeom>
            <a:avLst/>
            <a:gdLst/>
            <a:ahLst/>
            <a:cxnLst/>
            <a:rect l="0" t="0" r="0" b="0"/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4288">
            <a:solidFill>
              <a:srgbClr val="173D65"/>
            </a:solidFill>
          </a:ln>
        </p:spPr>
      </p:sp>
      <p:sp>
        <p:nvSpPr>
          <p:cNvPr id="214" name="Editable Curve 211">
            <a:extLst>
              <a:ext uri="{FF2B5EF4-FFF2-40B4-BE49-F238E27FC236}">
                <a16:creationId xmlns:a16="http://schemas.microsoft.com/office/drawing/2014/main" id="{A257FD18-6747-0347-6FF1-C5F0419B25B3}"/>
              </a:ext>
            </a:extLst>
          </p:cNvPr>
          <p:cNvSpPr/>
          <p:nvPr/>
        </p:nvSpPr>
        <p:spPr>
          <a:xfrm>
            <a:off x="14649450" y="6248400"/>
            <a:ext cx="95" cy="76200"/>
          </a:xfrm>
          <a:custGeom>
            <a:avLst/>
            <a:gdLst/>
            <a:ahLst/>
            <a:cxnLst/>
            <a:rect l="0" t="0" r="0" b="0"/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4288">
            <a:solidFill>
              <a:srgbClr val="173D65"/>
            </a:solidFill>
          </a:ln>
        </p:spPr>
      </p:sp>
      <p:sp>
        <p:nvSpPr>
          <p:cNvPr id="215" name="Element 212">
            <a:extLst>
              <a:ext uri="{FF2B5EF4-FFF2-40B4-BE49-F238E27FC236}">
                <a16:creationId xmlns:a16="http://schemas.microsoft.com/office/drawing/2014/main" id="{7546A675-4D35-196F-62E8-A6FF016CE90E}"/>
              </a:ext>
            </a:extLst>
          </p:cNvPr>
          <p:cNvSpPr txBox="1"/>
          <p:nvPr/>
        </p:nvSpPr>
        <p:spPr>
          <a:xfrm>
            <a:off x="13277850" y="644842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−0.5</a:t>
            </a:r>
          </a:p>
        </p:txBody>
      </p:sp>
      <p:sp>
        <p:nvSpPr>
          <p:cNvPr id="216" name="Element 213">
            <a:extLst>
              <a:ext uri="{FF2B5EF4-FFF2-40B4-BE49-F238E27FC236}">
                <a16:creationId xmlns:a16="http://schemas.microsoft.com/office/drawing/2014/main" id="{4C3E30A1-BA1A-B74B-09D8-4D12A0E81800}"/>
              </a:ext>
            </a:extLst>
          </p:cNvPr>
          <p:cNvSpPr txBox="1"/>
          <p:nvPr/>
        </p:nvSpPr>
        <p:spPr>
          <a:xfrm>
            <a:off x="13773150" y="644842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217" name="Element 214">
            <a:extLst>
              <a:ext uri="{FF2B5EF4-FFF2-40B4-BE49-F238E27FC236}">
                <a16:creationId xmlns:a16="http://schemas.microsoft.com/office/drawing/2014/main" id="{2B8F697E-4A5C-9D85-182E-9034A71F24ED}"/>
              </a:ext>
            </a:extLst>
          </p:cNvPr>
          <p:cNvSpPr txBox="1"/>
          <p:nvPr/>
        </p:nvSpPr>
        <p:spPr>
          <a:xfrm>
            <a:off x="14268450" y="644842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0.5</a:t>
            </a:r>
          </a:p>
        </p:txBody>
      </p:sp>
      <p:sp>
        <p:nvSpPr>
          <p:cNvPr id="218" name="Element 215">
            <a:extLst>
              <a:ext uri="{FF2B5EF4-FFF2-40B4-BE49-F238E27FC236}">
                <a16:creationId xmlns:a16="http://schemas.microsoft.com/office/drawing/2014/main" id="{75E14485-79F7-342F-6D73-F4A16C44C0D1}"/>
              </a:ext>
            </a:extLst>
          </p:cNvPr>
          <p:cNvSpPr txBox="1"/>
          <p:nvPr/>
        </p:nvSpPr>
        <p:spPr>
          <a:xfrm>
            <a:off x="14763750" y="644842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1.0</a:t>
            </a:r>
          </a:p>
        </p:txBody>
      </p:sp>
      <p:sp>
        <p:nvSpPr>
          <p:cNvPr id="220" name="Element 217">
            <a:extLst>
              <a:ext uri="{FF2B5EF4-FFF2-40B4-BE49-F238E27FC236}">
                <a16:creationId xmlns:a16="http://schemas.microsoft.com/office/drawing/2014/main" id="{D2A30C85-7FA4-6FD9-AF2E-E4EA18DC1AE2}"/>
              </a:ext>
            </a:extLst>
          </p:cNvPr>
          <p:cNvSpPr/>
          <p:nvPr/>
        </p:nvSpPr>
        <p:spPr>
          <a:xfrm>
            <a:off x="10763250" y="6943724"/>
            <a:ext cx="4933950" cy="1355725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3" name="Element 220">
            <a:extLst>
              <a:ext uri="{FF2B5EF4-FFF2-40B4-BE49-F238E27FC236}">
                <a16:creationId xmlns:a16="http://schemas.microsoft.com/office/drawing/2014/main" id="{5A4933C8-2E7E-8414-01B6-8B7E3EDD77E1}"/>
              </a:ext>
            </a:extLst>
          </p:cNvPr>
          <p:cNvSpPr txBox="1"/>
          <p:nvPr/>
        </p:nvSpPr>
        <p:spPr>
          <a:xfrm>
            <a:off x="11315700" y="6981825"/>
            <a:ext cx="42767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ACT Or KEEP</a:t>
            </a:r>
          </a:p>
        </p:txBody>
      </p:sp>
      <p:sp>
        <p:nvSpPr>
          <p:cNvPr id="224" name="Element 221">
            <a:extLst>
              <a:ext uri="{FF2B5EF4-FFF2-40B4-BE49-F238E27FC236}">
                <a16:creationId xmlns:a16="http://schemas.microsoft.com/office/drawing/2014/main" id="{9BA87006-B228-ACC0-C53B-13818AB72829}"/>
              </a:ext>
            </a:extLst>
          </p:cNvPr>
          <p:cNvSpPr/>
          <p:nvPr/>
        </p:nvSpPr>
        <p:spPr>
          <a:xfrm>
            <a:off x="10887075" y="7516289"/>
            <a:ext cx="2533650" cy="6096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Equation 3">
                <a:extLst>
                  <a:ext uri="{FF2B5EF4-FFF2-40B4-BE49-F238E27FC236}">
                    <a16:creationId xmlns:a16="http://schemas.microsoft.com/office/drawing/2014/main" id="{425523C7-073F-7A56-71CF-D7C012C49C30}"/>
                  </a:ext>
                </a:extLst>
              </p:cNvPr>
              <p:cNvSpPr txBox="1"/>
              <p:nvPr/>
            </p:nvSpPr>
            <p:spPr>
              <a:xfrm>
                <a:off x="10991850" y="7563914"/>
                <a:ext cx="1247775" cy="304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sz="1800" b="1" i="1">
                          <a:solidFill>
                            <a:srgbClr val="081B41"/>
                          </a:solidFill>
                        </a:rPr>
                        <m:t>max </m:t>
                      </m:r>
                      <m:sSub>
                        <m:sSubPr>
                          <m:ctrlPr>
                            <a:rPr sz="1800" b="1" i="1">
                              <a:solidFill>
                                <a:srgbClr val="081B41"/>
                              </a:solidFill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sz="1800" b="1" i="1">
                              <a:solidFill>
                                <a:srgbClr val="081B41"/>
                              </a:solidFill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sz="1800" b="1" i="1">
                              <a:solidFill>
                                <a:srgbClr val="081B41"/>
                              </a:solidFill>
                            </a:rPr>
                            <m:t>a</m:t>
                          </m:r>
                        </m:sub>
                      </m:sSub>
                      <m:r>
                        <m:rPr>
                          <m:nor/>
                        </m:rPr>
                        <a:rPr sz="1800" b="1" i="1">
                          <a:solidFill>
                            <a:srgbClr val="081B41"/>
                          </a:solidFill>
                        </a:rPr>
                        <m:t> &gt;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5" name="Equation 3">
                <a:extLst>
                  <a:ext uri="{FF2B5EF4-FFF2-40B4-BE49-F238E27FC236}">
                    <a16:creationId xmlns:a16="http://schemas.microsoft.com/office/drawing/2014/main" id="{425523C7-073F-7A56-71CF-D7C012C49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850" y="7563914"/>
                <a:ext cx="1247775" cy="304800"/>
              </a:xfrm>
              <a:prstGeom prst="rect">
                <a:avLst/>
              </a:prstGeom>
              <a:blipFill>
                <a:blip r:embed="rId5"/>
                <a:stretch>
                  <a:fillRect b="-140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6" name="Element 222">
            <a:extLst>
              <a:ext uri="{FF2B5EF4-FFF2-40B4-BE49-F238E27FC236}">
                <a16:creationId xmlns:a16="http://schemas.microsoft.com/office/drawing/2014/main" id="{C9F44D87-86F2-75BE-5AE0-EC2C9E6E94D7}"/>
              </a:ext>
            </a:extLst>
          </p:cNvPr>
          <p:cNvSpPr txBox="1"/>
          <p:nvPr/>
        </p:nvSpPr>
        <p:spPr>
          <a:xfrm>
            <a:off x="12382500" y="7573439"/>
            <a:ext cx="8286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ACT</a:t>
            </a:r>
          </a:p>
        </p:txBody>
      </p:sp>
      <p:sp>
        <p:nvSpPr>
          <p:cNvPr id="227" name="Element 223">
            <a:extLst>
              <a:ext uri="{FF2B5EF4-FFF2-40B4-BE49-F238E27FC236}">
                <a16:creationId xmlns:a16="http://schemas.microsoft.com/office/drawing/2014/main" id="{4285D900-201D-FCB8-1E4B-79DF081EA16D}"/>
              </a:ext>
            </a:extLst>
          </p:cNvPr>
          <p:cNvSpPr txBox="1"/>
          <p:nvPr/>
        </p:nvSpPr>
        <p:spPr>
          <a:xfrm>
            <a:off x="10991850" y="7868714"/>
            <a:ext cx="22955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b="1">
                <a:solidFill>
                  <a:srgbClr val="081B41"/>
                </a:solidFill>
                <a:ea typeface="Calibri"/>
                <a:cs typeface="Calibri"/>
              </a:rPr>
              <a:t>Otherwise</a:t>
            </a:r>
            <a:r>
              <a:rPr lang="en-US" b="1">
                <a:solidFill>
                  <a:srgbClr val="081B41"/>
                </a:solidFill>
                <a:ea typeface="Calibri"/>
                <a:cs typeface="Calibri"/>
              </a:rPr>
              <a:t>       </a:t>
            </a:r>
            <a:r>
              <a:rPr b="1">
                <a:solidFill>
                  <a:srgbClr val="081B41"/>
                </a:solidFill>
                <a:ea typeface="Calibri"/>
                <a:cs typeface="Calibri"/>
              </a:rPr>
              <a:t> KEEP</a:t>
            </a:r>
          </a:p>
        </p:txBody>
      </p:sp>
      <p:sp>
        <p:nvSpPr>
          <p:cNvPr id="228" name="Element 224">
            <a:extLst>
              <a:ext uri="{FF2B5EF4-FFF2-40B4-BE49-F238E27FC236}">
                <a16:creationId xmlns:a16="http://schemas.microsoft.com/office/drawing/2014/main" id="{AE7D3C38-F2A7-C124-6BA5-ED273A0A9A29}"/>
              </a:ext>
            </a:extLst>
          </p:cNvPr>
          <p:cNvSpPr/>
          <p:nvPr/>
        </p:nvSpPr>
        <p:spPr>
          <a:xfrm>
            <a:off x="13477874" y="7762893"/>
            <a:ext cx="219075" cy="152400"/>
          </a:xfrm>
          <a:prstGeom prst="rightArrow">
            <a:avLst/>
          </a:prstGeom>
          <a:solidFill>
            <a:srgbClr val="173D6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9" name="Element 225">
            <a:extLst>
              <a:ext uri="{FF2B5EF4-FFF2-40B4-BE49-F238E27FC236}">
                <a16:creationId xmlns:a16="http://schemas.microsoft.com/office/drawing/2014/main" id="{A51C959B-C5D6-2DB1-83B2-2676E4DA1B80}"/>
              </a:ext>
            </a:extLst>
          </p:cNvPr>
          <p:cNvSpPr/>
          <p:nvPr/>
        </p:nvSpPr>
        <p:spPr>
          <a:xfrm>
            <a:off x="13839825" y="7158571"/>
            <a:ext cx="1781175" cy="97155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0" name="Element 226">
            <a:extLst>
              <a:ext uri="{FF2B5EF4-FFF2-40B4-BE49-F238E27FC236}">
                <a16:creationId xmlns:a16="http://schemas.microsoft.com/office/drawing/2014/main" id="{5DC2A84E-581F-30FA-5FD4-423A1F5FEB31}"/>
              </a:ext>
            </a:extLst>
          </p:cNvPr>
          <p:cNvSpPr txBox="1"/>
          <p:nvPr/>
        </p:nvSpPr>
        <p:spPr>
          <a:xfrm>
            <a:off x="13925550" y="7206196"/>
            <a:ext cx="16097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081B41"/>
                </a:solidFill>
                <a:ea typeface="Calibri"/>
                <a:cs typeface="Calibri"/>
              </a:rPr>
              <a:t>Final Forecast</a:t>
            </a:r>
          </a:p>
        </p:txBody>
      </p:sp>
      <p:sp>
        <p:nvSpPr>
          <p:cNvPr id="231" name="Editable Curve 227">
            <a:extLst>
              <a:ext uri="{FF2B5EF4-FFF2-40B4-BE49-F238E27FC236}">
                <a16:creationId xmlns:a16="http://schemas.microsoft.com/office/drawing/2014/main" id="{0E47219D-B4F7-3307-CF1A-743DF52BA08C}"/>
              </a:ext>
            </a:extLst>
          </p:cNvPr>
          <p:cNvSpPr/>
          <p:nvPr/>
        </p:nvSpPr>
        <p:spPr>
          <a:xfrm>
            <a:off x="14125575" y="7863421"/>
            <a:ext cx="1381125" cy="95"/>
          </a:xfrm>
          <a:custGeom>
            <a:avLst/>
            <a:gdLst/>
            <a:ahLst/>
            <a:cxnLst/>
            <a:rect l="0" t="0" r="0" b="0"/>
            <a:pathLst>
              <a:path w="1381125" h="95">
                <a:moveTo>
                  <a:pt x="0" y="0"/>
                </a:moveTo>
                <a:lnTo>
                  <a:pt x="1381125" y="0"/>
                </a:lnTo>
              </a:path>
            </a:pathLst>
          </a:custGeom>
          <a:noFill/>
          <a:ln w="12383">
            <a:solidFill>
              <a:srgbClr val="081B41"/>
            </a:solidFill>
          </a:ln>
        </p:spPr>
      </p:sp>
      <p:sp>
        <p:nvSpPr>
          <p:cNvPr id="232" name="Editable Curve 228">
            <a:extLst>
              <a:ext uri="{FF2B5EF4-FFF2-40B4-BE49-F238E27FC236}">
                <a16:creationId xmlns:a16="http://schemas.microsoft.com/office/drawing/2014/main" id="{16D085EF-2BC8-0B4B-3CE2-59B62686F4A8}"/>
              </a:ext>
            </a:extLst>
          </p:cNvPr>
          <p:cNvSpPr/>
          <p:nvPr/>
        </p:nvSpPr>
        <p:spPr>
          <a:xfrm>
            <a:off x="14125575" y="7520521"/>
            <a:ext cx="95" cy="342900"/>
          </a:xfrm>
          <a:custGeom>
            <a:avLst/>
            <a:gdLst/>
            <a:ahLst/>
            <a:cxnLst/>
            <a:rect l="0" t="0" r="0" b="0"/>
            <a:pathLst>
              <a:path w="95" h="342900">
                <a:moveTo>
                  <a:pt x="0" y="34290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81B41"/>
            </a:solidFill>
          </a:ln>
        </p:spPr>
      </p:sp>
      <p:sp>
        <p:nvSpPr>
          <p:cNvPr id="233" name="Element 229">
            <a:extLst>
              <a:ext uri="{FF2B5EF4-FFF2-40B4-BE49-F238E27FC236}">
                <a16:creationId xmlns:a16="http://schemas.microsoft.com/office/drawing/2014/main" id="{14BB8A3B-DB9D-4314-2758-6CA550BC173B}"/>
              </a:ext>
            </a:extLst>
          </p:cNvPr>
          <p:cNvSpPr/>
          <p:nvPr/>
        </p:nvSpPr>
        <p:spPr>
          <a:xfrm rot="5400000">
            <a:off x="15468600" y="7834846"/>
            <a:ext cx="66675" cy="57150"/>
          </a:xfrm>
          <a:prstGeom prst="triangle">
            <a:avLst/>
          </a:prstGeom>
          <a:solidFill>
            <a:srgbClr val="081B41"/>
          </a:solidFill>
          <a:ln w="0">
            <a:noFill/>
          </a:ln>
        </p:spPr>
      </p:sp>
      <p:sp>
        <p:nvSpPr>
          <p:cNvPr id="234" name="Element 230">
            <a:extLst>
              <a:ext uri="{FF2B5EF4-FFF2-40B4-BE49-F238E27FC236}">
                <a16:creationId xmlns:a16="http://schemas.microsoft.com/office/drawing/2014/main" id="{6CC8E811-C37D-F283-A05A-A379B7778375}"/>
              </a:ext>
            </a:extLst>
          </p:cNvPr>
          <p:cNvSpPr/>
          <p:nvPr/>
        </p:nvSpPr>
        <p:spPr>
          <a:xfrm>
            <a:off x="14097000" y="7501471"/>
            <a:ext cx="57150" cy="66675"/>
          </a:xfrm>
          <a:prstGeom prst="triangle">
            <a:avLst/>
          </a:prstGeom>
          <a:solidFill>
            <a:srgbClr val="081B41"/>
          </a:solidFill>
          <a:ln w="0">
            <a:noFill/>
          </a:ln>
        </p:spPr>
      </p:sp>
      <p:sp>
        <p:nvSpPr>
          <p:cNvPr id="235" name="Element 231">
            <a:extLst>
              <a:ext uri="{FF2B5EF4-FFF2-40B4-BE49-F238E27FC236}">
                <a16:creationId xmlns:a16="http://schemas.microsoft.com/office/drawing/2014/main" id="{B5094273-7ABF-9FA5-DE67-D8E849295263}"/>
              </a:ext>
            </a:extLst>
          </p:cNvPr>
          <p:cNvSpPr txBox="1"/>
          <p:nvPr/>
        </p:nvSpPr>
        <p:spPr>
          <a:xfrm>
            <a:off x="14662785" y="7872946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time</a:t>
            </a:r>
          </a:p>
        </p:txBody>
      </p:sp>
      <p:sp>
        <p:nvSpPr>
          <p:cNvPr id="236" name="Element 232">
            <a:extLst>
              <a:ext uri="{FF2B5EF4-FFF2-40B4-BE49-F238E27FC236}">
                <a16:creationId xmlns:a16="http://schemas.microsoft.com/office/drawing/2014/main" id="{250E28F6-5796-42CF-AA25-F430F2923C3A}"/>
              </a:ext>
            </a:extLst>
          </p:cNvPr>
          <p:cNvSpPr txBox="1"/>
          <p:nvPr/>
        </p:nvSpPr>
        <p:spPr>
          <a:xfrm rot="16200000">
            <a:off x="13677900" y="7589101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081B41"/>
                </a:solidFill>
                <a:ea typeface="Calibri"/>
                <a:cs typeface="Calibri"/>
              </a:rPr>
              <a:t>value</a:t>
            </a:r>
          </a:p>
        </p:txBody>
      </p:sp>
      <p:sp>
        <p:nvSpPr>
          <p:cNvPr id="237" name="Editable Curve 233">
            <a:extLst>
              <a:ext uri="{FF2B5EF4-FFF2-40B4-BE49-F238E27FC236}">
                <a16:creationId xmlns:a16="http://schemas.microsoft.com/office/drawing/2014/main" id="{10B77507-2BA5-50A2-C509-CFFC156526AA}"/>
              </a:ext>
            </a:extLst>
          </p:cNvPr>
          <p:cNvSpPr/>
          <p:nvPr/>
        </p:nvSpPr>
        <p:spPr>
          <a:xfrm>
            <a:off x="14125575" y="7573461"/>
            <a:ext cx="558336" cy="220095"/>
          </a:xfrm>
          <a:custGeom>
            <a:avLst/>
            <a:gdLst/>
            <a:ahLst/>
            <a:cxnLst/>
            <a:rect l="0" t="0" r="0" b="0"/>
            <a:pathLst>
              <a:path w="558336" h="220095">
                <a:moveTo>
                  <a:pt x="0" y="176279"/>
                </a:moveTo>
                <a:lnTo>
                  <a:pt x="15090" y="193839"/>
                </a:lnTo>
                <a:lnTo>
                  <a:pt x="30180" y="183410"/>
                </a:lnTo>
                <a:lnTo>
                  <a:pt x="45271" y="176381"/>
                </a:lnTo>
                <a:lnTo>
                  <a:pt x="60361" y="179129"/>
                </a:lnTo>
                <a:lnTo>
                  <a:pt x="75451" y="122157"/>
                </a:lnTo>
                <a:lnTo>
                  <a:pt x="90541" y="179421"/>
                </a:lnTo>
                <a:lnTo>
                  <a:pt x="105631" y="164005"/>
                </a:lnTo>
                <a:lnTo>
                  <a:pt x="120721" y="213799"/>
                </a:lnTo>
                <a:lnTo>
                  <a:pt x="135812" y="187335"/>
                </a:lnTo>
                <a:lnTo>
                  <a:pt x="150902" y="176122"/>
                </a:lnTo>
                <a:lnTo>
                  <a:pt x="165992" y="209276"/>
                </a:lnTo>
                <a:lnTo>
                  <a:pt x="181082" y="185940"/>
                </a:lnTo>
                <a:lnTo>
                  <a:pt x="196172" y="220095"/>
                </a:lnTo>
                <a:lnTo>
                  <a:pt x="211262" y="136606"/>
                </a:lnTo>
                <a:lnTo>
                  <a:pt x="226353" y="139112"/>
                </a:lnTo>
                <a:lnTo>
                  <a:pt x="241443" y="108912"/>
                </a:lnTo>
                <a:lnTo>
                  <a:pt x="256533" y="104132"/>
                </a:lnTo>
                <a:lnTo>
                  <a:pt x="271623" y="100605"/>
                </a:lnTo>
                <a:lnTo>
                  <a:pt x="286713" y="29311"/>
                </a:lnTo>
                <a:lnTo>
                  <a:pt x="301803" y="59949"/>
                </a:lnTo>
                <a:lnTo>
                  <a:pt x="316894" y="30121"/>
                </a:lnTo>
                <a:lnTo>
                  <a:pt x="331984" y="89222"/>
                </a:lnTo>
                <a:lnTo>
                  <a:pt x="347074" y="68793"/>
                </a:lnTo>
                <a:lnTo>
                  <a:pt x="362164" y="62297"/>
                </a:lnTo>
                <a:lnTo>
                  <a:pt x="377254" y="88889"/>
                </a:lnTo>
                <a:lnTo>
                  <a:pt x="392344" y="81836"/>
                </a:lnTo>
                <a:lnTo>
                  <a:pt x="407435" y="143746"/>
                </a:lnTo>
                <a:lnTo>
                  <a:pt x="422525" y="83817"/>
                </a:lnTo>
                <a:lnTo>
                  <a:pt x="437615" y="96204"/>
                </a:lnTo>
                <a:lnTo>
                  <a:pt x="452705" y="62239"/>
                </a:lnTo>
                <a:lnTo>
                  <a:pt x="467795" y="72963"/>
                </a:lnTo>
                <a:lnTo>
                  <a:pt x="482885" y="83508"/>
                </a:lnTo>
                <a:lnTo>
                  <a:pt x="497976" y="22772"/>
                </a:lnTo>
                <a:lnTo>
                  <a:pt x="513066" y="41805"/>
                </a:lnTo>
                <a:lnTo>
                  <a:pt x="528156" y="0"/>
                </a:lnTo>
                <a:lnTo>
                  <a:pt x="543246" y="66796"/>
                </a:lnTo>
                <a:lnTo>
                  <a:pt x="558336" y="58533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238" name="Editable Curve 234">
            <a:extLst>
              <a:ext uri="{FF2B5EF4-FFF2-40B4-BE49-F238E27FC236}">
                <a16:creationId xmlns:a16="http://schemas.microsoft.com/office/drawing/2014/main" id="{DC875C77-2D8B-E37F-A691-BBB83F3F0F36}"/>
              </a:ext>
            </a:extLst>
          </p:cNvPr>
          <p:cNvSpPr/>
          <p:nvPr/>
        </p:nvSpPr>
        <p:spPr>
          <a:xfrm>
            <a:off x="14880083" y="7586464"/>
            <a:ext cx="588517" cy="251197"/>
          </a:xfrm>
          <a:custGeom>
            <a:avLst/>
            <a:gdLst/>
            <a:ahLst/>
            <a:cxnLst/>
            <a:rect l="0" t="0" r="0" b="0"/>
            <a:pathLst>
              <a:path w="588517" h="251197">
                <a:moveTo>
                  <a:pt x="0" y="147632"/>
                </a:moveTo>
                <a:lnTo>
                  <a:pt x="15090" y="136648"/>
                </a:lnTo>
                <a:lnTo>
                  <a:pt x="30180" y="148633"/>
                </a:lnTo>
                <a:lnTo>
                  <a:pt x="45271" y="151085"/>
                </a:lnTo>
                <a:lnTo>
                  <a:pt x="60361" y="138538"/>
                </a:lnTo>
                <a:lnTo>
                  <a:pt x="75451" y="218590"/>
                </a:lnTo>
                <a:lnTo>
                  <a:pt x="90541" y="203790"/>
                </a:lnTo>
                <a:lnTo>
                  <a:pt x="105631" y="250646"/>
                </a:lnTo>
                <a:lnTo>
                  <a:pt x="120721" y="209630"/>
                </a:lnTo>
                <a:lnTo>
                  <a:pt x="135812" y="228321"/>
                </a:lnTo>
                <a:lnTo>
                  <a:pt x="150902" y="251197"/>
                </a:lnTo>
                <a:lnTo>
                  <a:pt x="165992" y="223766"/>
                </a:lnTo>
                <a:lnTo>
                  <a:pt x="181082" y="232357"/>
                </a:lnTo>
                <a:lnTo>
                  <a:pt x="196172" y="149361"/>
                </a:lnTo>
                <a:lnTo>
                  <a:pt x="211262" y="180397"/>
                </a:lnTo>
                <a:lnTo>
                  <a:pt x="226353" y="150765"/>
                </a:lnTo>
                <a:lnTo>
                  <a:pt x="241443" y="159062"/>
                </a:lnTo>
                <a:lnTo>
                  <a:pt x="256533" y="138079"/>
                </a:lnTo>
                <a:lnTo>
                  <a:pt x="271623" y="98297"/>
                </a:lnTo>
                <a:lnTo>
                  <a:pt x="286713" y="151187"/>
                </a:lnTo>
                <a:lnTo>
                  <a:pt x="301803" y="132585"/>
                </a:lnTo>
                <a:lnTo>
                  <a:pt x="316894" y="187021"/>
                </a:lnTo>
                <a:lnTo>
                  <a:pt x="331984" y="140111"/>
                </a:lnTo>
                <a:lnTo>
                  <a:pt x="347074" y="151626"/>
                </a:lnTo>
                <a:lnTo>
                  <a:pt x="362164" y="166553"/>
                </a:lnTo>
                <a:lnTo>
                  <a:pt x="377254" y="156225"/>
                </a:lnTo>
                <a:lnTo>
                  <a:pt x="392344" y="176182"/>
                </a:lnTo>
                <a:lnTo>
                  <a:pt x="407435" y="90762"/>
                </a:lnTo>
                <a:lnTo>
                  <a:pt x="422525" y="106765"/>
                </a:lnTo>
                <a:lnTo>
                  <a:pt x="437615" y="63707"/>
                </a:lnTo>
                <a:lnTo>
                  <a:pt x="452705" y="78440"/>
                </a:lnTo>
                <a:lnTo>
                  <a:pt x="467795" y="52011"/>
                </a:lnTo>
                <a:lnTo>
                  <a:pt x="482885" y="0"/>
                </a:lnTo>
                <a:lnTo>
                  <a:pt x="497976" y="28295"/>
                </a:lnTo>
                <a:lnTo>
                  <a:pt x="513066" y="4224"/>
                </a:lnTo>
                <a:lnTo>
                  <a:pt x="528156" y="71460"/>
                </a:lnTo>
                <a:lnTo>
                  <a:pt x="543246" y="33841"/>
                </a:lnTo>
                <a:lnTo>
                  <a:pt x="558336" y="51090"/>
                </a:lnTo>
                <a:lnTo>
                  <a:pt x="573426" y="63453"/>
                </a:lnTo>
                <a:lnTo>
                  <a:pt x="588517" y="76778"/>
                </a:lnTo>
              </a:path>
            </a:pathLst>
          </a:custGeom>
          <a:noFill/>
          <a:ln w="24765">
            <a:solidFill>
              <a:srgbClr val="386B9F"/>
            </a:solidFill>
          </a:ln>
        </p:spPr>
      </p:sp>
      <p:sp>
        <p:nvSpPr>
          <p:cNvPr id="239" name="Element 235">
            <a:extLst>
              <a:ext uri="{FF2B5EF4-FFF2-40B4-BE49-F238E27FC236}">
                <a16:creationId xmlns:a16="http://schemas.microsoft.com/office/drawing/2014/main" id="{502DAE03-C7A2-1FF1-71EC-CF1851503107}"/>
              </a:ext>
            </a:extLst>
          </p:cNvPr>
          <p:cNvSpPr/>
          <p:nvPr/>
        </p:nvSpPr>
        <p:spPr>
          <a:xfrm>
            <a:off x="14699001" y="7585672"/>
            <a:ext cx="181082" cy="188595"/>
          </a:xfrm>
          <a:prstGeom prst="rect">
            <a:avLst/>
          </a:prstGeom>
          <a:solidFill>
            <a:srgbClr val="FFFFFF"/>
          </a:solidFill>
          <a:ln w="11430">
            <a:solidFill>
              <a:srgbClr val="173D65"/>
            </a:solidFill>
            <a:prstDash val="dash"/>
          </a:ln>
        </p:spPr>
      </p:sp>
      <p:sp>
        <p:nvSpPr>
          <p:cNvPr id="243" name="Element 175">
            <a:extLst>
              <a:ext uri="{FF2B5EF4-FFF2-40B4-BE49-F238E27FC236}">
                <a16:creationId xmlns:a16="http://schemas.microsoft.com/office/drawing/2014/main" id="{60162780-3B57-4ADD-99D8-C90EBD4FDA62}"/>
              </a:ext>
            </a:extLst>
          </p:cNvPr>
          <p:cNvSpPr txBox="1"/>
          <p:nvPr/>
        </p:nvSpPr>
        <p:spPr>
          <a:xfrm>
            <a:off x="6967538" y="767980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sz="2000" b="1">
                <a:solidFill>
                  <a:srgbClr val="081B41"/>
                </a:solidFill>
                <a:ea typeface="Calibri"/>
                <a:cs typeface="Calibri"/>
              </a:rPr>
              <a:t>Replay Bank</a:t>
            </a:r>
            <a:endParaRPr lang="en-US" sz="2000" b="1">
              <a:solidFill>
                <a:srgbClr val="081B41"/>
              </a:solidFill>
              <a:ea typeface="Calibri"/>
              <a:cs typeface="Calibri"/>
            </a:endParaRPr>
          </a:p>
          <a:p>
            <a:pPr algn="ctr">
              <a:lnSpc>
                <a:spcPct val="80000"/>
              </a:lnSpc>
            </a:pPr>
            <a:r>
              <a:rPr lang="en-US" altLang="zh-CN" b="1">
                <a:solidFill>
                  <a:srgbClr val="081B41"/>
                </a:solidFill>
              </a:rPr>
              <a:t>(State, Action, Utility)</a:t>
            </a:r>
          </a:p>
        </p:txBody>
      </p:sp>
      <p:sp>
        <p:nvSpPr>
          <p:cNvPr id="245" name="Element 101">
            <a:extLst>
              <a:ext uri="{FF2B5EF4-FFF2-40B4-BE49-F238E27FC236}">
                <a16:creationId xmlns:a16="http://schemas.microsoft.com/office/drawing/2014/main" id="{4BA9D5EF-63E4-8026-4DCB-50DB409276DD}"/>
              </a:ext>
            </a:extLst>
          </p:cNvPr>
          <p:cNvSpPr/>
          <p:nvPr/>
        </p:nvSpPr>
        <p:spPr>
          <a:xfrm>
            <a:off x="7305540" y="5335904"/>
            <a:ext cx="114300" cy="200025"/>
          </a:xfrm>
          <a:prstGeom prst="downArrow">
            <a:avLst/>
          </a:prstGeom>
          <a:solidFill>
            <a:srgbClr val="173D6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7" name="Element 101">
            <a:extLst>
              <a:ext uri="{FF2B5EF4-FFF2-40B4-BE49-F238E27FC236}">
                <a16:creationId xmlns:a16="http://schemas.microsoft.com/office/drawing/2014/main" id="{BADE685F-8B94-A478-F3FD-7762D7449820}"/>
              </a:ext>
            </a:extLst>
          </p:cNvPr>
          <p:cNvSpPr/>
          <p:nvPr/>
        </p:nvSpPr>
        <p:spPr>
          <a:xfrm>
            <a:off x="6266541" y="5329238"/>
            <a:ext cx="114300" cy="200025"/>
          </a:xfrm>
          <a:prstGeom prst="downArrow">
            <a:avLst/>
          </a:prstGeom>
          <a:solidFill>
            <a:srgbClr val="173D6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1" name="Element 165">
            <a:extLst>
              <a:ext uri="{FF2B5EF4-FFF2-40B4-BE49-F238E27FC236}">
                <a16:creationId xmlns:a16="http://schemas.microsoft.com/office/drawing/2014/main" id="{C8AB1472-FB49-D9B2-2B08-4831E3BE8554}"/>
              </a:ext>
            </a:extLst>
          </p:cNvPr>
          <p:cNvSpPr/>
          <p:nvPr/>
        </p:nvSpPr>
        <p:spPr>
          <a:xfrm>
            <a:off x="12239324" y="7654961"/>
            <a:ext cx="228600" cy="161925"/>
          </a:xfrm>
          <a:prstGeom prst="rightArrow">
            <a:avLst/>
          </a:prstGeom>
          <a:solidFill>
            <a:srgbClr val="173D6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3" name="Element 165">
            <a:extLst>
              <a:ext uri="{FF2B5EF4-FFF2-40B4-BE49-F238E27FC236}">
                <a16:creationId xmlns:a16="http://schemas.microsoft.com/office/drawing/2014/main" id="{050D4414-7C89-7C81-E28A-C15809BEDF42}"/>
              </a:ext>
            </a:extLst>
          </p:cNvPr>
          <p:cNvSpPr/>
          <p:nvPr/>
        </p:nvSpPr>
        <p:spPr>
          <a:xfrm>
            <a:off x="12256970" y="7907038"/>
            <a:ext cx="228600" cy="161925"/>
          </a:xfrm>
          <a:prstGeom prst="rightArrow">
            <a:avLst/>
          </a:prstGeom>
          <a:solidFill>
            <a:srgbClr val="173D6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7" name="Element 119">
            <a:extLst>
              <a:ext uri="{FF2B5EF4-FFF2-40B4-BE49-F238E27FC236}">
                <a16:creationId xmlns:a16="http://schemas.microsoft.com/office/drawing/2014/main" id="{F7F1A9B3-6044-E300-DB30-2B2F719935BE}"/>
              </a:ext>
            </a:extLst>
          </p:cNvPr>
          <p:cNvSpPr txBox="1"/>
          <p:nvPr/>
        </p:nvSpPr>
        <p:spPr>
          <a:xfrm>
            <a:off x="9163350" y="5975350"/>
            <a:ext cx="13620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80000"/>
              </a:lnSpc>
            </a:pPr>
            <a:r>
              <a:rPr b="1">
                <a:solidFill>
                  <a:srgbClr val="081B41"/>
                </a:solidFill>
                <a:ea typeface="Calibri"/>
                <a:cs typeface="Calibri"/>
              </a:rPr>
              <a:t>Forecasts</a:t>
            </a:r>
          </a:p>
        </p:txBody>
      </p:sp>
      <p:pic>
        <p:nvPicPr>
          <p:cNvPr id="263" name="图片 262">
            <a:extLst>
              <a:ext uri="{FF2B5EF4-FFF2-40B4-BE49-F238E27FC236}">
                <a16:creationId xmlns:a16="http://schemas.microsoft.com/office/drawing/2014/main" id="{D9E5682A-C39B-6F1F-B60E-0F1A1654C5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920" y="5667613"/>
            <a:ext cx="830341" cy="685323"/>
          </a:xfrm>
          <a:prstGeom prst="rect">
            <a:avLst/>
          </a:prstGeom>
        </p:spPr>
      </p:pic>
      <p:pic>
        <p:nvPicPr>
          <p:cNvPr id="267" name="图片 266">
            <a:extLst>
              <a:ext uri="{FF2B5EF4-FFF2-40B4-BE49-F238E27FC236}">
                <a16:creationId xmlns:a16="http://schemas.microsoft.com/office/drawing/2014/main" id="{A65F4F0C-CABD-205E-CDFA-3D8B7F1EA0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9138" y="1158721"/>
            <a:ext cx="628650" cy="628650"/>
          </a:xfrm>
          <a:prstGeom prst="rect">
            <a:avLst/>
          </a:prstGeom>
        </p:spPr>
      </p:pic>
      <p:sp>
        <p:nvSpPr>
          <p:cNvPr id="269" name="右箭头 189">
            <a:extLst>
              <a:ext uri="{FF2B5EF4-FFF2-40B4-BE49-F238E27FC236}">
                <a16:creationId xmlns:a16="http://schemas.microsoft.com/office/drawing/2014/main" id="{2FB2EA70-A568-5F31-370F-E34378879133}"/>
              </a:ext>
            </a:extLst>
          </p:cNvPr>
          <p:cNvSpPr/>
          <p:nvPr/>
        </p:nvSpPr>
        <p:spPr>
          <a:xfrm>
            <a:off x="5143500" y="622534"/>
            <a:ext cx="314325" cy="49189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3" name="右箭头 189">
            <a:extLst>
              <a:ext uri="{FF2B5EF4-FFF2-40B4-BE49-F238E27FC236}">
                <a16:creationId xmlns:a16="http://schemas.microsoft.com/office/drawing/2014/main" id="{27BD3CC5-816E-2034-90D1-18C48C96AA39}"/>
              </a:ext>
            </a:extLst>
          </p:cNvPr>
          <p:cNvSpPr/>
          <p:nvPr/>
        </p:nvSpPr>
        <p:spPr>
          <a:xfrm rot="5400000">
            <a:off x="7765011" y="2447007"/>
            <a:ext cx="367201" cy="40188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5" name="右箭头 189">
            <a:extLst>
              <a:ext uri="{FF2B5EF4-FFF2-40B4-BE49-F238E27FC236}">
                <a16:creationId xmlns:a16="http://schemas.microsoft.com/office/drawing/2014/main" id="{AF6A4631-81FF-3580-DD5E-AF4D20EC9E28}"/>
              </a:ext>
            </a:extLst>
          </p:cNvPr>
          <p:cNvSpPr/>
          <p:nvPr/>
        </p:nvSpPr>
        <p:spPr>
          <a:xfrm rot="5400000">
            <a:off x="7765011" y="4128051"/>
            <a:ext cx="367201" cy="40188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7" name="右箭头 189">
            <a:extLst>
              <a:ext uri="{FF2B5EF4-FFF2-40B4-BE49-F238E27FC236}">
                <a16:creationId xmlns:a16="http://schemas.microsoft.com/office/drawing/2014/main" id="{EA13D286-4055-6E6B-F315-CC88481F805C}"/>
              </a:ext>
            </a:extLst>
          </p:cNvPr>
          <p:cNvSpPr/>
          <p:nvPr/>
        </p:nvSpPr>
        <p:spPr>
          <a:xfrm rot="5400000">
            <a:off x="7779299" y="6447989"/>
            <a:ext cx="367201" cy="40188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9" name="右箭头 189">
            <a:extLst>
              <a:ext uri="{FF2B5EF4-FFF2-40B4-BE49-F238E27FC236}">
                <a16:creationId xmlns:a16="http://schemas.microsoft.com/office/drawing/2014/main" id="{A29F7807-B5B5-B117-290E-E7517954B03D}"/>
              </a:ext>
            </a:extLst>
          </p:cNvPr>
          <p:cNvSpPr/>
          <p:nvPr/>
        </p:nvSpPr>
        <p:spPr>
          <a:xfrm rot="5400000">
            <a:off x="13147712" y="6680437"/>
            <a:ext cx="367201" cy="40188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1" name="右箭头 189">
            <a:extLst>
              <a:ext uri="{FF2B5EF4-FFF2-40B4-BE49-F238E27FC236}">
                <a16:creationId xmlns:a16="http://schemas.microsoft.com/office/drawing/2014/main" id="{B8D8875E-7F20-03D7-C186-1F1CC47A7C6D}"/>
              </a:ext>
            </a:extLst>
          </p:cNvPr>
          <p:cNvSpPr/>
          <p:nvPr/>
        </p:nvSpPr>
        <p:spPr>
          <a:xfrm rot="5400000">
            <a:off x="13154744" y="4816107"/>
            <a:ext cx="367201" cy="40188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3" name="右箭头 189">
            <a:extLst>
              <a:ext uri="{FF2B5EF4-FFF2-40B4-BE49-F238E27FC236}">
                <a16:creationId xmlns:a16="http://schemas.microsoft.com/office/drawing/2014/main" id="{D776E791-C8F0-6F34-C110-9541CD919F2D}"/>
              </a:ext>
            </a:extLst>
          </p:cNvPr>
          <p:cNvSpPr/>
          <p:nvPr/>
        </p:nvSpPr>
        <p:spPr>
          <a:xfrm rot="5400000">
            <a:off x="13153139" y="3487858"/>
            <a:ext cx="367201" cy="40188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5" name="右箭头 189">
            <a:extLst>
              <a:ext uri="{FF2B5EF4-FFF2-40B4-BE49-F238E27FC236}">
                <a16:creationId xmlns:a16="http://schemas.microsoft.com/office/drawing/2014/main" id="{8BEE5E11-5DDF-8795-EDEB-404573EA2998}"/>
              </a:ext>
            </a:extLst>
          </p:cNvPr>
          <p:cNvSpPr/>
          <p:nvPr/>
        </p:nvSpPr>
        <p:spPr>
          <a:xfrm rot="5400000">
            <a:off x="13122660" y="2059109"/>
            <a:ext cx="367201" cy="40188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7" name="右箭头 189">
            <a:extLst>
              <a:ext uri="{FF2B5EF4-FFF2-40B4-BE49-F238E27FC236}">
                <a16:creationId xmlns:a16="http://schemas.microsoft.com/office/drawing/2014/main" id="{6E8400BE-FB1F-5300-AD78-DFC2C363AC3E}"/>
              </a:ext>
            </a:extLst>
          </p:cNvPr>
          <p:cNvSpPr/>
          <p:nvPr/>
        </p:nvSpPr>
        <p:spPr>
          <a:xfrm>
            <a:off x="10414334" y="617822"/>
            <a:ext cx="314325" cy="49189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291" name="图片 290">
            <a:extLst>
              <a:ext uri="{FF2B5EF4-FFF2-40B4-BE49-F238E27FC236}">
                <a16:creationId xmlns:a16="http://schemas.microsoft.com/office/drawing/2014/main" id="{13464168-DB8B-2F21-78A9-309EE3EEFC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9550" y="2838450"/>
            <a:ext cx="633412" cy="633412"/>
          </a:xfrm>
          <a:prstGeom prst="rect">
            <a:avLst/>
          </a:prstGeom>
        </p:spPr>
      </p:pic>
      <p:pic>
        <p:nvPicPr>
          <p:cNvPr id="297" name="图片 296">
            <a:extLst>
              <a:ext uri="{FF2B5EF4-FFF2-40B4-BE49-F238E27FC236}">
                <a16:creationId xmlns:a16="http://schemas.microsoft.com/office/drawing/2014/main" id="{47B2FAFB-EB89-054D-2147-9C283D330A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3011" y="4469055"/>
            <a:ext cx="624990" cy="624990"/>
          </a:xfrm>
          <a:prstGeom prst="rect">
            <a:avLst/>
          </a:prstGeom>
        </p:spPr>
      </p:pic>
      <p:sp>
        <p:nvSpPr>
          <p:cNvPr id="299" name="Element 101">
            <a:extLst>
              <a:ext uri="{FF2B5EF4-FFF2-40B4-BE49-F238E27FC236}">
                <a16:creationId xmlns:a16="http://schemas.microsoft.com/office/drawing/2014/main" id="{A9BD97FE-2007-141E-3DB1-9928A3F8E63B}"/>
              </a:ext>
            </a:extLst>
          </p:cNvPr>
          <p:cNvSpPr/>
          <p:nvPr/>
        </p:nvSpPr>
        <p:spPr>
          <a:xfrm>
            <a:off x="9503506" y="5337175"/>
            <a:ext cx="114300" cy="200025"/>
          </a:xfrm>
          <a:prstGeom prst="downArrow">
            <a:avLst/>
          </a:prstGeom>
          <a:solidFill>
            <a:srgbClr val="173D6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03" name="图片 302">
            <a:extLst>
              <a:ext uri="{FF2B5EF4-FFF2-40B4-BE49-F238E27FC236}">
                <a16:creationId xmlns:a16="http://schemas.microsoft.com/office/drawing/2014/main" id="{1CB3D56B-B244-C38A-E482-226529D35C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3364" y="5476875"/>
            <a:ext cx="641283" cy="641283"/>
          </a:xfrm>
          <a:prstGeom prst="rect">
            <a:avLst/>
          </a:prstGeom>
        </p:spPr>
      </p:pic>
      <p:sp>
        <p:nvSpPr>
          <p:cNvPr id="306" name="Element 165">
            <a:extLst>
              <a:ext uri="{FF2B5EF4-FFF2-40B4-BE49-F238E27FC236}">
                <a16:creationId xmlns:a16="http://schemas.microsoft.com/office/drawing/2014/main" id="{5D002327-4F3A-922B-AD37-C07EACF373AC}"/>
              </a:ext>
            </a:extLst>
          </p:cNvPr>
          <p:cNvSpPr/>
          <p:nvPr/>
        </p:nvSpPr>
        <p:spPr>
          <a:xfrm>
            <a:off x="13329937" y="4436825"/>
            <a:ext cx="228600" cy="161925"/>
          </a:xfrm>
          <a:prstGeom prst="rightArrow">
            <a:avLst/>
          </a:prstGeom>
          <a:solidFill>
            <a:srgbClr val="173D6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7454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253</Words>
  <Application>Microsoft Office PowerPoint</Application>
  <DocSecurity>0</DocSecurity>
  <PresentationFormat>自定义</PresentationFormat>
  <Paragraphs>94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宋体</vt:lpstr>
      <vt:lpstr>Calibri</vt:lpstr>
      <vt:lpstr>Cambria Math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宏彬 胡</cp:lastModifiedBy>
  <cp:revision>54</cp:revision>
  <dcterms:created xsi:type="dcterms:W3CDTF">2026-09-20T03:49:10Z</dcterms:created>
  <dcterms:modified xsi:type="dcterms:W3CDTF">2026-09-20T13:56:13Z</dcterms:modified>
</cp:coreProperties>
</file>