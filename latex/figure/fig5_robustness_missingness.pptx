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029200" cy="1955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673100" y="11429"/>
            <a:ext cx="3048000" cy="1828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1" i="0">
                <a:solidFill>
                  <a:srgbClr val="1C1E23"/>
                </a:solidFill>
                <a:latin typeface="Helvetica"/>
              </a:rPr>
              <a:t>Bolt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81000" y="1473200"/>
            <a:ext cx="1219200" cy="0"/>
          </a:xfrm>
          <a:prstGeom prst="line">
            <a:avLst/>
          </a:prstGeom>
          <a:ln w="889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81000" y="381000"/>
            <a:ext cx="0" cy="1092200"/>
          </a:xfrm>
          <a:prstGeom prst="line">
            <a:avLst/>
          </a:prstGeom>
          <a:ln w="889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81000" y="1473200"/>
            <a:ext cx="0" cy="31750"/>
          </a:xfrm>
          <a:prstGeom prst="line">
            <a:avLst/>
          </a:prstGeom>
          <a:ln w="762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-1143000" y="1494917"/>
            <a:ext cx="3048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6B727C"/>
                </a:solidFill>
                <a:latin typeface="Helvetica"/>
              </a:rPr>
              <a:t>10%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90600" y="1473200"/>
            <a:ext cx="0" cy="31750"/>
          </a:xfrm>
          <a:prstGeom prst="line">
            <a:avLst/>
          </a:prstGeom>
          <a:ln w="762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-533400" y="1494917"/>
            <a:ext cx="3048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6B727C"/>
                </a:solidFill>
                <a:latin typeface="Helvetica"/>
              </a:rPr>
              <a:t>30%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00200" y="1473200"/>
            <a:ext cx="0" cy="31750"/>
          </a:xfrm>
          <a:prstGeom prst="line">
            <a:avLst/>
          </a:prstGeom>
          <a:ln w="762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6200" y="1494917"/>
            <a:ext cx="3048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6B727C"/>
                </a:solidFill>
                <a:latin typeface="Helvetica"/>
              </a:rPr>
              <a:t>50%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49250" y="1473200"/>
            <a:ext cx="31750" cy="0"/>
          </a:xfrm>
          <a:prstGeom prst="line">
            <a:avLst/>
          </a:prstGeom>
          <a:ln w="762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-1188720" y="1404747"/>
            <a:ext cx="3048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40" b="0" i="0">
                <a:solidFill>
                  <a:srgbClr val="6B727C"/>
                </a:solidFill>
                <a:latin typeface="Helvetica"/>
              </a:rPr>
              <a:t>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49250" y="927100"/>
            <a:ext cx="31750" cy="0"/>
          </a:xfrm>
          <a:prstGeom prst="line">
            <a:avLst/>
          </a:prstGeom>
          <a:ln w="762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-1188720" y="858647"/>
            <a:ext cx="3048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40" b="0" i="0">
                <a:solidFill>
                  <a:srgbClr val="6B727C"/>
                </a:solidFill>
                <a:latin typeface="Helvetica"/>
              </a:rPr>
              <a:t/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49250" y="381000"/>
            <a:ext cx="31750" cy="0"/>
          </a:xfrm>
          <a:prstGeom prst="line">
            <a:avLst/>
          </a:prstGeom>
          <a:ln w="762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-1188720" y="312547"/>
            <a:ext cx="3048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40" b="0" i="0">
                <a:solidFill>
                  <a:srgbClr val="6B727C"/>
                </a:solidFill>
                <a:latin typeface="Helvetica"/>
              </a:rPr>
              <a:t>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-533400" y="1592580"/>
            <a:ext cx="3048000" cy="1828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1C1E23"/>
                </a:solidFill>
                <a:latin typeface="Helvetica"/>
              </a:rPr>
              <a:t>missing severity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-1181100" y="224917"/>
            <a:ext cx="3048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40" b="0" i="0">
                <a:solidFill>
                  <a:srgbClr val="1C1E23"/>
                </a:solidFill>
                <a:latin typeface="Helvetica"/>
              </a:rPr>
              <a:t>relative MASE improvement vs KEEP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81000" y="839724"/>
            <a:ext cx="1219200" cy="0"/>
          </a:xfrm>
          <a:prstGeom prst="line">
            <a:avLst/>
          </a:prstGeom>
          <a:ln w="7620">
            <a:solidFill>
              <a:srgbClr val="CCCED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-533400" y="1059688"/>
            <a:ext cx="3048000" cy="1706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60" b="0" i="0">
                <a:solidFill>
                  <a:srgbClr val="AD2B2B"/>
                </a:solidFill>
                <a:latin typeface="Helvetica"/>
              </a:rPr>
              <a:t>[FIG-ROBUST-BOLT]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500" y="11429"/>
            <a:ext cx="3048000" cy="1828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1" i="0">
                <a:solidFill>
                  <a:srgbClr val="1C1E23"/>
                </a:solidFill>
                <a:latin typeface="Helvetica"/>
              </a:rPr>
              <a:t>TimesFM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006600" y="1473200"/>
            <a:ext cx="1219200" cy="0"/>
          </a:xfrm>
          <a:prstGeom prst="line">
            <a:avLst/>
          </a:prstGeom>
          <a:ln w="889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006600" y="381000"/>
            <a:ext cx="0" cy="1092200"/>
          </a:xfrm>
          <a:prstGeom prst="line">
            <a:avLst/>
          </a:prstGeom>
          <a:ln w="889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006600" y="1473200"/>
            <a:ext cx="0" cy="31750"/>
          </a:xfrm>
          <a:prstGeom prst="line">
            <a:avLst/>
          </a:prstGeom>
          <a:ln w="762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82600" y="1494917"/>
            <a:ext cx="3048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6B727C"/>
                </a:solidFill>
                <a:latin typeface="Helvetica"/>
              </a:rPr>
              <a:t>10%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616200" y="1473200"/>
            <a:ext cx="0" cy="31750"/>
          </a:xfrm>
          <a:prstGeom prst="line">
            <a:avLst/>
          </a:prstGeom>
          <a:ln w="762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092200" y="1494917"/>
            <a:ext cx="3048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6B727C"/>
                </a:solidFill>
                <a:latin typeface="Helvetica"/>
              </a:rPr>
              <a:t>30%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225800" y="1473200"/>
            <a:ext cx="0" cy="31750"/>
          </a:xfrm>
          <a:prstGeom prst="line">
            <a:avLst/>
          </a:prstGeom>
          <a:ln w="762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701800" y="1494917"/>
            <a:ext cx="3048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6B727C"/>
                </a:solidFill>
                <a:latin typeface="Helvetica"/>
              </a:rPr>
              <a:t>50%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974850" y="1473200"/>
            <a:ext cx="31750" cy="0"/>
          </a:xfrm>
          <a:prstGeom prst="line">
            <a:avLst/>
          </a:prstGeom>
          <a:ln w="762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36880" y="1404747"/>
            <a:ext cx="3048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40" b="0" i="0">
                <a:solidFill>
                  <a:srgbClr val="6B727C"/>
                </a:solidFill>
                <a:latin typeface="Helvetica"/>
              </a:rPr>
              <a:t>0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974850" y="927100"/>
            <a:ext cx="31750" cy="0"/>
          </a:xfrm>
          <a:prstGeom prst="line">
            <a:avLst/>
          </a:prstGeom>
          <a:ln w="762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36880" y="858647"/>
            <a:ext cx="3048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40" b="0" i="0">
                <a:solidFill>
                  <a:srgbClr val="6B727C"/>
                </a:solidFill>
                <a:latin typeface="Helvetica"/>
              </a:rPr>
              <a:t/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974850" y="381000"/>
            <a:ext cx="31750" cy="0"/>
          </a:xfrm>
          <a:prstGeom prst="line">
            <a:avLst/>
          </a:prstGeom>
          <a:ln w="762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36880" y="312547"/>
            <a:ext cx="3048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40" b="0" i="0">
                <a:solidFill>
                  <a:srgbClr val="6B727C"/>
                </a:solidFill>
                <a:latin typeface="Helvetica"/>
              </a:rPr>
              <a:t>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200" y="1592580"/>
            <a:ext cx="3048000" cy="1828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1C1E23"/>
                </a:solidFill>
                <a:latin typeface="Helvetica"/>
              </a:rPr>
              <a:t>missing severity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006600" y="839724"/>
            <a:ext cx="1219200" cy="0"/>
          </a:xfrm>
          <a:prstGeom prst="line">
            <a:avLst/>
          </a:prstGeom>
          <a:ln w="7620">
            <a:solidFill>
              <a:srgbClr val="CCCED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092200" y="1059688"/>
            <a:ext cx="3048000" cy="1706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60" b="0" i="0">
                <a:solidFill>
                  <a:srgbClr val="AD2B2B"/>
                </a:solidFill>
                <a:latin typeface="Helvetica"/>
              </a:rPr>
              <a:t>[FIG-ROBUST-TIMESFM]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78100" y="11429"/>
            <a:ext cx="3048000" cy="1828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1" i="0">
                <a:solidFill>
                  <a:srgbClr val="1C1E23"/>
                </a:solidFill>
                <a:latin typeface="Helvetica"/>
              </a:rPr>
              <a:t>Chronos-2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632200" y="1473200"/>
            <a:ext cx="1219200" cy="0"/>
          </a:xfrm>
          <a:prstGeom prst="line">
            <a:avLst/>
          </a:prstGeom>
          <a:ln w="889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632200" y="381000"/>
            <a:ext cx="0" cy="1092200"/>
          </a:xfrm>
          <a:prstGeom prst="line">
            <a:avLst/>
          </a:prstGeom>
          <a:ln w="889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632200" y="1473200"/>
            <a:ext cx="0" cy="31750"/>
          </a:xfrm>
          <a:prstGeom prst="line">
            <a:avLst/>
          </a:prstGeom>
          <a:ln w="762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108200" y="1494917"/>
            <a:ext cx="3048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6B727C"/>
                </a:solidFill>
                <a:latin typeface="Helvetica"/>
              </a:rPr>
              <a:t>10%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241800" y="1473200"/>
            <a:ext cx="0" cy="31750"/>
          </a:xfrm>
          <a:prstGeom prst="line">
            <a:avLst/>
          </a:prstGeom>
          <a:ln w="762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2717800" y="1494917"/>
            <a:ext cx="3048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6B727C"/>
                </a:solidFill>
                <a:latin typeface="Helvetica"/>
              </a:rPr>
              <a:t>30%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851400" y="1473200"/>
            <a:ext cx="0" cy="31750"/>
          </a:xfrm>
          <a:prstGeom prst="line">
            <a:avLst/>
          </a:prstGeom>
          <a:ln w="762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327400" y="1494917"/>
            <a:ext cx="3048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6B727C"/>
                </a:solidFill>
                <a:latin typeface="Helvetica"/>
              </a:rPr>
              <a:t>50%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3600450" y="1473200"/>
            <a:ext cx="31750" cy="0"/>
          </a:xfrm>
          <a:prstGeom prst="line">
            <a:avLst/>
          </a:prstGeom>
          <a:ln w="762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062479" y="1404747"/>
            <a:ext cx="3048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40" b="0" i="0">
                <a:solidFill>
                  <a:srgbClr val="6B727C"/>
                </a:solidFill>
                <a:latin typeface="Helvetica"/>
              </a:rPr>
              <a:t>0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3600450" y="927100"/>
            <a:ext cx="31750" cy="0"/>
          </a:xfrm>
          <a:prstGeom prst="line">
            <a:avLst/>
          </a:prstGeom>
          <a:ln w="762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2062479" y="858647"/>
            <a:ext cx="3048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40" b="0" i="0">
                <a:solidFill>
                  <a:srgbClr val="6B727C"/>
                </a:solidFill>
                <a:latin typeface="Helvetica"/>
              </a:rPr>
              <a:t/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3600450" y="381000"/>
            <a:ext cx="31750" cy="0"/>
          </a:xfrm>
          <a:prstGeom prst="line">
            <a:avLst/>
          </a:prstGeom>
          <a:ln w="762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2062479" y="312547"/>
            <a:ext cx="3048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40" b="0" i="0">
                <a:solidFill>
                  <a:srgbClr val="6B727C"/>
                </a:solidFill>
                <a:latin typeface="Helvetica"/>
              </a:rPr>
              <a:t>+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17800" y="1592580"/>
            <a:ext cx="3048000" cy="1828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1C1E23"/>
                </a:solidFill>
                <a:latin typeface="Helvetica"/>
              </a:rPr>
              <a:t>missing severity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3632200" y="839724"/>
            <a:ext cx="1219200" cy="0"/>
          </a:xfrm>
          <a:prstGeom prst="line">
            <a:avLst/>
          </a:prstGeom>
          <a:ln w="7620">
            <a:solidFill>
              <a:srgbClr val="CCCED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2717800" y="1059688"/>
            <a:ext cx="3048000" cy="1706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60" b="0" i="0">
                <a:solidFill>
                  <a:srgbClr val="AD2B2B"/>
                </a:solidFill>
                <a:latin typeface="Helvetica"/>
              </a:rPr>
              <a:t>[FIG-ROBUST-CHRONOS2]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0600" y="1790445"/>
            <a:ext cx="3048000" cy="1584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6B727C"/>
                </a:solidFill>
                <a:latin typeface="Helvetica"/>
              </a:rPr>
              <a:t>Each line is one method; all methods reuse the models and rules frozen on TRAIN, with no per-severity retuning.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