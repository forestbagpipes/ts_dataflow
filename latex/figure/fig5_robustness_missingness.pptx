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209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731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1C1E23"/>
                </a:solidFill>
                <a:latin typeface="Helvetica"/>
              </a:rPr>
              <a:t>Bolt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1800" y="1524000"/>
            <a:ext cx="1168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31800" y="457200"/>
            <a:ext cx="0" cy="10668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318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10922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10%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160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5080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30%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002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2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50%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0050" y="1484585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-1137920" y="1416132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-20%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0050" y="1268734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-1137920" y="1200281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-10%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0050" y="1052883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1137920" y="984430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0050" y="837032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1137920" y="768579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+10%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0050" y="621181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1137920" y="55272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508000" y="16433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missing severity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130300" y="30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MASE improvement over the untouched input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" y="1052883"/>
            <a:ext cx="11684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431800" y="684398"/>
            <a:ext cx="1168400" cy="220975"/>
          </a:xfrm>
          <a:custGeom>
            <a:avLst/>
            <a:gdLst/>
            <a:ahLst/>
            <a:cxnLst/>
            <a:rect l="l" t="t" r="r" b="b"/>
            <a:pathLst>
              <a:path w="1168400" h="220975">
                <a:moveTo>
                  <a:pt x="0" y="220975"/>
                </a:moveTo>
                <a:lnTo>
                  <a:pt x="584200" y="108697"/>
                </a:lnTo>
                <a:lnTo>
                  <a:pt x="1168400" y="0"/>
                </a:lnTo>
              </a:path>
            </a:pathLst>
          </a:custGeom>
          <a:noFill/>
          <a:ln w="1778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5290" y="888863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9490" y="776585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83690" y="667888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1800" y="838213"/>
            <a:ext cx="1168400" cy="146592"/>
          </a:xfrm>
          <a:custGeom>
            <a:avLst/>
            <a:gdLst/>
            <a:ahLst/>
            <a:cxnLst/>
            <a:rect l="l" t="t" r="r" b="b"/>
            <a:pathLst>
              <a:path w="1168400" h="146592">
                <a:moveTo>
                  <a:pt x="0" y="95802"/>
                </a:moveTo>
                <a:lnTo>
                  <a:pt x="584200" y="0"/>
                </a:lnTo>
                <a:lnTo>
                  <a:pt x="1168400" y="146592"/>
                </a:lnTo>
              </a:path>
            </a:pathLst>
          </a:custGeom>
          <a:noFill/>
          <a:ln w="1016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5290" y="917505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9490" y="821703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583690" y="968295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31800" y="678151"/>
            <a:ext cx="1168400" cy="249460"/>
          </a:xfrm>
          <a:custGeom>
            <a:avLst/>
            <a:gdLst/>
            <a:ahLst/>
            <a:cxnLst/>
            <a:rect l="l" t="t" r="r" b="b"/>
            <a:pathLst>
              <a:path w="1168400" h="249460">
                <a:moveTo>
                  <a:pt x="0" y="240319"/>
                </a:moveTo>
                <a:lnTo>
                  <a:pt x="584200" y="0"/>
                </a:lnTo>
                <a:lnTo>
                  <a:pt x="1168400" y="249460"/>
                </a:lnTo>
              </a:path>
            </a:pathLst>
          </a:custGeom>
          <a:noFill/>
          <a:ln w="1016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5290" y="901960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99490" y="661641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83690" y="911101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431800" y="1041503"/>
            <a:ext cx="1168400" cy="315296"/>
          </a:xfrm>
          <a:custGeom>
            <a:avLst/>
            <a:gdLst/>
            <a:ahLst/>
            <a:cxnLst/>
            <a:rect l="l" t="t" r="r" b="b"/>
            <a:pathLst>
              <a:path w="1168400" h="315296">
                <a:moveTo>
                  <a:pt x="0" y="315296"/>
                </a:moveTo>
                <a:lnTo>
                  <a:pt x="584200" y="13789"/>
                </a:lnTo>
                <a:lnTo>
                  <a:pt x="1168400" y="0"/>
                </a:lnTo>
              </a:path>
            </a:pathLst>
          </a:custGeom>
          <a:noFill/>
          <a:ln w="1016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5290" y="1340289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9490" y="1038782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83690" y="1024993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31800" y="1393724"/>
            <a:ext cx="1168400" cy="65520"/>
          </a:xfrm>
          <a:custGeom>
            <a:avLst/>
            <a:gdLst/>
            <a:ahLst/>
            <a:cxnLst/>
            <a:rect l="l" t="t" r="r" b="b"/>
            <a:pathLst>
              <a:path w="1168400" h="65520">
                <a:moveTo>
                  <a:pt x="0" y="65520"/>
                </a:moveTo>
                <a:lnTo>
                  <a:pt x="584200" y="24662"/>
                </a:lnTo>
                <a:lnTo>
                  <a:pt x="1168400" y="0"/>
                </a:lnTo>
              </a:path>
            </a:pathLst>
          </a:custGeom>
          <a:noFill/>
          <a:ln w="1016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5290" y="1442734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9490" y="1401876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83690" y="1377214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5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1C1E23"/>
                </a:solidFill>
                <a:latin typeface="Helvetica"/>
              </a:rPr>
              <a:t>TimesFM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57400" y="1524000"/>
            <a:ext cx="1168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57400" y="457200"/>
            <a:ext cx="0" cy="10668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0574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334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10%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416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1176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30%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2258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7018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50%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25650" y="1484585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87680" y="1416132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-20%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025650" y="1268734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87680" y="1200281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-10%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025650" y="1052883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87680" y="984430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+0%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025650" y="837032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87680" y="768579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+10%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25650" y="621181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87680" y="55272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+20%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7600" y="16433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missing severity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057400" y="1052883"/>
            <a:ext cx="11684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057400" y="521955"/>
            <a:ext cx="1168400" cy="343053"/>
          </a:xfrm>
          <a:custGeom>
            <a:avLst/>
            <a:gdLst/>
            <a:ahLst/>
            <a:cxnLst/>
            <a:rect l="l" t="t" r="r" b="b"/>
            <a:pathLst>
              <a:path w="1168400" h="343053">
                <a:moveTo>
                  <a:pt x="0" y="343053"/>
                </a:moveTo>
                <a:lnTo>
                  <a:pt x="584200" y="76037"/>
                </a:lnTo>
                <a:lnTo>
                  <a:pt x="1168400" y="0"/>
                </a:lnTo>
              </a:path>
            </a:pathLst>
          </a:custGeom>
          <a:noFill/>
          <a:ln w="1778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40889" y="848498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625090" y="581482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9290" y="505445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2057400" y="655456"/>
            <a:ext cx="1168400" cy="261349"/>
          </a:xfrm>
          <a:custGeom>
            <a:avLst/>
            <a:gdLst/>
            <a:ahLst/>
            <a:cxnLst/>
            <a:rect l="l" t="t" r="r" b="b"/>
            <a:pathLst>
              <a:path w="1168400" h="261349">
                <a:moveTo>
                  <a:pt x="0" y="261349"/>
                </a:moveTo>
                <a:lnTo>
                  <a:pt x="584200" y="0"/>
                </a:lnTo>
                <a:lnTo>
                  <a:pt x="1168400" y="20369"/>
                </a:lnTo>
              </a:path>
            </a:pathLst>
          </a:custGeom>
          <a:noFill/>
          <a:ln w="1016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040889" y="900295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25090" y="638946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09290" y="659315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057400" y="757861"/>
            <a:ext cx="1168400" cy="136226"/>
          </a:xfrm>
          <a:custGeom>
            <a:avLst/>
            <a:gdLst/>
            <a:ahLst/>
            <a:cxnLst/>
            <a:rect l="l" t="t" r="r" b="b"/>
            <a:pathLst>
              <a:path w="1168400" h="136226">
                <a:moveTo>
                  <a:pt x="0" y="136226"/>
                </a:moveTo>
                <a:lnTo>
                  <a:pt x="584200" y="0"/>
                </a:lnTo>
                <a:lnTo>
                  <a:pt x="1168400" y="127848"/>
                </a:lnTo>
              </a:path>
            </a:pathLst>
          </a:custGeom>
          <a:noFill/>
          <a:ln w="1016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040889" y="877577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25090" y="741351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09290" y="869199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057400" y="864717"/>
            <a:ext cx="1168400" cy="260975"/>
          </a:xfrm>
          <a:custGeom>
            <a:avLst/>
            <a:gdLst/>
            <a:ahLst/>
            <a:cxnLst/>
            <a:rect l="l" t="t" r="r" b="b"/>
            <a:pathLst>
              <a:path w="1168400" h="260975">
                <a:moveTo>
                  <a:pt x="0" y="260975"/>
                </a:moveTo>
                <a:lnTo>
                  <a:pt x="584200" y="195964"/>
                </a:lnTo>
                <a:lnTo>
                  <a:pt x="1168400" y="0"/>
                </a:lnTo>
              </a:path>
            </a:pathLst>
          </a:custGeom>
          <a:noFill/>
          <a:ln w="1016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040889" y="1109182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25090" y="1044171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209290" y="848207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057400" y="974472"/>
            <a:ext cx="1168400" cy="77614"/>
          </a:xfrm>
          <a:custGeom>
            <a:avLst/>
            <a:gdLst/>
            <a:ahLst/>
            <a:cxnLst/>
            <a:rect l="l" t="t" r="r" b="b"/>
            <a:pathLst>
              <a:path w="1168400" h="77614">
                <a:moveTo>
                  <a:pt x="0" y="0"/>
                </a:moveTo>
                <a:lnTo>
                  <a:pt x="584200" y="50107"/>
                </a:lnTo>
                <a:lnTo>
                  <a:pt x="1168400" y="77614"/>
                </a:lnTo>
              </a:path>
            </a:pathLst>
          </a:custGeom>
          <a:noFill/>
          <a:ln w="1016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040889" y="957962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625090" y="1008069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09290" y="1035576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81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1C1E23"/>
                </a:solidFill>
                <a:latin typeface="Helvetica"/>
              </a:rPr>
              <a:t>Chronos-2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683000" y="1524000"/>
            <a:ext cx="11684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683000" y="457200"/>
            <a:ext cx="0" cy="10668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6830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21590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10%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2672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7432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30%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8514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3327400" y="1545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50%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651250" y="1484585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113279" y="1416132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-20%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3651250" y="1268734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113279" y="1200281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-10%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651250" y="1052883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2113279" y="984430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+0%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3651250" y="837032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2113279" y="768579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+10%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651250" y="621181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2113279" y="552728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+20%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43200" y="16433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missing severity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683000" y="1052883"/>
            <a:ext cx="11684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3683000" y="596354"/>
            <a:ext cx="1168400" cy="340857"/>
          </a:xfrm>
          <a:custGeom>
            <a:avLst/>
            <a:gdLst/>
            <a:ahLst/>
            <a:cxnLst/>
            <a:rect l="l" t="t" r="r" b="b"/>
            <a:pathLst>
              <a:path w="1168400" h="340857">
                <a:moveTo>
                  <a:pt x="0" y="166897"/>
                </a:moveTo>
                <a:lnTo>
                  <a:pt x="584200" y="0"/>
                </a:lnTo>
                <a:lnTo>
                  <a:pt x="1168400" y="340857"/>
                </a:lnTo>
              </a:path>
            </a:pathLst>
          </a:custGeom>
          <a:noFill/>
          <a:ln w="1778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66490" y="746741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250690" y="579844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34890" y="920701"/>
            <a:ext cx="33020" cy="3302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3683000" y="554710"/>
            <a:ext cx="1168400" cy="188161"/>
          </a:xfrm>
          <a:custGeom>
            <a:avLst/>
            <a:gdLst/>
            <a:ahLst/>
            <a:cxnLst/>
            <a:rect l="l" t="t" r="r" b="b"/>
            <a:pathLst>
              <a:path w="1168400" h="188161">
                <a:moveTo>
                  <a:pt x="0" y="188161"/>
                </a:moveTo>
                <a:lnTo>
                  <a:pt x="584200" y="0"/>
                </a:lnTo>
                <a:lnTo>
                  <a:pt x="1168400" y="23711"/>
                </a:lnTo>
              </a:path>
            </a:pathLst>
          </a:custGeom>
          <a:noFill/>
          <a:ln w="1016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666490" y="726361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50690" y="538200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834890" y="561911"/>
            <a:ext cx="33020" cy="33020"/>
          </a:xfrm>
          <a:prstGeom prst="rect">
            <a:avLst/>
          </a:prstGeom>
          <a:solidFill>
            <a:srgbClr val="AD6B0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3683000" y="549923"/>
            <a:ext cx="1168400" cy="410133"/>
          </a:xfrm>
          <a:custGeom>
            <a:avLst/>
            <a:gdLst/>
            <a:ahLst/>
            <a:cxnLst/>
            <a:rect l="l" t="t" r="r" b="b"/>
            <a:pathLst>
              <a:path w="1168400" h="410133">
                <a:moveTo>
                  <a:pt x="0" y="305413"/>
                </a:moveTo>
                <a:lnTo>
                  <a:pt x="584200" y="0"/>
                </a:lnTo>
                <a:lnTo>
                  <a:pt x="1168400" y="410133"/>
                </a:lnTo>
              </a:path>
            </a:pathLst>
          </a:custGeom>
          <a:noFill/>
          <a:ln w="1016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66490" y="838826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50690" y="533413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34890" y="943546"/>
            <a:ext cx="33020" cy="33020"/>
          </a:xfrm>
          <a:prstGeom prst="rect">
            <a:avLst/>
          </a:prstGeom>
          <a:solidFill>
            <a:srgbClr val="19704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3683000" y="1014419"/>
            <a:ext cx="1168400" cy="171180"/>
          </a:xfrm>
          <a:custGeom>
            <a:avLst/>
            <a:gdLst/>
            <a:ahLst/>
            <a:cxnLst/>
            <a:rect l="l" t="t" r="r" b="b"/>
            <a:pathLst>
              <a:path w="1168400" h="171180">
                <a:moveTo>
                  <a:pt x="0" y="171180"/>
                </a:moveTo>
                <a:lnTo>
                  <a:pt x="584200" y="44430"/>
                </a:lnTo>
                <a:lnTo>
                  <a:pt x="1168400" y="0"/>
                </a:lnTo>
              </a:path>
            </a:pathLst>
          </a:custGeom>
          <a:noFill/>
          <a:ln w="1016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666490" y="1169089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250690" y="1042339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834890" y="997909"/>
            <a:ext cx="33020" cy="33020"/>
          </a:xfrm>
          <a:prstGeom prst="rect">
            <a:avLst/>
          </a:prstGeom>
          <a:solidFill>
            <a:srgbClr val="AD2B2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3683000" y="1222625"/>
            <a:ext cx="1168400" cy="35301"/>
          </a:xfrm>
          <a:custGeom>
            <a:avLst/>
            <a:gdLst/>
            <a:ahLst/>
            <a:cxnLst/>
            <a:rect l="l" t="t" r="r" b="b"/>
            <a:pathLst>
              <a:path w="1168400" h="35301">
                <a:moveTo>
                  <a:pt x="0" y="0"/>
                </a:moveTo>
                <a:lnTo>
                  <a:pt x="584200" y="35301"/>
                </a:lnTo>
                <a:lnTo>
                  <a:pt x="1168400" y="16220"/>
                </a:lnTo>
              </a:path>
            </a:pathLst>
          </a:custGeom>
          <a:noFill/>
          <a:ln w="1016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666490" y="1206115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250690" y="1241416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834890" y="1222335"/>
            <a:ext cx="33020" cy="33020"/>
          </a:xfrm>
          <a:prstGeom prst="rect">
            <a:avLst/>
          </a:prstGeom>
          <a:solidFill>
            <a:srgbClr val="9EA5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81000" y="1879600"/>
            <a:ext cx="50800" cy="5080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-1066800" y="1844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IntroAct-TS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82040" y="1879600"/>
            <a:ext cx="50800" cy="5080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-365759" y="1844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Best Fixed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742439" y="1879600"/>
            <a:ext cx="50800" cy="5080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94639" y="1844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R2-CART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280920" y="1879600"/>
            <a:ext cx="50800" cy="50800"/>
          </a:xfrm>
          <a:prstGeom prst="rect">
            <a:avLst/>
          </a:prstGeom>
          <a:solidFill>
            <a:srgbClr val="AD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33119" y="1844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SAITS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738120" y="1879600"/>
            <a:ext cx="50800" cy="50800"/>
          </a:xfrm>
          <a:prstGeom prst="rect">
            <a:avLst/>
          </a:prstGeom>
          <a:solidFill>
            <a:srgbClr val="9EA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90320" y="1844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1C1E23"/>
                </a:solidFill>
                <a:latin typeface="Helvetica"/>
              </a:rPr>
              <a:t>TATO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90600" y="20351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Every method reuses the rule frozen on TRAIN, with no retuning between levels.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