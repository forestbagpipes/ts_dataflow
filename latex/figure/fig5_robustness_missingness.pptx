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1955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731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1C1E23"/>
                </a:solidFill>
                <a:latin typeface="Helvetica"/>
              </a:rPr>
              <a:t>Bolt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1000" y="1473200"/>
            <a:ext cx="12192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81000" y="381000"/>
            <a:ext cx="0" cy="10922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810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11430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10%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906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5334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30%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002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2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50%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9250" y="1473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-1188720" y="1404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9250" y="9271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-1188720" y="8586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92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118872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533400" y="15925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missing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1811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relative MASE improvement vs KEEP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1000" y="839724"/>
            <a:ext cx="12192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533400" y="105968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AD2B2B"/>
                </a:solidFill>
                <a:latin typeface="Helvetica"/>
              </a:rPr>
              <a:t>[FIG-ROBUST-BOLT]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5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1C1E23"/>
                </a:solidFill>
                <a:latin typeface="Helvetica"/>
              </a:rPr>
              <a:t>TimesFM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06600" y="1473200"/>
            <a:ext cx="12192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6600" y="381000"/>
            <a:ext cx="0" cy="10922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0066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26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10%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162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922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258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7018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74850" y="1473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6880" y="1404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74850" y="9271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36880" y="8586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9748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3688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" y="15925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missing severity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006600" y="839724"/>
            <a:ext cx="12192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92200" y="105968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AD2B2B"/>
                </a:solidFill>
                <a:latin typeface="Helvetica"/>
              </a:rPr>
              <a:t>[FIG-ROBUST-TIMESFM]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781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1C1E23"/>
                </a:solidFill>
                <a:latin typeface="Helvetica"/>
              </a:rPr>
              <a:t>Chronos-2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632200" y="1473200"/>
            <a:ext cx="12192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2200" y="381000"/>
            <a:ext cx="0" cy="10922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6322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1082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10%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418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178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30%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851400" y="14732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327400" y="149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50%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600450" y="1473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062479" y="1404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600450" y="9271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062479" y="8586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/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6004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062479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7800" y="1592580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1C1E23"/>
                </a:solidFill>
                <a:latin typeface="Helvetica"/>
              </a:rPr>
              <a:t>missing severity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632200" y="839724"/>
            <a:ext cx="1219200" cy="0"/>
          </a:xfrm>
          <a:prstGeom prst="line">
            <a:avLst/>
          </a:prstGeom>
          <a:ln w="7620">
            <a:solidFill>
              <a:srgbClr val="CCCE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717800" y="1059688"/>
            <a:ext cx="3048000" cy="170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0" i="0">
                <a:solidFill>
                  <a:srgbClr val="AD2B2B"/>
                </a:solidFill>
                <a:latin typeface="Helvetica"/>
              </a:rPr>
              <a:t>[FIG-ROBUST-CHRONOS2]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0600" y="1790445"/>
            <a:ext cx="3048000" cy="1584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20" b="0" i="0">
                <a:solidFill>
                  <a:srgbClr val="6B727C"/>
                </a:solidFill>
                <a:latin typeface="Helvetica"/>
              </a:rPr>
              <a:t>Each line is one method; all methods reuse the models and rules frozen on TRAIN, with no per-severity retuning.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