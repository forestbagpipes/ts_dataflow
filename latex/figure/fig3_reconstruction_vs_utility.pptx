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19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60400" y="1498600"/>
            <a:ext cx="19050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60400" y="228600"/>
            <a:ext cx="0" cy="12700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60400" y="14986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-863600" y="15203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12900" y="14986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900" y="15203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0.5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5400" y="14986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1400" y="15203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8650" y="14986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909319" y="14301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8650" y="8636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909319" y="7951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8650" y="2286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-909319" y="160146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" y="161798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1C1E23"/>
                </a:solidFill>
                <a:latin typeface="Helvetica"/>
              </a:rPr>
              <a:t>Reconstruction improvement  (lower E_rec)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901700" y="72516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Forecasting gain  (Delta L_forecast)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0400" y="863600"/>
            <a:ext cx="1905000" cy="0"/>
          </a:xfrm>
          <a:prstGeom prst="line">
            <a:avLst/>
          </a:prstGeom>
          <a:ln w="762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900" y="684530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D2B2B"/>
                </a:solidFill>
                <a:latin typeface="Helvetica"/>
              </a:rPr>
              <a:t>[FIG-RECUTIL-POINTS]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" y="8506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one point per parent-method 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0000" y="2273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C1E23"/>
                </a:solidFill>
                <a:latin typeface="Helvetica"/>
              </a:rPr>
              <a:t>Reported per backbone: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3900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6B727C"/>
                </a:solidFill>
                <a:latin typeface="Helvetica"/>
              </a:rPr>
              <a:t>- Spearman rho(rank_rec, rank_fc) = [FIG-RHO]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5297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6B727C"/>
                </a:solidFill>
                <a:latin typeface="Helvetica"/>
              </a:rPr>
              <a:t>- Discordant rate = [FIG-DISCORDANT]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0000" y="6694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6B727C"/>
                </a:solidFill>
                <a:latin typeface="Helvetica"/>
              </a:rPr>
              <a:t>- Bolt / TimesFM / Chronos-2 panels: Appendix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8600" y="939800"/>
            <a:ext cx="2184400" cy="736600"/>
          </a:xfrm>
          <a:prstGeom prst="roundRect">
            <a:avLst>
              <a:gd name="adj" fmla="val 581"/>
            </a:avLst>
          </a:prstGeom>
          <a:solidFill>
            <a:srgbClr val="F0F0F3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0800" y="97078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60" b="1" i="0">
                <a:solidFill>
                  <a:srgbClr val="1C1E23"/>
                </a:solidFill>
                <a:latin typeface="Helvetica"/>
              </a:rPr>
              <a:t>Supported conclusion: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0800" y="11173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1C1E23"/>
                </a:solidFill>
                <a:latin typeface="Helvetica"/>
              </a:rPr>
              <a:t>reconstruction quality is not a reliable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0800" y="122529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1C1E23"/>
                </a:solidFill>
                <a:latin typeface="Helvetica"/>
              </a:rPr>
              <a:t>proxy for frozen-TSFM forecasting utility.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0800" y="137769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AD2B2B"/>
                </a:solidFill>
                <a:latin typeface="Helvetica"/>
              </a:rPr>
              <a:t>If the correlation turns out to be high,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0800" y="14856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AD2B2B"/>
                </a:solidFill>
                <a:latin typeface="Helvetica"/>
              </a:rPr>
              <a:t>the claim must be rewritten honestly.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