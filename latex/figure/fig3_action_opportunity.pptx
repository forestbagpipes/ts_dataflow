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413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473200" y="8000"/>
            <a:ext cx="3048000" cy="1889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0" b="1" i="0">
                <a:solidFill>
                  <a:srgbClr val="1C1E23"/>
                </a:solidFill>
                <a:latin typeface="Helvetica"/>
              </a:rPr>
              <a:t>(a) Opportunity strata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3400" y="1549400"/>
            <a:ext cx="1651000" cy="0"/>
          </a:xfrm>
          <a:prstGeom prst="line">
            <a:avLst/>
          </a:prstGeom>
          <a:ln w="889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33400" y="381000"/>
            <a:ext cx="0" cy="1168400"/>
          </a:xfrm>
          <a:prstGeom prst="line">
            <a:avLst/>
          </a:prstGeom>
          <a:ln w="889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33400" y="1549400"/>
            <a:ext cx="0" cy="3175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-990600" y="15711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6B727C"/>
                </a:solidFill>
                <a:latin typeface="Helvetica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58900" y="1549400"/>
            <a:ext cx="0" cy="3175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-165100" y="15711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6B727C"/>
                </a:solidFill>
                <a:latin typeface="Helvetica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84400" y="1549400"/>
            <a:ext cx="0" cy="3175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0400" y="15711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6B727C"/>
                </a:solidFill>
                <a:latin typeface="Helvetica"/>
              </a:rPr>
              <a:t>max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1650" y="1549400"/>
            <a:ext cx="31750" cy="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-1036319" y="148094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0" i="0">
                <a:solidFill>
                  <a:srgbClr val="6B727C"/>
                </a:solidFill>
                <a:latin typeface="Helvetica"/>
              </a:rPr>
              <a:t>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1650" y="965200"/>
            <a:ext cx="31750" cy="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-1036319" y="89674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0" i="0">
                <a:solidFill>
                  <a:srgbClr val="6B727C"/>
                </a:solidFill>
                <a:latin typeface="Helvetica"/>
              </a:rPr>
              <a:t/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1650" y="381000"/>
            <a:ext cx="31750" cy="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-1036319" y="31254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0" i="0">
                <a:solidFill>
                  <a:srgbClr val="6B727C"/>
                </a:solidFill>
                <a:latin typeface="Helvetica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165100" y="1668780"/>
            <a:ext cx="3048000" cy="1828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1C1E23"/>
                </a:solidFill>
                <a:latin typeface="Helvetica"/>
              </a:rPr>
              <a:t>oracle opportunity  Delta_i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1028700" y="2249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40" b="0" i="0">
                <a:solidFill>
                  <a:srgbClr val="1C1E23"/>
                </a:solidFill>
                <a:latin typeface="Helvetica"/>
              </a:rPr>
              <a:t>share of episodes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950" y="778255"/>
            <a:ext cx="396240" cy="771144"/>
          </a:xfrm>
          <a:prstGeom prst="rect">
            <a:avLst/>
          </a:prstGeom>
          <a:solidFill>
            <a:srgbClr val="F0F0F3"/>
          </a:solidFill>
          <a:ln w="7620">
            <a:solidFill>
              <a:srgbClr val="CCC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-709930" y="641730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1C1E23"/>
                </a:solidFill>
                <a:latin typeface="Helvetica"/>
              </a:rPr>
              <a:t>no-op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60780" y="1058672"/>
            <a:ext cx="396240" cy="490728"/>
          </a:xfrm>
          <a:prstGeom prst="rect">
            <a:avLst/>
          </a:prstGeom>
          <a:solidFill>
            <a:srgbClr val="F0F0F3"/>
          </a:solidFill>
          <a:ln w="7620">
            <a:solidFill>
              <a:srgbClr val="CCC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-165100" y="922147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1C1E23"/>
                </a:solidFill>
                <a:latin typeface="Helvetica"/>
              </a:rPr>
              <a:t>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05610" y="1268984"/>
            <a:ext cx="396240" cy="280416"/>
          </a:xfrm>
          <a:prstGeom prst="rect">
            <a:avLst/>
          </a:prstGeom>
          <a:solidFill>
            <a:srgbClr val="F0F0F3"/>
          </a:solidFill>
          <a:ln w="7620">
            <a:solidFill>
              <a:srgbClr val="CCC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729" y="1132459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1C1E23"/>
                </a:solidFill>
                <a:latin typeface="Helvetica"/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00" y="8000"/>
            <a:ext cx="3048000" cy="1889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0" b="1" i="0">
                <a:solidFill>
                  <a:srgbClr val="1C1E23"/>
                </a:solidFill>
                <a:latin typeface="Helvetica"/>
              </a:rPr>
              <a:t>(b) Improvement over KEEP by stratum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946400" y="1549400"/>
            <a:ext cx="1981200" cy="0"/>
          </a:xfrm>
          <a:prstGeom prst="line">
            <a:avLst/>
          </a:prstGeom>
          <a:ln w="889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946400" y="381000"/>
            <a:ext cx="0" cy="1168400"/>
          </a:xfrm>
          <a:prstGeom prst="line">
            <a:avLst/>
          </a:prstGeom>
          <a:ln w="889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283204" y="1549400"/>
            <a:ext cx="0" cy="3175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759203" y="15711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6B727C"/>
                </a:solidFill>
                <a:latin typeface="Helvetica"/>
              </a:rPr>
              <a:t>no-op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937000" y="1549400"/>
            <a:ext cx="0" cy="3175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413000" y="15711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6B727C"/>
                </a:solidFill>
                <a:latin typeface="Helvetica"/>
              </a:rPr>
              <a:t>low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90796" y="1549400"/>
            <a:ext cx="0" cy="3175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066796" y="15711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6B727C"/>
                </a:solidFill>
                <a:latin typeface="Helvetica"/>
              </a:rPr>
              <a:t>high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914650" y="1549400"/>
            <a:ext cx="31750" cy="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376680" y="148094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0" i="0">
                <a:solidFill>
                  <a:srgbClr val="6B727C"/>
                </a:solidFill>
                <a:latin typeface="Helvetica"/>
              </a:rPr>
              <a:t>-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914650" y="965200"/>
            <a:ext cx="31750" cy="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376680" y="89674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0" i="0">
                <a:solidFill>
                  <a:srgbClr val="6B727C"/>
                </a:solidFill>
                <a:latin typeface="Helvetica"/>
              </a:rPr>
              <a:t>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914650" y="381000"/>
            <a:ext cx="31750" cy="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376680" y="31254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0" i="0">
                <a:solidFill>
                  <a:srgbClr val="6B727C"/>
                </a:solidFill>
                <a:latin typeface="Helvetica"/>
              </a:rPr>
              <a:t>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13000" y="1668780"/>
            <a:ext cx="3048000" cy="1828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1C1E23"/>
                </a:solidFill>
                <a:latin typeface="Helvetica"/>
              </a:rPr>
              <a:t>oracle opportunity stratum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84300" y="2249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40" b="0" i="0">
                <a:solidFill>
                  <a:srgbClr val="1C1E23"/>
                </a:solidFill>
                <a:latin typeface="Helvetica"/>
              </a:rPr>
              <a:t>MASE improvement vs KEEP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946400" y="965200"/>
            <a:ext cx="1981200" cy="0"/>
          </a:xfrm>
          <a:prstGeom prst="line">
            <a:avLst/>
          </a:prstGeom>
          <a:ln w="7620">
            <a:solidFill>
              <a:srgbClr val="CCCE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3283204" y="1000252"/>
            <a:ext cx="1307592" cy="151892"/>
          </a:xfrm>
          <a:custGeom>
            <a:avLst/>
            <a:gdLst/>
            <a:ahLst/>
            <a:cxnLst/>
            <a:rect l="l" t="t" r="r" b="b"/>
            <a:pathLst>
              <a:path w="1307592" h="151892">
                <a:moveTo>
                  <a:pt x="0" y="151892"/>
                </a:moveTo>
                <a:lnTo>
                  <a:pt x="653796" y="81787"/>
                </a:lnTo>
                <a:lnTo>
                  <a:pt x="1307592" y="0"/>
                </a:lnTo>
              </a:path>
            </a:pathLst>
          </a:custGeom>
          <a:noFill/>
          <a:ln w="12700">
            <a:solidFill>
              <a:srgbClr val="CCC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3283204" y="556260"/>
            <a:ext cx="1307592" cy="408940"/>
          </a:xfrm>
          <a:custGeom>
            <a:avLst/>
            <a:gdLst/>
            <a:ahLst/>
            <a:cxnLst/>
            <a:rect l="l" t="t" r="r" b="b"/>
            <a:pathLst>
              <a:path w="1307592" h="408940">
                <a:moveTo>
                  <a:pt x="0" y="408940"/>
                </a:moveTo>
                <a:lnTo>
                  <a:pt x="653796" y="268732"/>
                </a:lnTo>
                <a:lnTo>
                  <a:pt x="1307592" y="0"/>
                </a:lnTo>
              </a:path>
            </a:pathLst>
          </a:custGeom>
          <a:noFill/>
          <a:ln w="15240">
            <a:solidFill>
              <a:srgbClr val="2154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3009900" y="469900"/>
            <a:ext cx="177800" cy="0"/>
          </a:xfrm>
          <a:prstGeom prst="line">
            <a:avLst/>
          </a:prstGeom>
          <a:ln w="15240">
            <a:solidFill>
              <a:srgbClr val="2154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701800" y="407034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215499"/>
                </a:solidFill>
                <a:latin typeface="Helvetica"/>
              </a:rPr>
              <a:t>IntroAct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009900" y="584200"/>
            <a:ext cx="177800" cy="0"/>
          </a:xfrm>
          <a:prstGeom prst="line">
            <a:avLst/>
          </a:prstGeom>
          <a:ln w="12700">
            <a:solidFill>
              <a:srgbClr val="CCCE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701800" y="521334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6B727C"/>
                </a:solidFill>
                <a:latin typeface="Helvetica"/>
              </a:rPr>
              <a:t>fixed repair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85900" y="1403604"/>
            <a:ext cx="30480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 i="0">
                <a:solidFill>
                  <a:srgbClr val="6B727C"/>
                </a:solidFill>
                <a:latin typeface="Helvetica"/>
              </a:rPr>
              <a:t>below zero: worse than doing nothing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-165100" y="1841245"/>
            <a:ext cx="3048000" cy="158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AD2B2B"/>
                </a:solidFill>
                <a:latin typeface="Helvetica"/>
              </a:rPr>
              <a:t>[FIG-STRATUM-SHARES]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13000" y="1841245"/>
            <a:ext cx="3048000" cy="158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AD2B2B"/>
                </a:solidFill>
                <a:latin typeface="Helvetica"/>
              </a:rPr>
              <a:t>[FIG-OPPORTUNITY-CURVES]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0600" y="2095245"/>
            <a:ext cx="3048000" cy="158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6B727C"/>
                </a:solidFill>
                <a:latin typeface="Helvetica"/>
              </a:rPr>
              <a:t>A fixed repair policy must act where nothing can be gained; the decision problem is to act only where it pays.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