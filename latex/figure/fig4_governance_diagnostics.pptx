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057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Harmful loss by method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87400" y="1498600"/>
            <a:ext cx="1422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87400" y="381000"/>
            <a:ext cx="0" cy="11176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87400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736600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0.00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04946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319053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22493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493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40040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6040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0.30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5650" y="474133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-782320" y="405680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Keep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650" y="660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782320" y="591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Best Fixed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5650" y="846666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782320" y="778213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R2-CART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5650" y="1032933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782320" y="964480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SAITS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5650" y="1219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-782320" y="1150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TATO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5650" y="1405466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-782320" y="1337013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IntroAct-TS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25400" y="16179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harmful loss (lower is better)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400" y="425703"/>
            <a:ext cx="5080" cy="96858"/>
          </a:xfrm>
          <a:prstGeom prst="rect">
            <a:avLst/>
          </a:prstGeom>
          <a:solidFill>
            <a:srgbClr val="CCCED3"/>
          </a:solidFill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-703580" y="415586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59" b="0" i="0">
                <a:solidFill>
                  <a:srgbClr val="6B727C"/>
                </a:solidFill>
                <a:latin typeface="Helvetica"/>
              </a:rPr>
              <a:t>0.000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7400" y="611970"/>
            <a:ext cx="223620" cy="96858"/>
          </a:xfrm>
          <a:prstGeom prst="rect">
            <a:avLst/>
          </a:prstGeom>
          <a:solidFill>
            <a:srgbClr val="CCCED3"/>
          </a:solidFill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-479959" y="60185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59" b="0" i="0">
                <a:solidFill>
                  <a:srgbClr val="6B727C"/>
                </a:solidFill>
                <a:latin typeface="Helvetica"/>
              </a:rPr>
              <a:t>0.054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7400" y="798237"/>
            <a:ext cx="210778" cy="96858"/>
          </a:xfrm>
          <a:prstGeom prst="rect">
            <a:avLst/>
          </a:prstGeom>
          <a:solidFill>
            <a:srgbClr val="CCCED3"/>
          </a:solidFill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-492801" y="788119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59" b="0" i="0">
                <a:solidFill>
                  <a:srgbClr val="6B727C"/>
                </a:solidFill>
                <a:latin typeface="Helvetica"/>
              </a:rPr>
              <a:t>0.050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7400" y="984504"/>
            <a:ext cx="444513" cy="96858"/>
          </a:xfrm>
          <a:prstGeom prst="rect">
            <a:avLst/>
          </a:prstGeom>
          <a:solidFill>
            <a:srgbClr val="CCCED3"/>
          </a:solidFill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-259066" y="974386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59" b="0" i="0">
                <a:solidFill>
                  <a:srgbClr val="6B727C"/>
                </a:solidFill>
                <a:latin typeface="Helvetica"/>
              </a:rPr>
              <a:t>0.106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7400" y="1170770"/>
            <a:ext cx="1226206" cy="96858"/>
          </a:xfrm>
          <a:prstGeom prst="rect">
            <a:avLst/>
          </a:prstGeom>
          <a:solidFill>
            <a:srgbClr val="CCCED3"/>
          </a:solidFill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2626" y="116065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59" b="0" i="0">
                <a:solidFill>
                  <a:srgbClr val="6B727C"/>
                </a:solidFill>
                <a:latin typeface="Helvetica"/>
              </a:rPr>
              <a:t>0.294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7400" y="1357037"/>
            <a:ext cx="122907" cy="96858"/>
          </a:xfrm>
          <a:prstGeom prst="rect">
            <a:avLst/>
          </a:prstGeom>
          <a:solidFill>
            <a:srgbClr val="215499"/>
          </a:solidFill>
          <a:ln w="762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-580672" y="1346919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59" b="0" i="0">
                <a:solidFill>
                  <a:srgbClr val="1C1E23"/>
                </a:solidFill>
                <a:latin typeface="Helvetica"/>
              </a:rPr>
              <a:t>0.029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-25400" y="176263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6B727C"/>
                </a:solidFill>
                <a:latin typeface="Helvetica"/>
              </a:rPr>
              <a:t>mean over the three backbones, and the reference action adds none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2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Realised utility against the score bin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175000" y="1498600"/>
            <a:ext cx="1676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175000" y="406400"/>
            <a:ext cx="0" cy="10922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27977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75577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48932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96532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69887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17487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90842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38442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11797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59397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32752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80352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6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53707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01307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7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746625" y="14986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3222625" y="152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8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143250" y="1321338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605280" y="1252885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-0.30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143250" y="1239621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605280" y="117116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-0.15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143250" y="1157905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05280" y="1089452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0.00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143250" y="1076188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605280" y="1007735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89200" y="16179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conservative score, quantile bin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12900" y="2503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realised utility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175000" y="1157905"/>
            <a:ext cx="16764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33674" y="1263272"/>
            <a:ext cx="0" cy="159472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443224" y="1130829"/>
            <a:ext cx="0" cy="24905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652774" y="1147073"/>
            <a:ext cx="0" cy="20424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862324" y="1145865"/>
            <a:ext cx="0" cy="19763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071874" y="1145085"/>
            <a:ext cx="0" cy="21939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281424" y="1131169"/>
            <a:ext cx="0" cy="32774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490974" y="1113750"/>
            <a:ext cx="0" cy="55595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700524" y="1039587"/>
            <a:ext cx="0" cy="87476"/>
          </a:xfrm>
          <a:prstGeom prst="line">
            <a:avLst/>
          </a:prstGeom>
          <a:ln w="6350">
            <a:solidFill>
              <a:srgbClr val="2154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3233674" y="1089145"/>
            <a:ext cx="1466850" cy="245152"/>
          </a:xfrm>
          <a:custGeom>
            <a:avLst/>
            <a:gdLst/>
            <a:ahLst/>
            <a:cxnLst/>
            <a:rect l="l" t="t" r="r" b="b"/>
            <a:pathLst>
              <a:path w="1466850" h="245152">
                <a:moveTo>
                  <a:pt x="0" y="245152"/>
                </a:moveTo>
                <a:lnTo>
                  <a:pt x="209550" y="54684"/>
                </a:lnTo>
                <a:lnTo>
                  <a:pt x="419100" y="67788"/>
                </a:lnTo>
                <a:lnTo>
                  <a:pt x="628650" y="67070"/>
                </a:lnTo>
                <a:lnTo>
                  <a:pt x="838200" y="67124"/>
                </a:lnTo>
                <a:lnTo>
                  <a:pt x="1047750" y="58479"/>
                </a:lnTo>
                <a:lnTo>
                  <a:pt x="1257300" y="51914"/>
                </a:lnTo>
                <a:lnTo>
                  <a:pt x="1466850" y="0"/>
                </a:lnTo>
              </a:path>
            </a:pathLst>
          </a:custGeom>
          <a:noFill/>
          <a:ln w="1143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19704" y="1320327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429254" y="1129859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638804" y="1142963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48354" y="1142245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057904" y="1142299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267454" y="1133654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77004" y="1127089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86554" y="1075175"/>
            <a:ext cx="27940" cy="2794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3279775" y="1134024"/>
            <a:ext cx="0" cy="59100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489325" y="1137291"/>
            <a:ext cx="0" cy="30938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698875" y="1133583"/>
            <a:ext cx="0" cy="78463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908425" y="1138302"/>
            <a:ext cx="0" cy="20944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117975" y="1154659"/>
            <a:ext cx="0" cy="14471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327525" y="1155991"/>
            <a:ext cx="0" cy="22919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537075" y="969248"/>
            <a:ext cx="0" cy="152925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746625" y="481724"/>
            <a:ext cx="0" cy="409353"/>
          </a:xfrm>
          <a:prstGeom prst="line">
            <a:avLst/>
          </a:prstGeom>
          <a:ln w="6350">
            <a:solidFill>
              <a:srgbClr val="AD6B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3279775" y="712325"/>
            <a:ext cx="1466850" cy="454687"/>
          </a:xfrm>
          <a:custGeom>
            <a:avLst/>
            <a:gdLst/>
            <a:ahLst/>
            <a:cxnLst/>
            <a:rect l="l" t="t" r="r" b="b"/>
            <a:pathLst>
              <a:path w="1466850" h="454687">
                <a:moveTo>
                  <a:pt x="0" y="451967"/>
                </a:moveTo>
                <a:lnTo>
                  <a:pt x="209550" y="441797"/>
                </a:lnTo>
                <a:lnTo>
                  <a:pt x="419100" y="454687"/>
                </a:lnTo>
                <a:lnTo>
                  <a:pt x="628650" y="437090"/>
                </a:lnTo>
                <a:lnTo>
                  <a:pt x="838200" y="448814"/>
                </a:lnTo>
                <a:lnTo>
                  <a:pt x="1047750" y="454151"/>
                </a:lnTo>
                <a:lnTo>
                  <a:pt x="1257300" y="340448"/>
                </a:lnTo>
                <a:lnTo>
                  <a:pt x="1466850" y="0"/>
                </a:lnTo>
              </a:path>
            </a:pathLst>
          </a:custGeom>
          <a:noFill/>
          <a:ln w="1143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265804" y="1150322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475354" y="1140152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84904" y="1153042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894454" y="1135445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104004" y="1147169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313555" y="1152506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523105" y="1038803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732655" y="698355"/>
            <a:ext cx="27940" cy="2794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3325876" y="1264955"/>
            <a:ext cx="0" cy="158320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535426" y="1137805"/>
            <a:ext cx="0" cy="73216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744976" y="1122885"/>
            <a:ext cx="0" cy="38116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954526" y="1140361"/>
            <a:ext cx="0" cy="32161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164076" y="1113747"/>
            <a:ext cx="0" cy="38097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373626" y="1113102"/>
            <a:ext cx="0" cy="41623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583176" y="1099926"/>
            <a:ext cx="0" cy="63362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92726" y="947873"/>
            <a:ext cx="0" cy="205207"/>
          </a:xfrm>
          <a:prstGeom prst="line">
            <a:avLst/>
          </a:prstGeom>
          <a:ln w="635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3325876" y="1063184"/>
            <a:ext cx="1466850" cy="283872"/>
          </a:xfrm>
          <a:custGeom>
            <a:avLst/>
            <a:gdLst/>
            <a:ahLst/>
            <a:cxnLst/>
            <a:rect l="l" t="t" r="r" b="b"/>
            <a:pathLst>
              <a:path w="1466850" h="283872">
                <a:moveTo>
                  <a:pt x="0" y="283872"/>
                </a:moveTo>
                <a:lnTo>
                  <a:pt x="209550" y="107989"/>
                </a:lnTo>
                <a:lnTo>
                  <a:pt x="419100" y="80073"/>
                </a:lnTo>
                <a:lnTo>
                  <a:pt x="628650" y="92874"/>
                </a:lnTo>
                <a:lnTo>
                  <a:pt x="838200" y="70138"/>
                </a:lnTo>
                <a:lnTo>
                  <a:pt x="1047750" y="71938"/>
                </a:lnTo>
                <a:lnTo>
                  <a:pt x="1257300" y="73222"/>
                </a:lnTo>
                <a:lnTo>
                  <a:pt x="1466850" y="0"/>
                </a:lnTo>
              </a:path>
            </a:pathLst>
          </a:custGeom>
          <a:noFill/>
          <a:ln w="1143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11905" y="1333086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21455" y="1157203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31005" y="1129287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40555" y="1142088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50105" y="1119352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359656" y="1121152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69206" y="1122436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778756" y="1049214"/>
            <a:ext cx="27940" cy="2794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251200" y="177800"/>
            <a:ext cx="50800" cy="5080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03400" y="1428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Bolt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810000" y="177800"/>
            <a:ext cx="50800" cy="5080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362200" y="1428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TimesFM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68800" y="177800"/>
            <a:ext cx="50800" cy="5080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921000" y="1428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Chronos-2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89200" y="174993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6B727C"/>
                </a:solidFill>
                <a:latin typeface="Helvetica"/>
              </a:rPr>
              <a:t>whiskers are 95% intervals that resample parents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90600" y="18954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The score orders actions and the order agrees in sign with what the actions did. No claim is made that the score is on the scale of the utility.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