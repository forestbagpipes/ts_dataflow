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1981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1473200" y="11429"/>
            <a:ext cx="3048000" cy="1828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1C1E23"/>
                </a:solidFill>
                <a:latin typeface="Helvetica"/>
              </a:rPr>
              <a:t>(a) Harmful loss by method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4200" y="1549400"/>
            <a:ext cx="1676400" cy="0"/>
          </a:xfrm>
          <a:prstGeom prst="line">
            <a:avLst/>
          </a:prstGeom>
          <a:ln w="889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84200" y="381000"/>
            <a:ext cx="0" cy="1168400"/>
          </a:xfrm>
          <a:prstGeom prst="line">
            <a:avLst/>
          </a:prstGeom>
          <a:ln w="889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18312" y="1549400"/>
            <a:ext cx="0" cy="31750"/>
          </a:xfrm>
          <a:prstGeom prst="line">
            <a:avLst/>
          </a:prstGeom>
          <a:ln w="762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-805688" y="157111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6B727C"/>
                </a:solidFill>
                <a:latin typeface="Helvetica"/>
              </a:rPr>
              <a:t>TOI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70356" y="1549400"/>
            <a:ext cx="0" cy="31750"/>
          </a:xfrm>
          <a:prstGeom prst="line">
            <a:avLst/>
          </a:prstGeom>
          <a:ln w="762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-453644" y="157111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6B727C"/>
                </a:solidFill>
                <a:latin typeface="Helvetica"/>
              </a:rPr>
              <a:t>TOIVSF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22400" y="1549400"/>
            <a:ext cx="0" cy="31750"/>
          </a:xfrm>
          <a:prstGeom prst="line">
            <a:avLst/>
          </a:prstGeom>
          <a:ln w="762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-101600" y="157111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6B727C"/>
                </a:solidFill>
                <a:latin typeface="Helvetica"/>
              </a:rPr>
              <a:t>GIMCC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74444" y="1549400"/>
            <a:ext cx="0" cy="31750"/>
          </a:xfrm>
          <a:prstGeom prst="line">
            <a:avLst/>
          </a:prstGeom>
          <a:ln w="762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50444" y="157111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6B727C"/>
                </a:solidFill>
                <a:latin typeface="Helvetica"/>
              </a:rPr>
              <a:t>SRDI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26488" y="1549400"/>
            <a:ext cx="0" cy="31750"/>
          </a:xfrm>
          <a:prstGeom prst="line">
            <a:avLst/>
          </a:prstGeom>
          <a:ln w="762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02488" y="157111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6B727C"/>
                </a:solidFill>
                <a:latin typeface="Helvetica"/>
              </a:rPr>
              <a:t>CTF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52450" y="1549400"/>
            <a:ext cx="31750" cy="0"/>
          </a:xfrm>
          <a:prstGeom prst="line">
            <a:avLst/>
          </a:prstGeom>
          <a:ln w="762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-985519" y="148094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0" i="0">
                <a:solidFill>
                  <a:srgbClr val="6B727C"/>
                </a:solidFill>
                <a:latin typeface="Helvetica"/>
              </a:rPr>
              <a:t>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52450" y="965200"/>
            <a:ext cx="31750" cy="0"/>
          </a:xfrm>
          <a:prstGeom prst="line">
            <a:avLst/>
          </a:prstGeom>
          <a:ln w="762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-985519" y="89674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0" i="0">
                <a:solidFill>
                  <a:srgbClr val="6B727C"/>
                </a:solidFill>
                <a:latin typeface="Helvetica"/>
              </a:rPr>
              <a:t/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52450" y="381000"/>
            <a:ext cx="31750" cy="0"/>
          </a:xfrm>
          <a:prstGeom prst="line">
            <a:avLst/>
          </a:prstGeom>
          <a:ln w="762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-985519" y="31254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0" i="0">
                <a:solidFill>
                  <a:srgbClr val="6B727C"/>
                </a:solidFill>
                <a:latin typeface="Helvetica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-101600" y="1668780"/>
            <a:ext cx="3048000" cy="1828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1C1E23"/>
                </a:solidFill>
                <a:latin typeface="Helvetica"/>
              </a:rPr>
              <a:t>method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-977900" y="22491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40" b="0" i="0">
                <a:solidFill>
                  <a:srgbClr val="1C1E23"/>
                </a:solidFill>
                <a:latin typeface="Helvetica"/>
              </a:rPr>
              <a:t>Harmful loss  HL  (lower is better)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-101600" y="865759"/>
            <a:ext cx="3048000" cy="1767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80" b="0" i="0">
                <a:solidFill>
                  <a:srgbClr val="AD2B2B"/>
                </a:solidFill>
                <a:latin typeface="Helvetica"/>
              </a:rPr>
              <a:t>[FIG-HARMFUL-LOSS-BARS]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2200" y="11429"/>
            <a:ext cx="3048000" cy="1828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1C1E23"/>
                </a:solidFill>
                <a:latin typeface="Helvetica"/>
              </a:rPr>
              <a:t>(b) Predicted vs realised ranking utility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200400" y="1549400"/>
            <a:ext cx="1676400" cy="0"/>
          </a:xfrm>
          <a:prstGeom prst="line">
            <a:avLst/>
          </a:prstGeom>
          <a:ln w="889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200400" y="381000"/>
            <a:ext cx="0" cy="1168400"/>
          </a:xfrm>
          <a:prstGeom prst="line">
            <a:avLst/>
          </a:prstGeom>
          <a:ln w="889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200400" y="1549400"/>
            <a:ext cx="0" cy="31750"/>
          </a:xfrm>
          <a:prstGeom prst="line">
            <a:avLst/>
          </a:prstGeom>
          <a:ln w="762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676400" y="157111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6B727C"/>
                </a:solidFill>
                <a:latin typeface="Helvetica"/>
              </a:rPr>
              <a:t>neg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038600" y="1549400"/>
            <a:ext cx="0" cy="31750"/>
          </a:xfrm>
          <a:prstGeom prst="line">
            <a:avLst/>
          </a:prstGeom>
          <a:ln w="762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514600" y="157111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6B727C"/>
                </a:solidFill>
                <a:latin typeface="Helvetica"/>
              </a:rPr>
              <a:t>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876800" y="1549400"/>
            <a:ext cx="0" cy="31750"/>
          </a:xfrm>
          <a:prstGeom prst="line">
            <a:avLst/>
          </a:prstGeom>
          <a:ln w="762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352800" y="157111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6B727C"/>
                </a:solidFill>
                <a:latin typeface="Helvetica"/>
              </a:rPr>
              <a:t>pos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168650" y="1549400"/>
            <a:ext cx="31750" cy="0"/>
          </a:xfrm>
          <a:prstGeom prst="line">
            <a:avLst/>
          </a:prstGeom>
          <a:ln w="762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630680" y="148094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0" i="0">
                <a:solidFill>
                  <a:srgbClr val="6B727C"/>
                </a:solidFill>
                <a:latin typeface="Helvetica"/>
              </a:rPr>
              <a:t>neg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168650" y="965200"/>
            <a:ext cx="31750" cy="0"/>
          </a:xfrm>
          <a:prstGeom prst="line">
            <a:avLst/>
          </a:prstGeom>
          <a:ln w="762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630680" y="89674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0" i="0">
                <a:solidFill>
                  <a:srgbClr val="6B727C"/>
                </a:solidFill>
                <a:latin typeface="Helvetica"/>
              </a:rPr>
              <a:t>0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168650" y="381000"/>
            <a:ext cx="31750" cy="0"/>
          </a:xfrm>
          <a:prstGeom prst="line">
            <a:avLst/>
          </a:prstGeom>
          <a:ln w="762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630680" y="31254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0" i="0">
                <a:solidFill>
                  <a:srgbClr val="6B727C"/>
                </a:solidFill>
                <a:latin typeface="Helvetica"/>
              </a:rPr>
              <a:t>pos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14600" y="1668780"/>
            <a:ext cx="3048000" cy="1828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1C1E23"/>
                </a:solidFill>
                <a:latin typeface="Helvetica"/>
              </a:rPr>
              <a:t>Predicted S[a] (binned)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38300" y="22491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40" b="0" i="0">
                <a:solidFill>
                  <a:srgbClr val="1C1E23"/>
                </a:solidFill>
                <a:latin typeface="Helvetica"/>
              </a:rPr>
              <a:t>Realised utility  g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200400" y="965200"/>
            <a:ext cx="1676400" cy="0"/>
          </a:xfrm>
          <a:prstGeom prst="line">
            <a:avLst/>
          </a:prstGeom>
          <a:ln w="7620">
            <a:solidFill>
              <a:srgbClr val="CCCED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514600" y="789559"/>
            <a:ext cx="3048000" cy="1767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80" b="0" i="0">
                <a:solidFill>
                  <a:srgbClr val="AD2B2B"/>
                </a:solidFill>
                <a:latin typeface="Helvetica"/>
              </a:rPr>
              <a:t>[FIG-UTILITY-CALIBRATION]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14600" y="952246"/>
            <a:ext cx="3048000" cy="1584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6B727C"/>
                </a:solidFill>
                <a:latin typeface="Helvetica"/>
              </a:rPr>
              <a:t>bins + 95% CI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0600" y="1765045"/>
            <a:ext cx="3048000" cy="1584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6B727C"/>
                </a:solidFill>
                <a:latin typeface="Helvetica"/>
              </a:rPr>
              <a:t>Sign agreement only; no calibration guarantee is claimed.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