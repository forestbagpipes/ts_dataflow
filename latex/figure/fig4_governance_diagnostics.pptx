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029200" cy="198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14732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1C1E23"/>
                </a:solidFill>
                <a:latin typeface="Helvetica"/>
              </a:rPr>
              <a:t>(a) Harmful loss by method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4200" y="1549400"/>
            <a:ext cx="16764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84200" y="381000"/>
            <a:ext cx="0" cy="11684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18312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-805688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BF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8712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-43688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R2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55928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-68072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T1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24736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00736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TATO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93544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69544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Ours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52450" y="15494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-985519" y="14809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450" y="9652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-985519" y="8967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2450" y="3810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-985519" y="3125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-101600" y="1668780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1C1E23"/>
                </a:solidFill>
                <a:latin typeface="Helvetica"/>
              </a:rPr>
              <a:t>method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977900" y="22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40" b="0" i="0">
                <a:solidFill>
                  <a:srgbClr val="1C1E23"/>
                </a:solidFill>
                <a:latin typeface="Helvetica"/>
              </a:rPr>
              <a:t>Harmful loss  HL  (lower is better)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-101600" y="865759"/>
            <a:ext cx="3048000" cy="1767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80" b="0" i="0">
                <a:solidFill>
                  <a:srgbClr val="AD2B2B"/>
                </a:solidFill>
                <a:latin typeface="Helvetica"/>
              </a:rPr>
              <a:t>[FIG-HARMFUL-LOSS-BARS]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2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1C1E23"/>
                </a:solidFill>
                <a:latin typeface="Helvetica"/>
              </a:rPr>
              <a:t>(b) Predicted vs realised conservative utility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549400"/>
            <a:ext cx="16764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200400" y="381000"/>
            <a:ext cx="0" cy="11684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2004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6764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neg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0386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5146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8768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3528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pos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168650" y="15494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630680" y="14809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neg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168650" y="9652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630680" y="8967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168650" y="3810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630680" y="3125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pos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4600" y="1668780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1C1E23"/>
                </a:solidFill>
                <a:latin typeface="Helvetica"/>
              </a:rPr>
              <a:t>Predicted S[a] (binned)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38300" y="22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40" b="0" i="0">
                <a:solidFill>
                  <a:srgbClr val="1C1E23"/>
                </a:solidFill>
                <a:latin typeface="Helvetica"/>
              </a:rPr>
              <a:t>Realised utility  g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200400" y="965200"/>
            <a:ext cx="1676400" cy="0"/>
          </a:xfrm>
          <a:prstGeom prst="line">
            <a:avLst/>
          </a:prstGeom>
          <a:ln w="7620">
            <a:solidFill>
              <a:srgbClr val="CCCED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514600" y="789559"/>
            <a:ext cx="3048000" cy="1767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80" b="0" i="0">
                <a:solidFill>
                  <a:srgbClr val="AD2B2B"/>
                </a:solidFill>
                <a:latin typeface="Helvetica"/>
              </a:rPr>
              <a:t>[FIG-UTILITY-CALIBRATION]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952246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6B727C"/>
                </a:solidFill>
                <a:latin typeface="Helvetica"/>
              </a:rPr>
              <a:t>bins + 95% CI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600" y="1765045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6B727C"/>
                </a:solidFill>
                <a:latin typeface="Helvetica"/>
              </a:rPr>
              <a:t>Sign agreement only; no calibration guarantee is claimed.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