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17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4732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19704F"/>
                </a:solidFill>
                <a:latin typeface="Helvetica"/>
              </a:rPr>
              <a:t>Offline  (TRAIN only, the only place a future is read)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" y="1905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895350" y="2523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Complete historical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895350" y="3399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(X_i, y_i); its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895350" y="4275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is available TRAIN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12850" y="406400"/>
            <a:ext cx="88900" cy="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08100" y="1905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50" y="2523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Inject the registered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3399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missingness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275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-&gt; incomplete context (X_i, M_i)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70150" y="406400"/>
            <a:ext cx="88900" cy="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65400" y="1905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9250" y="2523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Execute every catalog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250" y="3399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with the frozen pipeline F;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250" y="4275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record realised utility g[i,a]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27450" y="406400"/>
            <a:ext cx="88900" cy="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22700" y="1905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E5F4ED"/>
          </a:solidFill>
          <a:ln w="8890">
            <a:solidFill>
              <a:srgbClr val="197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6550" y="2523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Historical replay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6550" y="3399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B = {(z[i,a], a, g[i,a])}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6550" y="4275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frozen once, read-only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800" y="711200"/>
            <a:ext cx="4927600" cy="0"/>
          </a:xfrm>
          <a:prstGeom prst="line">
            <a:avLst/>
          </a:prstGeom>
          <a:ln w="889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90600" y="6855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AD2B2B"/>
                </a:solidFill>
                <a:latin typeface="Helvetica"/>
              </a:rPr>
              <a:t>no future target crosses this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473200" y="81153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15499"/>
                </a:solidFill>
                <a:latin typeface="Helvetica"/>
              </a:rPr>
              <a:t>Online  (deployment, no future is available)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00" y="9906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-895350" y="10524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Incomplete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895350" y="11400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(X, M) at the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895350" y="12276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forecast origin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12850" y="1206500"/>
            <a:ext cx="88900" cy="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308100" y="9906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950" y="10524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Reference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950" y="11400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p0 = F(X[a0]);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950" y="12276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action-conditioned state z_a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70150" y="1206500"/>
            <a:ext cx="88900" cy="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565400" y="9906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E5EFFC"/>
          </a:solidFill>
          <a:ln w="889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19250" y="10524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Local utility 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9250" y="11400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same-action neighbourhoods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19250" y="12276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of the frozen bank 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27450" y="1206500"/>
            <a:ext cx="88900" cy="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822700" y="990600"/>
            <a:ext cx="1155700" cy="43180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6550" y="105242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Frozen TSFM, one 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76550" y="114005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F(X[a*]) is returned;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76550" y="1227683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1C1E23"/>
                </a:solidFill>
                <a:latin typeface="Helvetica"/>
              </a:rPr>
              <a:t>KEEP means input untouched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800" y="1524000"/>
            <a:ext cx="939800" cy="177800"/>
          </a:xfrm>
          <a:prstGeom prst="roundRect">
            <a:avLst>
              <a:gd name="adj" fmla="val 1351"/>
            </a:avLst>
          </a:prstGeom>
          <a:solidFill>
            <a:srgbClr val="E5EFFC"/>
          </a:solidFill>
          <a:ln w="762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-1003300" y="1543634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1C1E23"/>
                </a:solidFill>
                <a:latin typeface="Helvetica"/>
              </a:rPr>
              <a:t>KEEP a0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400" y="1524000"/>
            <a:ext cx="939800" cy="177800"/>
          </a:xfrm>
          <a:prstGeom prst="roundRect">
            <a:avLst>
              <a:gd name="adj" fmla="val 1351"/>
            </a:avLst>
          </a:prstGeom>
          <a:solidFill>
            <a:srgbClr val="E5EFFC"/>
          </a:solidFill>
          <a:ln w="762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-12700" y="1543634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1C1E23"/>
                </a:solidFill>
                <a:latin typeface="Helvetica"/>
              </a:rPr>
              <a:t>FFILL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32000" y="1524000"/>
            <a:ext cx="939800" cy="177800"/>
          </a:xfrm>
          <a:prstGeom prst="roundRect">
            <a:avLst>
              <a:gd name="adj" fmla="val 1351"/>
            </a:avLst>
          </a:prstGeom>
          <a:solidFill>
            <a:srgbClr val="E5EFFC"/>
          </a:solidFill>
          <a:ln w="762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7900" y="1543634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1C1E23"/>
                </a:solidFill>
                <a:latin typeface="Helvetica"/>
              </a:rPr>
              <a:t>Single TS-ICL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22600" y="1524000"/>
            <a:ext cx="939800" cy="177800"/>
          </a:xfrm>
          <a:prstGeom prst="roundRect">
            <a:avLst>
              <a:gd name="adj" fmla="val 1351"/>
            </a:avLst>
          </a:prstGeom>
          <a:solidFill>
            <a:srgbClr val="E5EFFC"/>
          </a:solidFill>
          <a:ln w="762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8500" y="1543634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1C1E23"/>
                </a:solidFill>
                <a:latin typeface="Helvetica"/>
              </a:rPr>
              <a:t>Multi TS-ICL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13200" y="1524000"/>
            <a:ext cx="939800" cy="177800"/>
          </a:xfrm>
          <a:prstGeom prst="roundRect">
            <a:avLst>
              <a:gd name="adj" fmla="val 1351"/>
            </a:avLst>
          </a:prstGeom>
          <a:solidFill>
            <a:srgbClr val="E5EFFC"/>
          </a:solidFill>
          <a:ln w="762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59100" y="1543634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1C1E23"/>
                </a:solidFill>
                <a:latin typeface="Helvetica"/>
              </a:rPr>
              <a:t>Context Ridge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-1473200" y="171767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B727C"/>
                </a:solidFill>
                <a:latin typeface="Helvetica"/>
              </a:rPr>
              <a:t>catalog A: fixed and closed; the reference action a0 is an ordinary arm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-1473200" y="183197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B727C"/>
                </a:solidFill>
                <a:latin typeface="Helvetica"/>
              </a:rPr>
              <a:t>online cost: 1-2 forecasting-backbone calls (reference, plus the selected action);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-1473200" y="194627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6B727C"/>
                </a:solidFill>
                <a:latin typeface="Helvetica"/>
              </a:rPr>
              <a:t>candidate materialisation is paid before the decision and is counted separately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800" y="2133600"/>
            <a:ext cx="4927600" cy="508000"/>
          </a:xfrm>
          <a:prstGeom prst="roundRect">
            <a:avLst>
              <a:gd name="adj" fmla="val 322"/>
            </a:avLst>
          </a:prstGeom>
          <a:solidFill>
            <a:srgbClr val="F0F0F3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-1397000" y="21587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 i="0">
                <a:solidFill>
                  <a:srgbClr val="215499"/>
                </a:solidFill>
                <a:latin typeface="Helvetica"/>
              </a:rPr>
              <a:t>Mask state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-660400" y="21638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90" b="0" i="0">
                <a:solidFill>
                  <a:srgbClr val="6B727C"/>
                </a:solidFill>
                <a:latin typeface="Helvetica"/>
              </a:rPr>
              <a:t>missing ratio, run structure, distance to origin, pattern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-1397000" y="22730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 i="0">
                <a:solidFill>
                  <a:srgbClr val="215499"/>
                </a:solidFill>
                <a:latin typeface="Helvetica"/>
              </a:rPr>
              <a:t>Visible-context 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-660400" y="22781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90" b="0" i="0">
                <a:solidFill>
                  <a:srgbClr val="6B727C"/>
                </a:solidFill>
                <a:latin typeface="Helvetica"/>
              </a:rPr>
              <a:t>level, local trend, autocorrelation, seasonality, volatility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-1397000" y="23873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 i="0">
                <a:solidFill>
                  <a:srgbClr val="215499"/>
                </a:solidFill>
                <a:latin typeface="Helvetica"/>
              </a:rPr>
              <a:t>Intervention state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-660400" y="23924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90" b="0" i="0">
                <a:solidFill>
                  <a:srgbClr val="6B727C"/>
                </a:solidFill>
                <a:latin typeface="Helvetica"/>
              </a:rPr>
              <a:t>per action a: action identity, changed fraction, change near origin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-1397000" y="250507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215499"/>
                </a:solidFill>
                <a:latin typeface="Helvetica"/>
              </a:rPr>
              <a:t>Reference-forecast state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-406400" y="25067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90" b="0" i="0">
                <a:solidFill>
                  <a:srgbClr val="6B727C"/>
                </a:solidFill>
                <a:latin typeface="Helvetica"/>
              </a:rPr>
              <a:t>computed from p0 = F(X[a0]) only, never from a non-selected candidate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