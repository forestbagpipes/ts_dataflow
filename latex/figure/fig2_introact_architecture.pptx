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94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8000"/>
            <a:ext cx="3048000" cy="1889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20" b="1" i="0">
                <a:solidFill>
                  <a:srgbClr val="1C1E23"/>
                </a:solidFill>
                <a:latin typeface="Helvetica"/>
              </a:rPr>
              <a:t>Deployment request (frozen TSFM, no future label)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800" y="177800"/>
            <a:ext cx="1219200" cy="304800"/>
          </a:xfrm>
          <a:prstGeom prst="roundRect">
            <a:avLst>
              <a:gd name="adj" fmla="val 1302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863600" y="203377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Incomplete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863600" y="301167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X  with mask 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70000" y="330200"/>
            <a:ext cx="1524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435100" y="177800"/>
            <a:ext cx="1397000" cy="304800"/>
          </a:xfrm>
          <a:prstGeom prst="roundRect">
            <a:avLst>
              <a:gd name="adj" fmla="val 1136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03377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Materialise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1167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candidate versions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2100" y="330200"/>
            <a:ext cx="1524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97200" y="177800"/>
            <a:ext cx="1981200" cy="304800"/>
          </a:xfrm>
          <a:prstGeom prst="roundRect">
            <a:avLst>
              <a:gd name="adj" fmla="val 801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3800" y="203377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Reference forecast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3800" y="301167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p0 = F(X[a0])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00" y="584200"/>
            <a:ext cx="939800" cy="1905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-1003300" y="6076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KEEP a0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1400" y="584200"/>
            <a:ext cx="939800" cy="1905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-12700" y="6076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FFILL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2000" y="584200"/>
            <a:ext cx="939800" cy="1905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7900" y="6076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Single TS-ICL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2600" y="584200"/>
            <a:ext cx="939800" cy="1905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8500" y="6076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Multi TS-ICL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3200" y="584200"/>
            <a:ext cx="939800" cy="1905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59100" y="6076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Context 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473200" y="78079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0" i="0">
                <a:solidFill>
                  <a:srgbClr val="6B727C"/>
                </a:solidFill>
                <a:latin typeface="Helvetica"/>
              </a:rPr>
              <a:t>action catalog  A = {KEEP, FFILL, Single TS-ICL, Multi TS-ICL, Context Ridge}: fixed, never enlarged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" y="965200"/>
            <a:ext cx="2565400" cy="939800"/>
          </a:xfrm>
          <a:prstGeom prst="roundRect">
            <a:avLst>
              <a:gd name="adj" fmla="val 618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-1397000" y="9829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Observable task state  z  (no deep encoder)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1397000" y="1105852"/>
            <a:ext cx="3048000" cy="167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50" b="1" i="0">
                <a:solidFill>
                  <a:srgbClr val="215499"/>
                </a:solidFill>
                <a:latin typeface="Helvetica"/>
              </a:rPr>
              <a:t>A  Mask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558800" y="111442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ratio, longest run, #runs, tail flag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1397000" y="1277302"/>
            <a:ext cx="3048000" cy="167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50" b="1" i="0">
                <a:solidFill>
                  <a:srgbClr val="215499"/>
                </a:solidFill>
                <a:latin typeface="Helvetica"/>
              </a:rPr>
              <a:t>B  Visible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558800" y="12858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robust scale, trend, ACF-1, seasonal ACF, vol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1397000" y="1448752"/>
            <a:ext cx="3048000" cy="167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50" b="1" i="0">
                <a:solidFill>
                  <a:srgbClr val="215499"/>
                </a:solidFill>
                <a:latin typeface="Helvetica"/>
              </a:rPr>
              <a:t>C  Intervention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558800" y="145732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change mean / max / fraction vs reference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1397000" y="1620202"/>
            <a:ext cx="3048000" cy="167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50" b="1" i="0">
                <a:solidFill>
                  <a:srgbClr val="215499"/>
                </a:solidFill>
                <a:latin typeface="Helvetica"/>
              </a:rPr>
              <a:t>D  Reference forecast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-558800" y="16287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mean, range, slope, first-step jump, roughness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0" y="965200"/>
            <a:ext cx="2235200" cy="939800"/>
          </a:xfrm>
          <a:prstGeom prst="roundRect">
            <a:avLst>
              <a:gd name="adj" fmla="val 710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20800" y="9829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9704F"/>
                </a:solidFill>
                <a:latin typeface="Helvetica"/>
              </a:rPr>
              <a:t>Historical counterfactual replay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0800" y="1113409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80" b="0" i="0">
                <a:solidFill>
                  <a:srgbClr val="1C1E23"/>
                </a:solidFill>
                <a:latin typeface="Helvetica"/>
              </a:rPr>
              <a:t>B = {(z[i], a, g[i,a])}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0800" y="1252410"/>
            <a:ext cx="3048000" cy="1554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9" b="0" i="0">
                <a:solidFill>
                  <a:srgbClr val="6B727C"/>
                </a:solidFill>
                <a:latin typeface="Helvetica"/>
              </a:rPr>
              <a:t>Built once from TRAIN windows by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0800" y="1354010"/>
            <a:ext cx="3048000" cy="1554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9" b="0" i="0">
                <a:solidFill>
                  <a:srgbClr val="6B727C"/>
                </a:solidFill>
                <a:latin typeface="Helvetica"/>
              </a:rPr>
              <a:t>replaying the deployment missingness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0800" y="1455610"/>
            <a:ext cx="3048000" cy="1554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9" b="0" i="0">
                <a:solidFill>
                  <a:srgbClr val="6B727C"/>
                </a:solidFill>
                <a:latin typeface="Helvetica"/>
              </a:rPr>
              <a:t>and the real frozen forecaster.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0800" y="1588960"/>
            <a:ext cx="3048000" cy="1554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9" b="0" i="0">
                <a:solidFill>
                  <a:srgbClr val="19704F"/>
                </a:solidFill>
                <a:latin typeface="Helvetica"/>
              </a:rPr>
              <a:t>g[i,a] is a realised forecasting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800" y="1690560"/>
            <a:ext cx="3048000" cy="1554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9" b="0" i="0">
                <a:solidFill>
                  <a:srgbClr val="19704F"/>
                </a:solidFill>
                <a:latin typeface="Helvetica"/>
              </a:rPr>
              <a:t>utility, not a reconstruction score.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333500" y="19177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860800" y="19177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0800" y="2032000"/>
            <a:ext cx="4927600" cy="279400"/>
          </a:xfrm>
          <a:prstGeom prst="roundRect">
            <a:avLst>
              <a:gd name="adj" fmla="val 322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0600" y="205315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Task-state matching:  standardised Euclidean distance over observable state, K nearest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0600" y="214586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same-action replays, weight w[i] = exp(-d[i] / tau)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514600" y="23241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0800" y="2425700"/>
            <a:ext cx="4927600" cy="304800"/>
          </a:xfrm>
          <a:prstGeom prst="roundRect">
            <a:avLst>
              <a:gd name="adj" fmla="val 322"/>
            </a:avLst>
          </a:prstGeom>
          <a:solidFill>
            <a:srgbClr val="FDF2DB"/>
          </a:solidFill>
          <a:ln w="889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0600" y="245955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Conservative intervention:  S[a] = mu[a] - beta * sigma[a] / sqrt(n_eff[a])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0600" y="255226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ACT a* = argmax S[a] when max S[a] &gt; 0, otherwise ABSTAIN and return a0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514600" y="2743200"/>
            <a:ext cx="0" cy="63500"/>
          </a:xfrm>
          <a:prstGeom prst="bentConnector3">
            <a:avLst/>
          </a:prstGeom>
          <a:ln w="1270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90600" y="28191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9704F"/>
                </a:solidFill>
                <a:latin typeface="Helvetica"/>
              </a:rPr>
              <a:t>one frozen TSFM forecast  F(X[a*]):  1-2 model calls, no ensemble, no output correction, no fine-tuning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