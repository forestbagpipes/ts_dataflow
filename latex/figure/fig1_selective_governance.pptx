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514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60400" y="4571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(a) Oracle-best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660400" y="112522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share on the evaluation episodes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28600" y="1524000"/>
            <a:ext cx="13462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28600" y="381000"/>
            <a:ext cx="0" cy="11430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96850" y="1524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-1341120" y="1455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850" y="9525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-1341120" y="8840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0.25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8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-134112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0.50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322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116078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KEEP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3217" y="964531"/>
            <a:ext cx="140004" cy="559468"/>
          </a:xfrm>
          <a:prstGeom prst="rect">
            <a:avLst/>
          </a:prstGeom>
          <a:solidFill>
            <a:srgbClr val="AD2B2B"/>
          </a:solidFill>
          <a:ln w="635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3246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89154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FFILL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457" y="970547"/>
            <a:ext cx="140004" cy="553452"/>
          </a:xfrm>
          <a:prstGeom prst="rect">
            <a:avLst/>
          </a:prstGeom>
          <a:solidFill>
            <a:srgbClr val="215499"/>
          </a:solidFill>
          <a:ln w="635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9017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-62230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S-ICL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1697" y="1120942"/>
            <a:ext cx="140004" cy="403057"/>
          </a:xfrm>
          <a:prstGeom prst="rect">
            <a:avLst/>
          </a:prstGeom>
          <a:solidFill>
            <a:srgbClr val="215499"/>
          </a:solidFill>
          <a:ln w="635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17094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-353059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M-ICL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00937" y="1187115"/>
            <a:ext cx="140004" cy="336884"/>
          </a:xfrm>
          <a:prstGeom prst="rect">
            <a:avLst/>
          </a:prstGeom>
          <a:solidFill>
            <a:srgbClr val="215499"/>
          </a:solidFill>
          <a:ln w="635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44018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-8382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RIDGE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0177" y="1090863"/>
            <a:ext cx="140004" cy="433136"/>
          </a:xfrm>
          <a:prstGeom prst="rect">
            <a:avLst/>
          </a:prstGeom>
          <a:solidFill>
            <a:srgbClr val="AD6B0A"/>
          </a:solidFill>
          <a:ln w="635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-660400" y="16939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share of episodes on which each 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-660400" y="17828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is oracle-best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660400" y="19047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BEST FIXED gap = 0.124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660400" y="20114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one fixed policy leaves improvement unused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4571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(b) Historical full-action replay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" y="112522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on TRAIN windows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52600" y="330200"/>
            <a:ext cx="1625600" cy="254000"/>
          </a:xfrm>
          <a:prstGeom prst="roundRect">
            <a:avLst>
              <a:gd name="adj" fmla="val 976"/>
            </a:avLst>
          </a:prstGeom>
          <a:solidFill>
            <a:srgbClr val="F0F0F3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1400" y="334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Complete TRAIN window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1400" y="429767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(its future is available history)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565400" y="5969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752600" y="711200"/>
            <a:ext cx="1625600" cy="254000"/>
          </a:xfrm>
          <a:prstGeom prst="roundRect">
            <a:avLst>
              <a:gd name="adj" fmla="val 976"/>
            </a:avLst>
          </a:prstGeom>
          <a:solidFill>
            <a:srgbClr val="FCEAEA"/>
          </a:solidFill>
          <a:ln w="889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1400" y="715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Inject the registered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1400" y="8107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missingness protocol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565400" y="9779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752600" y="1092200"/>
            <a:ext cx="1625600" cy="304800"/>
          </a:xfrm>
          <a:prstGeom prst="roundRect">
            <a:avLst>
              <a:gd name="adj" fmla="val 976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1400" y="107429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Execute every catalog action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1400" y="116954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with the frozen forecaster 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1400" y="126479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and observe the realised future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565400" y="14097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752600" y="1524000"/>
            <a:ext cx="1625600" cy="304800"/>
          </a:xfrm>
          <a:prstGeom prst="roundRect">
            <a:avLst>
              <a:gd name="adj" fmla="val 976"/>
            </a:avLst>
          </a:prstGeom>
          <a:solidFill>
            <a:srgbClr val="E5F4ED"/>
          </a:solidFill>
          <a:ln w="889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400" y="156199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Record realised utility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1400" y="165216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g[i,a] = loss(KEEP) - loss(a)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1400" y="18378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9704F"/>
                </a:solidFill>
                <a:latin typeface="Helvetica"/>
              </a:rPr>
              <a:t>replay bank  B = {(z[i,a], a, g[i,a])}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1400" y="19555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the bank holds realised forecasting utility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1400" y="20571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and not a reconstruction score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92400" y="4571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(c) Online act-or-keep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92400" y="112522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one request at a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54400" y="330200"/>
            <a:ext cx="1524000" cy="228600"/>
          </a:xfrm>
          <a:prstGeom prst="roundRect">
            <a:avLst>
              <a:gd name="adj" fmla="val 1041"/>
            </a:avLst>
          </a:prstGeom>
          <a:solidFill>
            <a:srgbClr val="F0F0F3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92400" y="366572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1C1E23"/>
                </a:solidFill>
                <a:latin typeface="Helvetica"/>
              </a:rPr>
              <a:t>New request: X, M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216400" y="5715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3454400" y="673100"/>
            <a:ext cx="1524000" cy="279400"/>
          </a:xfrm>
          <a:prstGeom prst="roundRect">
            <a:avLst>
              <a:gd name="adj" fmla="val 1041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92400" y="6901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Reference call p0 = F(X[a0])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92400" y="7853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state z_a per action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16400" y="9652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3454400" y="1066800"/>
            <a:ext cx="1524000" cy="279400"/>
          </a:xfrm>
          <a:prstGeom prst="roundRect">
            <a:avLst>
              <a:gd name="adj" fmla="val 1041"/>
            </a:avLst>
          </a:prstGeom>
          <a:solidFill>
            <a:srgbClr val="FDF2DB"/>
          </a:solidFill>
          <a:ln w="889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692400" y="109209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Score S[a] from the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92400" y="118226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same-action neighbourhood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216400" y="13589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Diamond 64"/>
          <p:cNvSpPr/>
          <p:nvPr/>
        </p:nvSpPr>
        <p:spPr>
          <a:xfrm>
            <a:off x="3657600" y="1460500"/>
            <a:ext cx="1117600" cy="330200"/>
          </a:xfrm>
          <a:prstGeom prst="diamond">
            <a:avLst/>
          </a:prstGeom>
          <a:solidFill>
            <a:srgbClr val="FDF2DB"/>
          </a:solidFill>
          <a:ln w="1016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92400" y="155587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max S[a] &gt; 0 ?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683000" y="1790700"/>
            <a:ext cx="0" cy="139700"/>
          </a:xfrm>
          <a:prstGeom prst="bentConnector3">
            <a:avLst/>
          </a:prstGeom>
          <a:ln w="12700">
            <a:solidFill>
              <a:srgbClr val="AD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08200" y="18031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20" b="0" i="0">
                <a:solidFill>
                  <a:srgbClr val="AD2B2B"/>
                </a:solidFill>
                <a:latin typeface="Helvetica"/>
              </a:rPr>
              <a:t>no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749800" y="1790700"/>
            <a:ext cx="0" cy="139700"/>
          </a:xfrm>
          <a:prstGeom prst="bentConnector3">
            <a:avLst/>
          </a:prstGeom>
          <a:ln w="1270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276600" y="18031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20" b="0" i="0">
                <a:solidFill>
                  <a:srgbClr val="19704F"/>
                </a:solidFill>
                <a:latin typeface="Helvetica"/>
              </a:rPr>
              <a:t>yes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429000" y="1943100"/>
            <a:ext cx="711200" cy="330200"/>
          </a:xfrm>
          <a:prstGeom prst="roundRect">
            <a:avLst>
              <a:gd name="adj" fmla="val 2232"/>
            </a:avLst>
          </a:prstGeom>
          <a:solidFill>
            <a:srgbClr val="FCEAEA"/>
          </a:solidFill>
          <a:ln w="889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60600" y="1985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1" i="0">
                <a:solidFill>
                  <a:srgbClr val="1C1E23"/>
                </a:solidFill>
                <a:latin typeface="Helvetica"/>
              </a:rPr>
              <a:t>KEEP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60600" y="20807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input untouched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67200" y="1943100"/>
            <a:ext cx="736600" cy="330200"/>
          </a:xfrm>
          <a:prstGeom prst="roundRect">
            <a:avLst>
              <a:gd name="adj" fmla="val 2155"/>
            </a:avLst>
          </a:prstGeom>
          <a:solidFill>
            <a:srgbClr val="E5F4ED"/>
          </a:solidFill>
          <a:ln w="889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11500" y="1985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1" i="0">
                <a:solidFill>
                  <a:srgbClr val="1C1E23"/>
                </a:solidFill>
                <a:latin typeface="Helvetica"/>
              </a:rPr>
              <a:t>ACT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11500" y="20807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execute F(X[a*])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90600" y="23111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the reference action is always available, so the decision rule always returns a forecast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689100" y="304800"/>
            <a:ext cx="0" cy="2006600"/>
          </a:xfrm>
          <a:prstGeom prst="line">
            <a:avLst/>
          </a:prstGeom>
          <a:ln w="635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390900" y="304800"/>
            <a:ext cx="0" cy="2006600"/>
          </a:xfrm>
          <a:prstGeom prst="line">
            <a:avLst/>
          </a:prstGeom>
          <a:ln w="635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