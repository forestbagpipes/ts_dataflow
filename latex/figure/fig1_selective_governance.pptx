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029200" cy="2514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660400" y="4571"/>
            <a:ext cx="3048000" cy="195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40" b="1" i="0">
                <a:solidFill>
                  <a:srgbClr val="1C1E23"/>
                </a:solidFill>
                <a:latin typeface="Helvetica"/>
              </a:rPr>
              <a:t>(a) Oracle-best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660400" y="112522"/>
            <a:ext cx="3048000" cy="195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40" b="1" i="0">
                <a:solidFill>
                  <a:srgbClr val="1C1E23"/>
                </a:solidFill>
                <a:latin typeface="Helvetica"/>
              </a:rPr>
              <a:t>share on the evaluation episodes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28600" y="1524000"/>
            <a:ext cx="13462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28600" y="381000"/>
            <a:ext cx="0" cy="11430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96850" y="15240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-1341120" y="14555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850" y="9525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-1341120" y="8840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0.25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850" y="3810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-1341120" y="3125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0.50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322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-1160780" y="15560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80" b="0" i="0">
                <a:solidFill>
                  <a:srgbClr val="6B727C"/>
                </a:solidFill>
                <a:latin typeface="Helvetica"/>
              </a:rPr>
              <a:t>KEEP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246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-891540" y="15560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80" b="0" i="0">
                <a:solidFill>
                  <a:srgbClr val="6B727C"/>
                </a:solidFill>
                <a:latin typeface="Helvetica"/>
              </a:rPr>
              <a:t>FFILL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170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-622300" y="15560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80" b="0" i="0">
                <a:solidFill>
                  <a:srgbClr val="6B727C"/>
                </a:solidFill>
                <a:latin typeface="Helvetica"/>
              </a:rPr>
              <a:t>S-ICL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7094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-353059" y="15560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80" b="0" i="0">
                <a:solidFill>
                  <a:srgbClr val="6B727C"/>
                </a:solidFill>
                <a:latin typeface="Helvetica"/>
              </a:rPr>
              <a:t>M-ICL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4018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-83820" y="15560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80" b="0" i="0">
                <a:solidFill>
                  <a:srgbClr val="6B727C"/>
                </a:solidFill>
                <a:latin typeface="Helvetica"/>
              </a:rPr>
              <a:t>RIDGE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4800" y="660400"/>
            <a:ext cx="1193800" cy="508000"/>
          </a:xfrm>
          <a:prstGeom prst="rect">
            <a:avLst/>
          </a:prstGeom>
          <a:noFill/>
          <a:ln w="7620">
            <a:solidFill>
              <a:srgbClr val="9EA5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-622300" y="7778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6B727C"/>
                </a:solidFill>
                <a:latin typeface="Helvetica"/>
              </a:rPr>
              <a:t>measured from the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-622300" y="8667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6B727C"/>
                </a:solidFill>
                <a:latin typeface="Helvetica"/>
              </a:rPr>
              <a:t>evaluation episodes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-622300" y="9556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6B727C"/>
                </a:solidFill>
                <a:latin typeface="Helvetica"/>
              </a:rPr>
              <a:t>(Section 4.2)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-660400" y="16939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share of episodes on which each action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-660400" y="17828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is oracle-best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-660400" y="1904745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1C1E23"/>
                </a:solidFill>
                <a:latin typeface="Helvetica"/>
              </a:rPr>
              <a:t>BEST FIXED gap = [MAIN_HET_GAP]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-660400" y="20114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one fixed policy leaves improvement unused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400" y="4571"/>
            <a:ext cx="3048000" cy="195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40" b="1" i="0">
                <a:solidFill>
                  <a:srgbClr val="1C1E23"/>
                </a:solidFill>
                <a:latin typeface="Helvetica"/>
              </a:rPr>
              <a:t>(b) Historical full-action replay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1400" y="112522"/>
            <a:ext cx="3048000" cy="195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40" b="1" i="0">
                <a:solidFill>
                  <a:srgbClr val="1C1E23"/>
                </a:solidFill>
                <a:latin typeface="Helvetica"/>
              </a:rPr>
              <a:t>on TRAIN windows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752600" y="330200"/>
            <a:ext cx="1625600" cy="254000"/>
          </a:xfrm>
          <a:prstGeom prst="roundRect">
            <a:avLst>
              <a:gd name="adj" fmla="val 976"/>
            </a:avLst>
          </a:prstGeom>
          <a:solidFill>
            <a:srgbClr val="F0F0F3"/>
          </a:solidFill>
          <a:ln w="889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1400" y="3345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Complete TRAIN window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" y="429767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(its future is available history)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565400" y="596900"/>
            <a:ext cx="0" cy="1016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752600" y="711200"/>
            <a:ext cx="1625600" cy="254000"/>
          </a:xfrm>
          <a:prstGeom prst="roundRect">
            <a:avLst>
              <a:gd name="adj" fmla="val 976"/>
            </a:avLst>
          </a:prstGeom>
          <a:solidFill>
            <a:srgbClr val="FCEAEA"/>
          </a:solidFill>
          <a:ln w="8890">
            <a:solidFill>
              <a:srgbClr val="AD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1400" y="7155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Inject the registered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1400" y="81076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missingness protocol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565400" y="977900"/>
            <a:ext cx="0" cy="1016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1752600" y="1092200"/>
            <a:ext cx="1625600" cy="304800"/>
          </a:xfrm>
          <a:prstGeom prst="roundRect">
            <a:avLst>
              <a:gd name="adj" fmla="val 976"/>
            </a:avLst>
          </a:prstGeom>
          <a:solidFill>
            <a:srgbClr val="E5EFFC"/>
          </a:solidFill>
          <a:ln w="889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1400" y="1074293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Execute every catalog action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1400" y="1169543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with the frozen forecaster 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1400" y="1264793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and observe the realised future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565400" y="1409700"/>
            <a:ext cx="0" cy="1016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1752600" y="1524000"/>
            <a:ext cx="1625600" cy="304800"/>
          </a:xfrm>
          <a:prstGeom prst="roundRect">
            <a:avLst>
              <a:gd name="adj" fmla="val 976"/>
            </a:avLst>
          </a:prstGeom>
          <a:solidFill>
            <a:srgbClr val="E5F4ED"/>
          </a:solidFill>
          <a:ln w="8890">
            <a:solidFill>
              <a:srgbClr val="197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1400" y="1561998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1C1E23"/>
                </a:solidFill>
                <a:latin typeface="Helvetica"/>
              </a:rPr>
              <a:t>Record realised utility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1400" y="1652168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1C1E23"/>
                </a:solidFill>
                <a:latin typeface="Helvetica"/>
              </a:rPr>
              <a:t>g[i,a] = loss(KEEP) - loss(a)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1400" y="18378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19704F"/>
                </a:solidFill>
                <a:latin typeface="Helvetica"/>
              </a:rPr>
              <a:t>replay bank  B = {(z[i,a], a, g[i,a])}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1400" y="1955545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6B727C"/>
                </a:solidFill>
                <a:latin typeface="Helvetica"/>
              </a:rPr>
              <a:t>the bank holds realised forecasting utility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1400" y="2057145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6B727C"/>
                </a:solidFill>
                <a:latin typeface="Helvetica"/>
              </a:rPr>
              <a:t>and not a reconstruction score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92400" y="4571"/>
            <a:ext cx="3048000" cy="195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40" b="1" i="0">
                <a:solidFill>
                  <a:srgbClr val="1C1E23"/>
                </a:solidFill>
                <a:latin typeface="Helvetica"/>
              </a:rPr>
              <a:t>(c) Online act-or-keep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92400" y="112522"/>
            <a:ext cx="3048000" cy="195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40" b="1" i="0">
                <a:solidFill>
                  <a:srgbClr val="1C1E23"/>
                </a:solidFill>
                <a:latin typeface="Helvetica"/>
              </a:rPr>
              <a:t>one request at a time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54400" y="330200"/>
            <a:ext cx="1524000" cy="228600"/>
          </a:xfrm>
          <a:prstGeom prst="roundRect">
            <a:avLst>
              <a:gd name="adj" fmla="val 1041"/>
            </a:avLst>
          </a:prstGeom>
          <a:solidFill>
            <a:srgbClr val="F0F0F3"/>
          </a:solidFill>
          <a:ln w="889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692400" y="366572"/>
            <a:ext cx="3048000" cy="1767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80" b="0" i="0">
                <a:solidFill>
                  <a:srgbClr val="1C1E23"/>
                </a:solidFill>
                <a:latin typeface="Helvetica"/>
              </a:rPr>
              <a:t>New request: X, M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216400" y="571500"/>
            <a:ext cx="0" cy="889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3454400" y="673100"/>
            <a:ext cx="1524000" cy="279400"/>
          </a:xfrm>
          <a:prstGeom prst="roundRect">
            <a:avLst>
              <a:gd name="adj" fmla="val 1041"/>
            </a:avLst>
          </a:prstGeom>
          <a:solidFill>
            <a:srgbClr val="E5EFFC"/>
          </a:solidFill>
          <a:ln w="889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692400" y="6901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Reference call p0 = F(X[a0])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92400" y="78536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state z_a per action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216400" y="965200"/>
            <a:ext cx="0" cy="889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3454400" y="1066800"/>
            <a:ext cx="1524000" cy="279400"/>
          </a:xfrm>
          <a:prstGeom prst="roundRect">
            <a:avLst>
              <a:gd name="adj" fmla="val 1041"/>
            </a:avLst>
          </a:prstGeom>
          <a:solidFill>
            <a:srgbClr val="FDF2DB"/>
          </a:solidFill>
          <a:ln w="8890">
            <a:solidFill>
              <a:srgbClr val="AD6B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692400" y="1092098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1C1E23"/>
                </a:solidFill>
                <a:latin typeface="Helvetica"/>
              </a:rPr>
              <a:t>Score S[a] from the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692400" y="1182268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1C1E23"/>
                </a:solidFill>
                <a:latin typeface="Helvetica"/>
              </a:rPr>
              <a:t>same-action neighbourhood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4216400" y="1358900"/>
            <a:ext cx="0" cy="889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Diamond 63"/>
          <p:cNvSpPr/>
          <p:nvPr/>
        </p:nvSpPr>
        <p:spPr>
          <a:xfrm>
            <a:off x="3657600" y="1460500"/>
            <a:ext cx="1117600" cy="330200"/>
          </a:xfrm>
          <a:prstGeom prst="diamond">
            <a:avLst/>
          </a:prstGeom>
          <a:solidFill>
            <a:srgbClr val="FDF2DB"/>
          </a:solidFill>
          <a:ln w="10160">
            <a:solidFill>
              <a:srgbClr val="AD6B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692400" y="155587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1C1E23"/>
                </a:solidFill>
                <a:latin typeface="Helvetica"/>
              </a:rPr>
              <a:t>max S[a] &gt; 0 ?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683000" y="1790700"/>
            <a:ext cx="0" cy="139700"/>
          </a:xfrm>
          <a:prstGeom prst="bentConnector3">
            <a:avLst/>
          </a:prstGeom>
          <a:ln w="12700">
            <a:solidFill>
              <a:srgbClr val="AD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2108200" y="1803145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20" b="0" i="0">
                <a:solidFill>
                  <a:srgbClr val="AD2B2B"/>
                </a:solidFill>
                <a:latin typeface="Helvetica"/>
              </a:rPr>
              <a:t>no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4749800" y="1790700"/>
            <a:ext cx="0" cy="139700"/>
          </a:xfrm>
          <a:prstGeom prst="bentConnector3">
            <a:avLst/>
          </a:prstGeom>
          <a:ln w="12700">
            <a:solidFill>
              <a:srgbClr val="197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3276600" y="1803145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20" b="0" i="0">
                <a:solidFill>
                  <a:srgbClr val="19704F"/>
                </a:solidFill>
                <a:latin typeface="Helvetica"/>
              </a:rPr>
              <a:t>yes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429000" y="1943100"/>
            <a:ext cx="711200" cy="330200"/>
          </a:xfrm>
          <a:prstGeom prst="roundRect">
            <a:avLst>
              <a:gd name="adj" fmla="val 2232"/>
            </a:avLst>
          </a:prstGeom>
          <a:solidFill>
            <a:srgbClr val="FCEAEA"/>
          </a:solidFill>
          <a:ln w="8890">
            <a:solidFill>
              <a:srgbClr val="AD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260600" y="19855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1" i="0">
                <a:solidFill>
                  <a:srgbClr val="1C1E23"/>
                </a:solidFill>
                <a:latin typeface="Helvetica"/>
              </a:rPr>
              <a:t>KEEP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60600" y="208076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input untouched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267200" y="1943100"/>
            <a:ext cx="736600" cy="330200"/>
          </a:xfrm>
          <a:prstGeom prst="roundRect">
            <a:avLst>
              <a:gd name="adj" fmla="val 2155"/>
            </a:avLst>
          </a:prstGeom>
          <a:solidFill>
            <a:srgbClr val="E5F4ED"/>
          </a:solidFill>
          <a:ln w="8890">
            <a:solidFill>
              <a:srgbClr val="197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11500" y="19855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1" i="0">
                <a:solidFill>
                  <a:srgbClr val="1C1E23"/>
                </a:solidFill>
                <a:latin typeface="Helvetica"/>
              </a:rPr>
              <a:t>ACT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111500" y="208076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execute F(X[a*])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90600" y="2311146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6B727C"/>
                </a:solidFill>
                <a:latin typeface="Helvetica"/>
              </a:rPr>
              <a:t>the reference action is always available, so the decision rule always returns a forecast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689100" y="304800"/>
            <a:ext cx="0" cy="2006600"/>
          </a:xfrm>
          <a:prstGeom prst="line">
            <a:avLst/>
          </a:prstGeom>
          <a:ln w="6350">
            <a:solidFill>
              <a:srgbClr val="CCCED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390900" y="304800"/>
            <a:ext cx="0" cy="2006600"/>
          </a:xfrm>
          <a:prstGeom prst="line">
            <a:avLst/>
          </a:prstGeom>
          <a:ln w="6350">
            <a:solidFill>
              <a:srgbClr val="CCCED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