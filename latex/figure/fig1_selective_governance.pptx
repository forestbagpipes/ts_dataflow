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48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660400" y="4571"/>
            <a:ext cx="3048000" cy="195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 i="0">
                <a:solidFill>
                  <a:srgbClr val="1C1E23"/>
                </a:solidFill>
                <a:latin typeface="Helvetica"/>
              </a:rPr>
              <a:t>(a) Same incomplete context,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60400" y="112522"/>
            <a:ext cx="3048000" cy="195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 i="0">
                <a:solidFill>
                  <a:srgbClr val="1C1E23"/>
                </a:solidFill>
                <a:latin typeface="Helvetica"/>
              </a:rPr>
              <a:t>different best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" y="330200"/>
            <a:ext cx="1625600" cy="3810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14300" y="471092"/>
            <a:ext cx="1498600" cy="177841"/>
          </a:xfrm>
          <a:custGeom>
            <a:avLst/>
            <a:gdLst/>
            <a:ahLst/>
            <a:cxnLst/>
            <a:rect l="l" t="t" r="r" b="b"/>
            <a:pathLst>
              <a:path w="1498600" h="177841">
                <a:moveTo>
                  <a:pt x="0" y="87708"/>
                </a:moveTo>
                <a:lnTo>
                  <a:pt x="14986" y="64352"/>
                </a:lnTo>
                <a:lnTo>
                  <a:pt x="29972" y="43245"/>
                </a:lnTo>
                <a:lnTo>
                  <a:pt x="44958" y="26259"/>
                </a:lnTo>
                <a:lnTo>
                  <a:pt x="59944" y="14586"/>
                </a:lnTo>
                <a:lnTo>
                  <a:pt x="74930" y="8552"/>
                </a:lnTo>
                <a:lnTo>
                  <a:pt x="89915" y="7597"/>
                </a:lnTo>
                <a:lnTo>
                  <a:pt x="104902" y="10413"/>
                </a:lnTo>
                <a:lnTo>
                  <a:pt x="119887" y="15215"/>
                </a:lnTo>
                <a:lnTo>
                  <a:pt x="134873" y="20104"/>
                </a:lnTo>
                <a:lnTo>
                  <a:pt x="149860" y="23436"/>
                </a:lnTo>
                <a:lnTo>
                  <a:pt x="164846" y="24145"/>
                </a:lnTo>
                <a:lnTo>
                  <a:pt x="179832" y="21951"/>
                </a:lnTo>
                <a:lnTo>
                  <a:pt x="194818" y="17412"/>
                </a:lnTo>
                <a:lnTo>
                  <a:pt x="209804" y="11823"/>
                </a:lnTo>
                <a:lnTo>
                  <a:pt x="224790" y="6960"/>
                </a:lnTo>
                <a:lnTo>
                  <a:pt x="239776" y="4736"/>
                </a:lnTo>
                <a:lnTo>
                  <a:pt x="254762" y="6827"/>
                </a:lnTo>
                <a:lnTo>
                  <a:pt x="269748" y="14332"/>
                </a:lnTo>
                <a:lnTo>
                  <a:pt x="284734" y="27539"/>
                </a:lnTo>
                <a:lnTo>
                  <a:pt x="299720" y="45838"/>
                </a:lnTo>
                <a:lnTo>
                  <a:pt x="314706" y="67793"/>
                </a:lnTo>
                <a:lnTo>
                  <a:pt x="329692" y="91375"/>
                </a:lnTo>
                <a:lnTo>
                  <a:pt x="344678" y="114294"/>
                </a:lnTo>
                <a:lnTo>
                  <a:pt x="359664" y="134381"/>
                </a:lnTo>
                <a:lnTo>
                  <a:pt x="374650" y="149953"/>
                </a:lnTo>
                <a:lnTo>
                  <a:pt x="389636" y="160081"/>
                </a:lnTo>
                <a:lnTo>
                  <a:pt x="404622" y="164725"/>
                </a:lnTo>
                <a:lnTo>
                  <a:pt x="419608" y="164702"/>
                </a:lnTo>
                <a:lnTo>
                  <a:pt x="434594" y="161500"/>
                </a:lnTo>
                <a:lnTo>
                  <a:pt x="779272" y="21439"/>
                </a:lnTo>
                <a:lnTo>
                  <a:pt x="794258" y="24395"/>
                </a:lnTo>
                <a:lnTo>
                  <a:pt x="809244" y="24985"/>
                </a:lnTo>
                <a:lnTo>
                  <a:pt x="824230" y="22658"/>
                </a:lnTo>
                <a:lnTo>
                  <a:pt x="839216" y="17705"/>
                </a:lnTo>
                <a:lnTo>
                  <a:pt x="854201" y="11204"/>
                </a:lnTo>
                <a:lnTo>
                  <a:pt x="869188" y="4817"/>
                </a:lnTo>
                <a:lnTo>
                  <a:pt x="884173" y="475"/>
                </a:lnTo>
                <a:lnTo>
                  <a:pt x="899160" y="0"/>
                </a:lnTo>
                <a:lnTo>
                  <a:pt x="914146" y="4745"/>
                </a:lnTo>
                <a:lnTo>
                  <a:pt x="929132" y="15320"/>
                </a:lnTo>
                <a:lnTo>
                  <a:pt x="944118" y="31444"/>
                </a:lnTo>
                <a:lnTo>
                  <a:pt x="959104" y="51967"/>
                </a:lnTo>
                <a:lnTo>
                  <a:pt x="974090" y="75043"/>
                </a:lnTo>
                <a:lnTo>
                  <a:pt x="989076" y="98432"/>
                </a:lnTo>
                <a:lnTo>
                  <a:pt x="1004062" y="119882"/>
                </a:lnTo>
                <a:lnTo>
                  <a:pt x="1019048" y="137498"/>
                </a:lnTo>
                <a:lnTo>
                  <a:pt x="1034033" y="150054"/>
                </a:lnTo>
                <a:lnTo>
                  <a:pt x="1049020" y="157182"/>
                </a:lnTo>
                <a:lnTo>
                  <a:pt x="1064006" y="159396"/>
                </a:lnTo>
                <a:lnTo>
                  <a:pt x="1078992" y="157962"/>
                </a:lnTo>
                <a:lnTo>
                  <a:pt x="1093978" y="154629"/>
                </a:lnTo>
                <a:lnTo>
                  <a:pt x="1108964" y="151269"/>
                </a:lnTo>
                <a:lnTo>
                  <a:pt x="1123950" y="149507"/>
                </a:lnTo>
                <a:lnTo>
                  <a:pt x="1138936" y="150398"/>
                </a:lnTo>
                <a:lnTo>
                  <a:pt x="1153922" y="154214"/>
                </a:lnTo>
                <a:lnTo>
                  <a:pt x="1168908" y="160385"/>
                </a:lnTo>
                <a:lnTo>
                  <a:pt x="1183894" y="167605"/>
                </a:lnTo>
                <a:lnTo>
                  <a:pt x="1198880" y="174072"/>
                </a:lnTo>
                <a:lnTo>
                  <a:pt x="1213866" y="177841"/>
                </a:lnTo>
                <a:lnTo>
                  <a:pt x="1228852" y="177193"/>
                </a:lnTo>
                <a:lnTo>
                  <a:pt x="1243838" y="170982"/>
                </a:lnTo>
                <a:lnTo>
                  <a:pt x="1258823" y="158868"/>
                </a:lnTo>
                <a:lnTo>
                  <a:pt x="1273810" y="141418"/>
                </a:lnTo>
                <a:lnTo>
                  <a:pt x="1288796" y="120027"/>
                </a:lnTo>
                <a:lnTo>
                  <a:pt x="1303782" y="96703"/>
                </a:lnTo>
                <a:lnTo>
                  <a:pt x="1318768" y="73728"/>
                </a:lnTo>
                <a:lnTo>
                  <a:pt x="1333754" y="53280"/>
                </a:lnTo>
                <a:lnTo>
                  <a:pt x="1348740" y="37067"/>
                </a:lnTo>
                <a:lnTo>
                  <a:pt x="1363726" y="26054"/>
                </a:lnTo>
                <a:lnTo>
                  <a:pt x="1378712" y="20324"/>
                </a:lnTo>
                <a:lnTo>
                  <a:pt x="1393698" y="19102"/>
                </a:lnTo>
                <a:lnTo>
                  <a:pt x="1408683" y="20941"/>
                </a:lnTo>
                <a:lnTo>
                  <a:pt x="1423670" y="24018"/>
                </a:lnTo>
                <a:lnTo>
                  <a:pt x="1438656" y="26510"/>
                </a:lnTo>
                <a:lnTo>
                  <a:pt x="1453642" y="26957"/>
                </a:lnTo>
                <a:lnTo>
                  <a:pt x="1468628" y="24550"/>
                </a:lnTo>
                <a:lnTo>
                  <a:pt x="1483614" y="19303"/>
                </a:lnTo>
                <a:lnTo>
                  <a:pt x="1498600" y="12054"/>
                </a:lnTo>
              </a:path>
            </a:pathLst>
          </a:custGeom>
          <a:noFill/>
          <a:ln w="11430">
            <a:solidFill>
              <a:srgbClr val="1C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8800" y="393700"/>
            <a:ext cx="330200" cy="254000"/>
          </a:xfrm>
          <a:prstGeom prst="rect">
            <a:avLst/>
          </a:prstGeom>
          <a:solidFill>
            <a:srgbClr val="FCEAEA"/>
          </a:solidFill>
          <a:ln w="6350">
            <a:solidFill>
              <a:srgbClr val="AD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800100" y="45402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AD2B2B"/>
                </a:solidFill>
                <a:latin typeface="Helvetica"/>
              </a:rPr>
              <a:t>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660400" y="713359"/>
            <a:ext cx="3048000" cy="176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0">
                <a:solidFill>
                  <a:srgbClr val="19704F"/>
                </a:solidFill>
                <a:latin typeface="Helvetica"/>
              </a:rPr>
              <a:t>Episode A: KEEP is best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60400" y="81889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same repair, different utility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" y="927100"/>
            <a:ext cx="1625600" cy="3810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14300" y="1067992"/>
            <a:ext cx="1498600" cy="177841"/>
          </a:xfrm>
          <a:custGeom>
            <a:avLst/>
            <a:gdLst/>
            <a:ahLst/>
            <a:cxnLst/>
            <a:rect l="l" t="t" r="r" b="b"/>
            <a:pathLst>
              <a:path w="1498600" h="177841">
                <a:moveTo>
                  <a:pt x="0" y="87708"/>
                </a:moveTo>
                <a:lnTo>
                  <a:pt x="14986" y="64352"/>
                </a:lnTo>
                <a:lnTo>
                  <a:pt x="29972" y="43245"/>
                </a:lnTo>
                <a:lnTo>
                  <a:pt x="44958" y="26259"/>
                </a:lnTo>
                <a:lnTo>
                  <a:pt x="59944" y="14586"/>
                </a:lnTo>
                <a:lnTo>
                  <a:pt x="74930" y="8552"/>
                </a:lnTo>
                <a:lnTo>
                  <a:pt x="89915" y="7597"/>
                </a:lnTo>
                <a:lnTo>
                  <a:pt x="104902" y="10413"/>
                </a:lnTo>
                <a:lnTo>
                  <a:pt x="119887" y="15215"/>
                </a:lnTo>
                <a:lnTo>
                  <a:pt x="134873" y="20104"/>
                </a:lnTo>
                <a:lnTo>
                  <a:pt x="149860" y="23436"/>
                </a:lnTo>
                <a:lnTo>
                  <a:pt x="164846" y="24145"/>
                </a:lnTo>
                <a:lnTo>
                  <a:pt x="179832" y="21951"/>
                </a:lnTo>
                <a:lnTo>
                  <a:pt x="194818" y="17412"/>
                </a:lnTo>
                <a:lnTo>
                  <a:pt x="209804" y="11823"/>
                </a:lnTo>
                <a:lnTo>
                  <a:pt x="224790" y="6960"/>
                </a:lnTo>
                <a:lnTo>
                  <a:pt x="239776" y="4736"/>
                </a:lnTo>
                <a:lnTo>
                  <a:pt x="254762" y="6827"/>
                </a:lnTo>
                <a:lnTo>
                  <a:pt x="269748" y="14332"/>
                </a:lnTo>
                <a:lnTo>
                  <a:pt x="284734" y="27539"/>
                </a:lnTo>
                <a:lnTo>
                  <a:pt x="299720" y="45838"/>
                </a:lnTo>
                <a:lnTo>
                  <a:pt x="314706" y="67793"/>
                </a:lnTo>
                <a:lnTo>
                  <a:pt x="329692" y="91375"/>
                </a:lnTo>
                <a:lnTo>
                  <a:pt x="344678" y="114294"/>
                </a:lnTo>
                <a:lnTo>
                  <a:pt x="359664" y="134381"/>
                </a:lnTo>
                <a:lnTo>
                  <a:pt x="374650" y="149953"/>
                </a:lnTo>
                <a:lnTo>
                  <a:pt x="389636" y="160081"/>
                </a:lnTo>
                <a:lnTo>
                  <a:pt x="404622" y="164725"/>
                </a:lnTo>
                <a:lnTo>
                  <a:pt x="419608" y="164702"/>
                </a:lnTo>
                <a:lnTo>
                  <a:pt x="434594" y="161500"/>
                </a:lnTo>
                <a:lnTo>
                  <a:pt x="779272" y="21439"/>
                </a:lnTo>
                <a:lnTo>
                  <a:pt x="794258" y="24395"/>
                </a:lnTo>
                <a:lnTo>
                  <a:pt x="809244" y="24985"/>
                </a:lnTo>
                <a:lnTo>
                  <a:pt x="824230" y="22658"/>
                </a:lnTo>
                <a:lnTo>
                  <a:pt x="839216" y="17705"/>
                </a:lnTo>
                <a:lnTo>
                  <a:pt x="854201" y="11204"/>
                </a:lnTo>
                <a:lnTo>
                  <a:pt x="869188" y="4817"/>
                </a:lnTo>
                <a:lnTo>
                  <a:pt x="884173" y="475"/>
                </a:lnTo>
                <a:lnTo>
                  <a:pt x="899160" y="0"/>
                </a:lnTo>
                <a:lnTo>
                  <a:pt x="914146" y="4745"/>
                </a:lnTo>
                <a:lnTo>
                  <a:pt x="929132" y="15320"/>
                </a:lnTo>
                <a:lnTo>
                  <a:pt x="944118" y="31444"/>
                </a:lnTo>
                <a:lnTo>
                  <a:pt x="959104" y="51967"/>
                </a:lnTo>
                <a:lnTo>
                  <a:pt x="974090" y="75043"/>
                </a:lnTo>
                <a:lnTo>
                  <a:pt x="989076" y="98432"/>
                </a:lnTo>
                <a:lnTo>
                  <a:pt x="1004062" y="119882"/>
                </a:lnTo>
                <a:lnTo>
                  <a:pt x="1019048" y="137498"/>
                </a:lnTo>
                <a:lnTo>
                  <a:pt x="1034033" y="150054"/>
                </a:lnTo>
                <a:lnTo>
                  <a:pt x="1049020" y="157182"/>
                </a:lnTo>
                <a:lnTo>
                  <a:pt x="1064006" y="159396"/>
                </a:lnTo>
                <a:lnTo>
                  <a:pt x="1078992" y="157962"/>
                </a:lnTo>
                <a:lnTo>
                  <a:pt x="1093978" y="154629"/>
                </a:lnTo>
                <a:lnTo>
                  <a:pt x="1108964" y="151269"/>
                </a:lnTo>
                <a:lnTo>
                  <a:pt x="1123950" y="149507"/>
                </a:lnTo>
                <a:lnTo>
                  <a:pt x="1138936" y="150398"/>
                </a:lnTo>
                <a:lnTo>
                  <a:pt x="1153922" y="154214"/>
                </a:lnTo>
                <a:lnTo>
                  <a:pt x="1168908" y="160385"/>
                </a:lnTo>
                <a:lnTo>
                  <a:pt x="1183894" y="167605"/>
                </a:lnTo>
                <a:lnTo>
                  <a:pt x="1198880" y="174072"/>
                </a:lnTo>
                <a:lnTo>
                  <a:pt x="1213866" y="177841"/>
                </a:lnTo>
                <a:lnTo>
                  <a:pt x="1228852" y="177193"/>
                </a:lnTo>
                <a:lnTo>
                  <a:pt x="1243838" y="170982"/>
                </a:lnTo>
                <a:lnTo>
                  <a:pt x="1258823" y="158868"/>
                </a:lnTo>
                <a:lnTo>
                  <a:pt x="1273810" y="141418"/>
                </a:lnTo>
                <a:lnTo>
                  <a:pt x="1288796" y="120027"/>
                </a:lnTo>
                <a:lnTo>
                  <a:pt x="1303782" y="96703"/>
                </a:lnTo>
                <a:lnTo>
                  <a:pt x="1318768" y="73728"/>
                </a:lnTo>
                <a:lnTo>
                  <a:pt x="1333754" y="53280"/>
                </a:lnTo>
                <a:lnTo>
                  <a:pt x="1348740" y="37067"/>
                </a:lnTo>
                <a:lnTo>
                  <a:pt x="1363726" y="26054"/>
                </a:lnTo>
                <a:lnTo>
                  <a:pt x="1378712" y="20324"/>
                </a:lnTo>
                <a:lnTo>
                  <a:pt x="1393698" y="19102"/>
                </a:lnTo>
                <a:lnTo>
                  <a:pt x="1408683" y="20941"/>
                </a:lnTo>
                <a:lnTo>
                  <a:pt x="1423670" y="24018"/>
                </a:lnTo>
                <a:lnTo>
                  <a:pt x="1438656" y="26510"/>
                </a:lnTo>
                <a:lnTo>
                  <a:pt x="1453642" y="26957"/>
                </a:lnTo>
                <a:lnTo>
                  <a:pt x="1468628" y="24550"/>
                </a:lnTo>
                <a:lnTo>
                  <a:pt x="1483614" y="19303"/>
                </a:lnTo>
                <a:lnTo>
                  <a:pt x="1498600" y="12054"/>
                </a:lnTo>
              </a:path>
            </a:pathLst>
          </a:custGeom>
          <a:noFill/>
          <a:ln w="11430">
            <a:solidFill>
              <a:srgbClr val="1C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8800" y="990600"/>
            <a:ext cx="330200" cy="254000"/>
          </a:xfrm>
          <a:prstGeom prst="rect">
            <a:avLst/>
          </a:prstGeom>
          <a:solidFill>
            <a:srgbClr val="FCEAEA"/>
          </a:solidFill>
          <a:ln w="6350">
            <a:solidFill>
              <a:srgbClr val="AD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800100" y="105092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AD2B2B"/>
                </a:solidFill>
                <a:latin typeface="Helvetica"/>
              </a:rP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660400" y="1310259"/>
            <a:ext cx="3048000" cy="176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0">
                <a:solidFill>
                  <a:srgbClr val="215499"/>
                </a:solidFill>
                <a:latin typeface="Helvetica"/>
              </a:rPr>
              <a:t>Episode B: Single TS-ICL is 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660400" y="141579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same repair, different utility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" y="1524000"/>
            <a:ext cx="1625600" cy="381000"/>
          </a:xfrm>
          <a:prstGeom prst="roundRect">
            <a:avLst>
              <a:gd name="adj" fmla="val 781"/>
            </a:avLst>
          </a:prstGeom>
          <a:solidFill>
            <a:srgbClr val="FFFFFF"/>
          </a:solidFill>
          <a:ln w="762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4300" y="1664892"/>
            <a:ext cx="1498600" cy="177841"/>
          </a:xfrm>
          <a:custGeom>
            <a:avLst/>
            <a:gdLst/>
            <a:ahLst/>
            <a:cxnLst/>
            <a:rect l="l" t="t" r="r" b="b"/>
            <a:pathLst>
              <a:path w="1498600" h="177841">
                <a:moveTo>
                  <a:pt x="0" y="87708"/>
                </a:moveTo>
                <a:lnTo>
                  <a:pt x="14986" y="64352"/>
                </a:lnTo>
                <a:lnTo>
                  <a:pt x="29972" y="43245"/>
                </a:lnTo>
                <a:lnTo>
                  <a:pt x="44958" y="26259"/>
                </a:lnTo>
                <a:lnTo>
                  <a:pt x="59944" y="14586"/>
                </a:lnTo>
                <a:lnTo>
                  <a:pt x="74930" y="8552"/>
                </a:lnTo>
                <a:lnTo>
                  <a:pt x="89915" y="7597"/>
                </a:lnTo>
                <a:lnTo>
                  <a:pt x="104902" y="10413"/>
                </a:lnTo>
                <a:lnTo>
                  <a:pt x="119887" y="15215"/>
                </a:lnTo>
                <a:lnTo>
                  <a:pt x="134873" y="20104"/>
                </a:lnTo>
                <a:lnTo>
                  <a:pt x="149860" y="23436"/>
                </a:lnTo>
                <a:lnTo>
                  <a:pt x="164846" y="24145"/>
                </a:lnTo>
                <a:lnTo>
                  <a:pt x="179832" y="21951"/>
                </a:lnTo>
                <a:lnTo>
                  <a:pt x="194818" y="17412"/>
                </a:lnTo>
                <a:lnTo>
                  <a:pt x="209804" y="11823"/>
                </a:lnTo>
                <a:lnTo>
                  <a:pt x="224790" y="6960"/>
                </a:lnTo>
                <a:lnTo>
                  <a:pt x="239776" y="4736"/>
                </a:lnTo>
                <a:lnTo>
                  <a:pt x="254762" y="6827"/>
                </a:lnTo>
                <a:lnTo>
                  <a:pt x="269748" y="14332"/>
                </a:lnTo>
                <a:lnTo>
                  <a:pt x="284734" y="27539"/>
                </a:lnTo>
                <a:lnTo>
                  <a:pt x="299720" y="45838"/>
                </a:lnTo>
                <a:lnTo>
                  <a:pt x="314706" y="67793"/>
                </a:lnTo>
                <a:lnTo>
                  <a:pt x="329692" y="91375"/>
                </a:lnTo>
                <a:lnTo>
                  <a:pt x="344678" y="114294"/>
                </a:lnTo>
                <a:lnTo>
                  <a:pt x="359664" y="134381"/>
                </a:lnTo>
                <a:lnTo>
                  <a:pt x="374650" y="149953"/>
                </a:lnTo>
                <a:lnTo>
                  <a:pt x="389636" y="160081"/>
                </a:lnTo>
                <a:lnTo>
                  <a:pt x="404622" y="164725"/>
                </a:lnTo>
                <a:lnTo>
                  <a:pt x="419608" y="164702"/>
                </a:lnTo>
                <a:lnTo>
                  <a:pt x="434594" y="161500"/>
                </a:lnTo>
                <a:lnTo>
                  <a:pt x="779272" y="21439"/>
                </a:lnTo>
                <a:lnTo>
                  <a:pt x="794258" y="24395"/>
                </a:lnTo>
                <a:lnTo>
                  <a:pt x="809244" y="24985"/>
                </a:lnTo>
                <a:lnTo>
                  <a:pt x="824230" y="22658"/>
                </a:lnTo>
                <a:lnTo>
                  <a:pt x="839216" y="17705"/>
                </a:lnTo>
                <a:lnTo>
                  <a:pt x="854201" y="11204"/>
                </a:lnTo>
                <a:lnTo>
                  <a:pt x="869188" y="4817"/>
                </a:lnTo>
                <a:lnTo>
                  <a:pt x="884173" y="475"/>
                </a:lnTo>
                <a:lnTo>
                  <a:pt x="899160" y="0"/>
                </a:lnTo>
                <a:lnTo>
                  <a:pt x="914146" y="4745"/>
                </a:lnTo>
                <a:lnTo>
                  <a:pt x="929132" y="15320"/>
                </a:lnTo>
                <a:lnTo>
                  <a:pt x="944118" y="31444"/>
                </a:lnTo>
                <a:lnTo>
                  <a:pt x="959104" y="51967"/>
                </a:lnTo>
                <a:lnTo>
                  <a:pt x="974090" y="75043"/>
                </a:lnTo>
                <a:lnTo>
                  <a:pt x="989076" y="98432"/>
                </a:lnTo>
                <a:lnTo>
                  <a:pt x="1004062" y="119882"/>
                </a:lnTo>
                <a:lnTo>
                  <a:pt x="1019048" y="137498"/>
                </a:lnTo>
                <a:lnTo>
                  <a:pt x="1034033" y="150054"/>
                </a:lnTo>
                <a:lnTo>
                  <a:pt x="1049020" y="157182"/>
                </a:lnTo>
                <a:lnTo>
                  <a:pt x="1064006" y="159396"/>
                </a:lnTo>
                <a:lnTo>
                  <a:pt x="1078992" y="157962"/>
                </a:lnTo>
                <a:lnTo>
                  <a:pt x="1093978" y="154629"/>
                </a:lnTo>
                <a:lnTo>
                  <a:pt x="1108964" y="151269"/>
                </a:lnTo>
                <a:lnTo>
                  <a:pt x="1123950" y="149507"/>
                </a:lnTo>
                <a:lnTo>
                  <a:pt x="1138936" y="150398"/>
                </a:lnTo>
                <a:lnTo>
                  <a:pt x="1153922" y="154214"/>
                </a:lnTo>
                <a:lnTo>
                  <a:pt x="1168908" y="160385"/>
                </a:lnTo>
                <a:lnTo>
                  <a:pt x="1183894" y="167605"/>
                </a:lnTo>
                <a:lnTo>
                  <a:pt x="1198880" y="174072"/>
                </a:lnTo>
                <a:lnTo>
                  <a:pt x="1213866" y="177841"/>
                </a:lnTo>
                <a:lnTo>
                  <a:pt x="1228852" y="177193"/>
                </a:lnTo>
                <a:lnTo>
                  <a:pt x="1243838" y="170982"/>
                </a:lnTo>
                <a:lnTo>
                  <a:pt x="1258823" y="158868"/>
                </a:lnTo>
                <a:lnTo>
                  <a:pt x="1273810" y="141418"/>
                </a:lnTo>
                <a:lnTo>
                  <a:pt x="1288796" y="120027"/>
                </a:lnTo>
                <a:lnTo>
                  <a:pt x="1303782" y="96703"/>
                </a:lnTo>
                <a:lnTo>
                  <a:pt x="1318768" y="73728"/>
                </a:lnTo>
                <a:lnTo>
                  <a:pt x="1333754" y="53280"/>
                </a:lnTo>
                <a:lnTo>
                  <a:pt x="1348740" y="37067"/>
                </a:lnTo>
                <a:lnTo>
                  <a:pt x="1363726" y="26054"/>
                </a:lnTo>
                <a:lnTo>
                  <a:pt x="1378712" y="20324"/>
                </a:lnTo>
                <a:lnTo>
                  <a:pt x="1393698" y="19102"/>
                </a:lnTo>
                <a:lnTo>
                  <a:pt x="1408683" y="20941"/>
                </a:lnTo>
                <a:lnTo>
                  <a:pt x="1423670" y="24018"/>
                </a:lnTo>
                <a:lnTo>
                  <a:pt x="1438656" y="26510"/>
                </a:lnTo>
                <a:lnTo>
                  <a:pt x="1453642" y="26957"/>
                </a:lnTo>
                <a:lnTo>
                  <a:pt x="1468628" y="24550"/>
                </a:lnTo>
                <a:lnTo>
                  <a:pt x="1483614" y="19303"/>
                </a:lnTo>
                <a:lnTo>
                  <a:pt x="1498600" y="12054"/>
                </a:lnTo>
              </a:path>
            </a:pathLst>
          </a:custGeom>
          <a:noFill/>
          <a:ln w="11430">
            <a:solidFill>
              <a:srgbClr val="1C1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8800" y="1587500"/>
            <a:ext cx="330200" cy="254000"/>
          </a:xfrm>
          <a:prstGeom prst="rect">
            <a:avLst/>
          </a:prstGeom>
          <a:solidFill>
            <a:srgbClr val="FCEAEA"/>
          </a:solidFill>
          <a:ln w="6350">
            <a:solidFill>
              <a:srgbClr val="AD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-800100" y="164782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AD2B2B"/>
                </a:solidFill>
                <a:latin typeface="Helvetica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660400" y="1907158"/>
            <a:ext cx="3048000" cy="176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0">
                <a:solidFill>
                  <a:srgbClr val="AD6B0A"/>
                </a:solidFill>
                <a:latin typeface="Helvetica"/>
              </a:rPr>
              <a:t>Episode C: Multi TS-ICL is best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660400" y="201269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same repair, different utility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71"/>
            <a:ext cx="3048000" cy="195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 i="0">
                <a:solidFill>
                  <a:srgbClr val="1C1E23"/>
                </a:solidFill>
                <a:latin typeface="Helvetica"/>
              </a:rPr>
              <a:t>(b) Counterfactual replay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400" y="112522"/>
            <a:ext cx="3048000" cy="1950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40" b="1" i="0">
                <a:solidFill>
                  <a:srgbClr val="1C1E23"/>
                </a:solidFill>
                <a:latin typeface="Helvetica"/>
              </a:rPr>
              <a:t>on historical TRAIN windows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52600" y="330200"/>
            <a:ext cx="1625600" cy="254000"/>
          </a:xfrm>
          <a:prstGeom prst="roundRect">
            <a:avLst>
              <a:gd name="adj" fmla="val 976"/>
            </a:avLst>
          </a:prstGeom>
          <a:solidFill>
            <a:srgbClr val="F0F0F3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400" y="33451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Fully observed TRAIN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400" y="429767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(its future is legal history)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5400" y="596900"/>
            <a:ext cx="0" cy="10160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752600" y="711200"/>
            <a:ext cx="1625600" cy="254000"/>
          </a:xfrm>
          <a:prstGeom prst="roundRect">
            <a:avLst>
              <a:gd name="adj" fmla="val 976"/>
            </a:avLst>
          </a:prstGeom>
          <a:solidFill>
            <a:srgbClr val="FCEAEA"/>
          </a:solidFill>
          <a:ln w="8890">
            <a:solidFill>
              <a:srgbClr val="AD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400" y="71551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Inject the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81076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missingness mechanism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65400" y="977900"/>
            <a:ext cx="0" cy="10160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752600" y="1092200"/>
            <a:ext cx="1625600" cy="304800"/>
          </a:xfrm>
          <a:prstGeom prst="roundRect">
            <a:avLst>
              <a:gd name="adj" fmla="val 976"/>
            </a:avLst>
          </a:prstGeom>
          <a:solidFill>
            <a:srgbClr val="E5EFFC"/>
          </a:solidFill>
          <a:ln w="889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1074293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Execute every legal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1169543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with the frozen forecaster 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1400" y="1264793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and observe the true future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65400" y="1409700"/>
            <a:ext cx="0" cy="10160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752600" y="1524000"/>
            <a:ext cx="1625600" cy="304800"/>
          </a:xfrm>
          <a:prstGeom prst="roundRect">
            <a:avLst>
              <a:gd name="adj" fmla="val 976"/>
            </a:avLst>
          </a:prstGeom>
          <a:solidFill>
            <a:srgbClr val="E5F4ED"/>
          </a:solidFill>
          <a:ln w="8890">
            <a:solidFill>
              <a:srgbClr val="197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1400" y="1561998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1C1E23"/>
                </a:solidFill>
                <a:latin typeface="Helvetica"/>
              </a:rPr>
              <a:t>Record the realised utility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1400" y="1652168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1C1E23"/>
                </a:solidFill>
                <a:latin typeface="Helvetica"/>
              </a:rPr>
              <a:t>g[i,a] = L(F(X[a0]),y) - L(F(X[a]),y)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400" y="183438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9704F"/>
                </a:solidFill>
                <a:latin typeface="Helvetica"/>
              </a:rPr>
              <a:t>replay bank  B = {(z[i], a, g[i,a])}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1400" y="19555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future labels are used only inside TRAIN,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1400" y="20571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never at 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2400" y="8000"/>
            <a:ext cx="3048000" cy="1889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1" i="0">
                <a:solidFill>
                  <a:srgbClr val="1C1E23"/>
                </a:solidFill>
                <a:latin typeface="Helvetica"/>
              </a:rPr>
              <a:t>(c) Replay -&gt; Match -&gt; Act / Abstain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54400" y="330200"/>
            <a:ext cx="1524000" cy="228600"/>
          </a:xfrm>
          <a:prstGeom prst="roundRect">
            <a:avLst>
              <a:gd name="adj" fmla="val 1041"/>
            </a:avLst>
          </a:prstGeom>
          <a:solidFill>
            <a:srgbClr val="F0F0F3"/>
          </a:solidFill>
          <a:ln w="8890">
            <a:solidFill>
              <a:srgbClr val="CCC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2400" y="366572"/>
            <a:ext cx="3048000" cy="176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0">
                <a:solidFill>
                  <a:srgbClr val="1C1E23"/>
                </a:solidFill>
                <a:latin typeface="Helvetica"/>
              </a:rPr>
              <a:t>New request: X, M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216400" y="571500"/>
            <a:ext cx="0" cy="8890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454400" y="673100"/>
            <a:ext cx="1524000" cy="254000"/>
          </a:xfrm>
          <a:prstGeom prst="roundRect">
            <a:avLst>
              <a:gd name="adj" fmla="val 1041"/>
            </a:avLst>
          </a:prstGeom>
          <a:solidFill>
            <a:srgbClr val="E5EFFC"/>
          </a:solidFill>
          <a:ln w="8890">
            <a:solidFill>
              <a:srgbClr val="2154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2400" y="67741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Task-state matching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2400" y="77266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over the replay bank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216400" y="939800"/>
            <a:ext cx="0" cy="8890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454400" y="1041400"/>
            <a:ext cx="1524000" cy="279400"/>
          </a:xfrm>
          <a:prstGeom prst="roundRect">
            <a:avLst>
              <a:gd name="adj" fmla="val 1041"/>
            </a:avLst>
          </a:prstGeom>
          <a:solidFill>
            <a:srgbClr val="FDF2DB"/>
          </a:solidFill>
          <a:ln w="8890">
            <a:solidFill>
              <a:srgbClr val="AD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2400" y="1066698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1C1E23"/>
                </a:solidFill>
                <a:latin typeface="Helvetica"/>
              </a:rPr>
              <a:t>Conservative utility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92400" y="1156868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1C1E23"/>
                </a:solidFill>
                <a:latin typeface="Helvetica"/>
              </a:rPr>
              <a:t>S[a] = mu[a] - beta*sig[a]/sqrt(n[a])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216400" y="1333500"/>
            <a:ext cx="0" cy="88900"/>
          </a:xfrm>
          <a:prstGeom prst="bentConnector3">
            <a:avLst/>
          </a:prstGeom>
          <a:ln w="1143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Diamond 54"/>
          <p:cNvSpPr/>
          <p:nvPr/>
        </p:nvSpPr>
        <p:spPr>
          <a:xfrm>
            <a:off x="3683000" y="1435100"/>
            <a:ext cx="1066800" cy="330200"/>
          </a:xfrm>
          <a:prstGeom prst="diamond">
            <a:avLst/>
          </a:prstGeom>
          <a:solidFill>
            <a:srgbClr val="FDF2DB"/>
          </a:solidFill>
          <a:ln w="10160">
            <a:solidFill>
              <a:srgbClr val="AD6B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2400" y="1523619"/>
            <a:ext cx="3048000" cy="176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 i="0">
                <a:solidFill>
                  <a:srgbClr val="1C1E23"/>
                </a:solidFill>
                <a:latin typeface="Helvetica"/>
              </a:rPr>
              <a:t>max S[a] &gt; 0 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683000" y="1765300"/>
            <a:ext cx="0" cy="139700"/>
          </a:xfrm>
          <a:prstGeom prst="bentConnector3">
            <a:avLst/>
          </a:prstGeom>
          <a:ln w="12700">
            <a:solidFill>
              <a:srgbClr val="197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108200" y="17777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19704F"/>
                </a:solidFill>
                <a:latin typeface="Helvetica"/>
              </a:rPr>
              <a:t>yes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749800" y="1765300"/>
            <a:ext cx="0" cy="139700"/>
          </a:xfrm>
          <a:prstGeom prst="bentConnector3">
            <a:avLst/>
          </a:prstGeom>
          <a:ln w="12700">
            <a:solidFill>
              <a:srgbClr val="AD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276600" y="1777745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AD2B2B"/>
                </a:solidFill>
                <a:latin typeface="Helvetica"/>
              </a:rPr>
              <a:t>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29000" y="1917700"/>
            <a:ext cx="711200" cy="330200"/>
          </a:xfrm>
          <a:prstGeom prst="roundRect">
            <a:avLst>
              <a:gd name="adj" fmla="val 2232"/>
            </a:avLst>
          </a:prstGeom>
          <a:solidFill>
            <a:srgbClr val="E5F4ED"/>
          </a:solidFill>
          <a:ln w="8890">
            <a:solidFill>
              <a:srgbClr val="197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60600" y="196011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 i="0">
                <a:solidFill>
                  <a:srgbClr val="1C1E23"/>
                </a:solidFill>
                <a:latin typeface="Helvetica"/>
              </a:rPr>
              <a:t>ACT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60600" y="205536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execute F(X[a*])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67200" y="1917700"/>
            <a:ext cx="736600" cy="330200"/>
          </a:xfrm>
          <a:prstGeom prst="roundRect">
            <a:avLst>
              <a:gd name="adj" fmla="val 2155"/>
            </a:avLst>
          </a:prstGeom>
          <a:solidFill>
            <a:srgbClr val="FCEAEA"/>
          </a:solidFill>
          <a:ln w="8890">
            <a:solidFill>
              <a:srgbClr val="AD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11500" y="196011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 i="0">
                <a:solidFill>
                  <a:srgbClr val="1C1E23"/>
                </a:solidFill>
                <a:latin typeface="Helvetica"/>
              </a:rPr>
              <a:t>ABSTAIN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11500" y="2055368"/>
            <a:ext cx="3048000" cy="1706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0" i="0">
                <a:solidFill>
                  <a:srgbClr val="1C1E23"/>
                </a:solidFill>
                <a:latin typeface="Helvetica"/>
              </a:rPr>
              <a:t>return F(X[a0])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2400" y="22730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6B727C"/>
                </a:solidFill>
                <a:latin typeface="Helvetica"/>
              </a:rPr>
              <a:t>exactly one real TSFM forecast is returned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689100" y="304800"/>
            <a:ext cx="0" cy="2032000"/>
          </a:xfrm>
          <a:prstGeom prst="line">
            <a:avLst/>
          </a:prstGeom>
          <a:ln w="635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390900" y="304800"/>
            <a:ext cx="0" cy="2032000"/>
          </a:xfrm>
          <a:prstGeom prst="line">
            <a:avLst/>
          </a:prstGeom>
          <a:ln w="635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